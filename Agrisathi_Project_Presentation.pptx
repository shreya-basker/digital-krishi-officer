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359E34F-A331-67CD-D1EE-5003C5F29966}">
          <p14:sldIdLst>
            <p14:sldId id="256"/>
          </p14:sldIdLst>
        </p14:section>
        <p14:section name="Problem and evidence" id="{6057675B-F0FE-44E4-7A49-FE8E2AF94810}">
          <p14:sldIdLst>
            <p14:sldId id="257"/>
            <p14:sldId id="258"/>
            <p14:sldId id="259"/>
          </p14:sldIdLst>
        </p14:section>
        <p14:section name="The gap" id="{022B4DE4-15CC-2BE4-273A-4B9B8E86E651}">
          <p14:sldIdLst>
            <p14:sldId id="260"/>
          </p14:sldIdLst>
        </p14:section>
        <p14:section name="Solution" id="{4058C957-C448-793A-DFFF-BE660E642850}">
          <p14:sldIdLst>
            <p14:sldId id="261"/>
            <p14:sldId id="262"/>
            <p14:sldId id="263"/>
            <p14:sldId id="264"/>
            <p14:sldId id="265"/>
          </p14:sldIdLst>
        </p14:section>
        <p14:section name="Evaluation and future" id="{3E4E613A-9533-1EBB-8FB2-6A877099AD2B}">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34"/>
    <p:restoredTop sz="88520"/>
  </p:normalViewPr>
  <p:slideViewPr>
    <p:cSldViewPr snapToGrid="0" snapToObjects="1">
      <p:cViewPr varScale="1">
        <p:scale>
          <a:sx n="111" d="100"/>
          <a:sy n="111" d="100"/>
        </p:scale>
        <p:origin x="82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68030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ko-IN"/>
          </a:p>
        </p:txBody>
      </p:sp>
      <p:sp>
        <p:nvSpPr>
          <p:cNvPr id="3" name="Notes Placeholder 2"/>
          <p:cNvSpPr>
            <a:spLocks noGrp="1"/>
          </p:cNvSpPr>
          <p:nvPr>
            <p:ph type="body" idx="1"/>
          </p:nvPr>
        </p:nvSpPr>
        <p:spPr/>
        <p:txBody>
          <a:bodyPr/>
          <a:lstStyle/>
          <a:p>
            <a:r>
              <a:rPr lang="ko-IN" dirty="0"/>
              <a:t>Good morning, everyone.</a:t>
            </a:r>
          </a:p>
          <a:p>
            <a:r>
              <a:rPr lang="ko-IN" dirty="0"/>
              <a:t>Today, we’re presenting </a:t>
            </a:r>
            <a:r>
              <a:rPr lang="ko-IN" b="1" dirty="0"/>
              <a:t>Agrisathi, an AI-powered decision intelligence system for Indian agriculture</a:t>
            </a:r>
            <a:r>
              <a:rPr lang="ko-IN" dirty="0"/>
              <a:t>.</a:t>
            </a:r>
          </a:p>
          <a:p>
            <a:r>
              <a:rPr lang="ko-IN" dirty="0"/>
              <a:t>The main idea behind our project is simple: India already has a lot of agricultural data, but that information is scattered across different sources. Our goal is to explore how we can combine this information to help farmers make better, more informed decisions.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ko-IN"/>
          </a:p>
        </p:txBody>
      </p:sp>
      <p:sp>
        <p:nvSpPr>
          <p:cNvPr id="3" name="Notes Placeholder 2"/>
          <p:cNvSpPr>
            <a:spLocks noGrp="1"/>
          </p:cNvSpPr>
          <p:nvPr>
            <p:ph type="body" idx="1"/>
          </p:nvPr>
        </p:nvSpPr>
        <p:spPr/>
        <p:txBody>
          <a:bodyPr/>
          <a:lstStyle/>
          <a:p>
            <a:r>
              <a:rPr lang="ko-IN" dirty="0"/>
              <a:t>So, why did we choose this problem?</a:t>
            </a:r>
          </a:p>
          <a:p>
            <a:r>
              <a:rPr lang="ko-IN" dirty="0"/>
              <a:t>Farmers need to consider several factors before making a decision, including weather, soil conditions, crop growth stages, pest risks, irrigation, and market prices.</a:t>
            </a:r>
          </a:p>
          <a:p>
            <a:r>
              <a:rPr lang="ko-IN" dirty="0"/>
              <a:t>The problem is that this information often comes from different sources, and farmers have to interpret it themselves.</a:t>
            </a:r>
          </a:p>
          <a:p>
            <a:r>
              <a:rPr lang="ko-IN" dirty="0"/>
              <a:t>According to the Agriculture Census of 2015–16, approximately 86% of India’s operational landholdings are small or marginal. These farmers have fewer resources to absorb losses caused by poor agricultural decisions.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ko-IN"/>
          </a:p>
        </p:txBody>
      </p:sp>
      <p:sp>
        <p:nvSpPr>
          <p:cNvPr id="3" name="Notes Placeholder 2"/>
          <p:cNvSpPr>
            <a:spLocks noGrp="1"/>
          </p:cNvSpPr>
          <p:nvPr>
            <p:ph type="body" idx="1"/>
          </p:nvPr>
        </p:nvSpPr>
        <p:spPr/>
        <p:txBody>
          <a:bodyPr/>
          <a:lstStyle/>
          <a:p>
            <a:r>
              <a:rPr lang="ko-IN" dirty="0"/>
              <a:t>Agriculture is becoming increasingly data-dependent.</a:t>
            </a:r>
          </a:p>
          <a:p>
            <a:r>
              <a:rPr lang="ko-IN" dirty="0"/>
              <a:t>Traditional farming knowledge and experience remain extremely valuable, but unpredictable weather, irregular rainfall, rising input costs, and changing market prices make decisions more complicated.</a:t>
            </a:r>
          </a:p>
          <a:p>
            <a:r>
              <a:rPr lang="ko-IN" dirty="0"/>
              <a:t>The Economic Survey of 2017–18 projected that climate change could reduce average annual farm incomes by 15 to 18 percent.</a:t>
            </a:r>
          </a:p>
          <a:p>
            <a:r>
              <a:rPr lang="ko-IN" dirty="0"/>
              <a:t>This highlights the importance of making agricultural decisions using multiple sources of information rather than relying on individual factors alone.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ko-IN"/>
          </a:p>
        </p:txBody>
      </p:sp>
      <p:sp>
        <p:nvSpPr>
          <p:cNvPr id="3" name="Notes Placeholder 2"/>
          <p:cNvSpPr>
            <a:spLocks noGrp="1"/>
          </p:cNvSpPr>
          <p:nvPr>
            <p:ph type="body" idx="1"/>
          </p:nvPr>
        </p:nvSpPr>
        <p:spPr/>
        <p:txBody>
          <a:bodyPr/>
          <a:lstStyle/>
          <a:p>
            <a:r>
              <a:rPr lang="ko-IN" dirty="0"/>
              <a:t>India already has several agricultural information systems.</a:t>
            </a:r>
          </a:p>
          <a:p>
            <a:r>
              <a:rPr lang="ko-IN" dirty="0"/>
              <a:t>For example, Soil Health Cards provide information about soil nutrients, the India Meteorological Department provides weather forecasts, and platforms like Agmarknet and e-NAM provide market information.</a:t>
            </a:r>
          </a:p>
          <a:p>
            <a:r>
              <a:rPr lang="ko-IN" dirty="0"/>
              <a:t>There are also agricultural extension services and satellite-based monitoring systems.</a:t>
            </a:r>
          </a:p>
          <a:p>
            <a:r>
              <a:rPr lang="ko-IN" dirty="0"/>
              <a:t>More recently, Bharat-VISTAAR has introduced an AI-based agricultural advisory approach.</a:t>
            </a:r>
          </a:p>
          <a:p>
            <a:r>
              <a:rPr lang="ko-IN" dirty="0"/>
              <a:t>Therefore, </a:t>
            </a:r>
            <a:r>
              <a:rPr lang="ko-IN" b="1" dirty="0"/>
              <a:t>our project does not claim to be the first AI-based agricultural platform</a:t>
            </a:r>
            <a:r>
              <a:rPr lang="ko-IN" dirty="0"/>
              <a:t>. Instead, we are exploring how information from different sources can be combined into a unified, farm-level decision-support system.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ko-IN"/>
          </a:p>
        </p:txBody>
      </p:sp>
      <p:sp>
        <p:nvSpPr>
          <p:cNvPr id="3" name="Notes Placeholder 2"/>
          <p:cNvSpPr>
            <a:spLocks noGrp="1"/>
          </p:cNvSpPr>
          <p:nvPr>
            <p:ph type="body" idx="1"/>
          </p:nvPr>
        </p:nvSpPr>
        <p:spPr/>
        <p:txBody>
          <a:bodyPr/>
          <a:lstStyle/>
          <a:p>
            <a:r>
              <a:rPr lang="ko-IN" dirty="0"/>
              <a:t>This brings us to the main gap we identified.</a:t>
            </a:r>
          </a:p>
          <a:p>
            <a:r>
              <a:rPr lang="ko-IN" dirty="0"/>
              <a:t>Knowing that there’s an 80% chance of rain, that soil nitrogen is low, or that a crop is in its flowering stage is useful individually.</a:t>
            </a:r>
          </a:p>
          <a:p>
            <a:r>
              <a:rPr lang="ko-IN" dirty="0"/>
              <a:t>However, farmers need to understand what these factors mean when considered together.</a:t>
            </a:r>
          </a:p>
          <a:p>
            <a:r>
              <a:rPr lang="ko-IN" dirty="0"/>
              <a:t>Agrisathi aims to bridge this gap by contextualising agricultural information and helping answer one important question:</a:t>
            </a:r>
          </a:p>
          <a:p>
            <a:r>
              <a:rPr lang="ko-IN" b="1" dirty="0"/>
              <a:t>What should the farmer do next?</a:t>
            </a:r>
            <a:endParaRPr lang="ko-IN" dirty="0"/>
          </a:p>
          <a:p>
            <a:r>
              <a:rPr lang="ko-IN" dirty="0"/>
              <a:t>The values shown in this slide are illustrative and are not actual farm data.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ko-IN"/>
          </a:p>
        </p:txBody>
      </p:sp>
      <p:sp>
        <p:nvSpPr>
          <p:cNvPr id="3" name="Notes Placeholder 2"/>
          <p:cNvSpPr>
            <a:spLocks noGrp="1"/>
          </p:cNvSpPr>
          <p:nvPr>
            <p:ph type="body" idx="1"/>
          </p:nvPr>
        </p:nvSpPr>
        <p:spPr/>
        <p:txBody>
          <a:bodyPr/>
          <a:lstStyle/>
          <a:p>
            <a:r>
              <a:rPr lang="ko-IN" dirty="0"/>
              <a:t>Our proposed solution has three main stages.</a:t>
            </a:r>
          </a:p>
          <a:p>
            <a:r>
              <a:rPr lang="ko-IN" dirty="0"/>
              <a:t>First, data ingestion collects information about weather, soil, satellite imagery, market prices, crops, and pest risks.</a:t>
            </a:r>
          </a:p>
          <a:p>
            <a:r>
              <a:rPr lang="ko-IN" dirty="0"/>
              <a:t>Second, the AI and machine learning layer analyses this information through prediction, risk scoring, pattern recognition, and recommendation ranking.</a:t>
            </a:r>
          </a:p>
          <a:p>
            <a:r>
              <a:rPr lang="ko-IN" dirty="0"/>
              <a:t>Finally, the system generates potential actions, such as irrigation recommendations, crop-health alerts, and guidance on input usage or harvest timing.</a:t>
            </a:r>
          </a:p>
          <a:p>
            <a:r>
              <a:rPr lang="ko-IN" dirty="0"/>
              <a:t>The key idea is to combine multiple signals before suggesting a course of action.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ko-IN"/>
          </a:p>
        </p:txBody>
      </p:sp>
      <p:sp>
        <p:nvSpPr>
          <p:cNvPr id="3" name="Notes Placeholder 2"/>
          <p:cNvSpPr>
            <a:spLocks noGrp="1"/>
          </p:cNvSpPr>
          <p:nvPr>
            <p:ph type="body" idx="1"/>
          </p:nvPr>
        </p:nvSpPr>
        <p:spPr/>
        <p:txBody>
          <a:bodyPr/>
          <a:lstStyle/>
          <a:p>
            <a:r>
              <a:rPr lang="ko-IN" dirty="0"/>
              <a:t>This slide explains our proposed system architecture.</a:t>
            </a:r>
          </a:p>
          <a:p>
            <a:r>
              <a:rPr lang="ko-IN" dirty="0"/>
              <a:t>The first layer is the data layer, which collects information from different sources.</a:t>
            </a:r>
          </a:p>
          <a:p>
            <a:r>
              <a:rPr lang="ko-IN" dirty="0"/>
              <a:t>The second is the intelligence layer, where the data is preprocessed, features are extracted, and AI or machine learning models analyse the information.</a:t>
            </a:r>
          </a:p>
          <a:p>
            <a:r>
              <a:rPr lang="ko-IN" dirty="0"/>
              <a:t>The decision fusion engine then combines these outputs, and the recommendation engine ranks potential actions.</a:t>
            </a:r>
          </a:p>
          <a:p>
            <a:r>
              <a:rPr lang="ko-IN" dirty="0"/>
              <a:t>Finally, the application presents recommendations to farmers. Feedback and observed outcomes can then be used to evaluate and improve the models.</a:t>
            </a:r>
          </a:p>
          <a:p>
            <a:r>
              <a:rPr lang="ko-IN" dirty="0"/>
              <a:t>This creates a continuous feedback loop.</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ko-IN"/>
          </a:p>
        </p:txBody>
      </p:sp>
      <p:sp>
        <p:nvSpPr>
          <p:cNvPr id="3" name="Notes Placeholder 2"/>
          <p:cNvSpPr>
            <a:spLocks noGrp="1"/>
          </p:cNvSpPr>
          <p:nvPr>
            <p:ph type="body" idx="1"/>
          </p:nvPr>
        </p:nvSpPr>
        <p:spPr/>
        <p:txBody>
          <a:bodyPr/>
          <a:lstStyle/>
          <a:p>
            <a:r>
              <a:rPr lang="en-US" dirty="0"/>
              <a:t>This is the proposed prototype stack, organised by layer. The original project deck does not specify an implementation stack, so nothing here should be read as completed work. React or React Native for the frontend; Python with FastAPI and REST APIs for the backend; scikit-learn or PyTorch for models; PostgreSQL, with PostGIS if geospatial data is used; weather, market, satellite and agricultural datasets as inputs; and Docker on cloud infrastructure for deployment.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ko-IN"/>
          </a:p>
        </p:txBody>
      </p:sp>
      <p:sp>
        <p:nvSpPr>
          <p:cNvPr id="3" name="Notes Placeholder 2"/>
          <p:cNvSpPr>
            <a:spLocks noGrp="1"/>
          </p:cNvSpPr>
          <p:nvPr>
            <p:ph type="body" idx="1"/>
          </p:nvPr>
        </p:nvSpPr>
        <p:spPr/>
        <p:txBody>
          <a:bodyPr/>
          <a:lstStyle/>
          <a:p>
            <a:r>
              <a:rPr lang="ko-IN" dirty="0"/>
              <a:t>The main contribution of Agrisathi lies in three areas.</a:t>
            </a:r>
          </a:p>
          <a:p>
            <a:r>
              <a:rPr lang="ko-IN" dirty="0"/>
              <a:t>First, </a:t>
            </a:r>
            <a:r>
              <a:rPr lang="ko-IN" b="1" dirty="0"/>
              <a:t>multi-source decision fusion</a:t>
            </a:r>
            <a:r>
              <a:rPr lang="ko-IN" dirty="0"/>
              <a:t>: combining weather, soil, crop, pest, and market information into one context.</a:t>
            </a:r>
          </a:p>
          <a:p>
            <a:r>
              <a:rPr lang="ko-IN" dirty="0"/>
              <a:t>Second, </a:t>
            </a:r>
            <a:r>
              <a:rPr lang="ko-IN" b="1" dirty="0"/>
              <a:t>action-oriented intelligence</a:t>
            </a:r>
            <a:r>
              <a:rPr lang="ko-IN" dirty="0"/>
              <a:t>: moving beyond simply displaying information to identifying potential actions based on the combined data.</a:t>
            </a:r>
          </a:p>
          <a:p>
            <a:r>
              <a:rPr lang="ko-IN" dirty="0"/>
              <a:t>Third, </a:t>
            </a:r>
            <a:r>
              <a:rPr lang="ko-IN" b="1" dirty="0"/>
              <a:t>closed-loop learning</a:t>
            </a:r>
            <a:r>
              <a:rPr lang="ko-IN" dirty="0"/>
              <a:t>: using farmer feedback and observed outcomes to evaluate and improve future recommendations.</a:t>
            </a:r>
          </a:p>
          <a:p>
            <a:r>
              <a:rPr lang="ko-IN" dirty="0"/>
              <a:t>Our goal is to complement existing agricultural advisory systems by exploring a unified decision-intelligence layer.</a:t>
            </a:r>
          </a:p>
          <a:p>
            <a:endParaRPr lang="ko-IN"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ko-IN"/>
          </a:p>
        </p:txBody>
      </p:sp>
      <p:sp>
        <p:nvSpPr>
          <p:cNvPr id="3" name="Notes Placeholder 2"/>
          <p:cNvSpPr>
            <a:spLocks noGrp="1"/>
          </p:cNvSpPr>
          <p:nvPr>
            <p:ph type="body" idx="1"/>
          </p:nvPr>
        </p:nvSpPr>
        <p:spPr/>
        <p:txBody>
          <a:bodyPr/>
          <a:lstStyle/>
          <a:p>
            <a:r>
              <a:rPr lang="ko-IN" dirty="0"/>
              <a:t>Let’s consider a hypothetical tomato farm.</a:t>
            </a:r>
          </a:p>
          <a:p>
            <a:r>
              <a:rPr lang="ko-IN" dirty="0"/>
              <a:t>Suppose the soil nitrogen level is low, soil moisture is adequate, rain probability is high, and the crop is in its flowering stage.</a:t>
            </a:r>
          </a:p>
          <a:p>
            <a:r>
              <a:rPr lang="ko-IN" dirty="0"/>
              <a:t>Individually, these observations provide limited guidance. However, the decision engine can consider them together to suggest potential actions, such as delaying irrigation or checking validated guidance for nitrogen application.</a:t>
            </a:r>
          </a:p>
          <a:p>
            <a:r>
              <a:rPr lang="ko-IN" dirty="0"/>
              <a:t>It could also flag disease risks and help the farmer consider market timing.</a:t>
            </a:r>
          </a:p>
          <a:p>
            <a:r>
              <a:rPr lang="ko-IN" dirty="0"/>
              <a:t>This example illustrates our concept; these are not validated agronomic recommendations generated by a completed model.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ko-IN"/>
          </a:p>
        </p:txBody>
      </p:sp>
      <p:sp>
        <p:nvSpPr>
          <p:cNvPr id="3" name="Notes Placeholder 2"/>
          <p:cNvSpPr>
            <a:spLocks noGrp="1"/>
          </p:cNvSpPr>
          <p:nvPr>
            <p:ph type="body" idx="1"/>
          </p:nvPr>
        </p:nvSpPr>
        <p:spPr/>
        <p:txBody>
          <a:bodyPr/>
          <a:lstStyle/>
          <a:p>
            <a:r>
              <a:rPr lang="ko-IN" dirty="0"/>
              <a:t>To evaluate Agrisathi, we would measure performance at four levels.</a:t>
            </a:r>
          </a:p>
          <a:p>
            <a:r>
              <a:rPr lang="ko-IN" dirty="0"/>
              <a:t>These include model performance using metrics such as accuracy, precision, recall, and F1 score; recommendation quality; user experience; and real-world outcomes such as water efficiency, input efficiency, and profitability.</a:t>
            </a:r>
          </a:p>
          <a:p>
            <a:r>
              <a:rPr lang="ko-IN" dirty="0"/>
              <a:t>Our hypothesis is that better-informed decisions could reduce waste and improve resource utilisation.</a:t>
            </a:r>
          </a:p>
          <a:p>
            <a:r>
              <a:rPr lang="ko-IN" dirty="0"/>
              <a:t>However, these are expected benefits that would need to be tested, not results we are claiming today.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ko-IN"/>
          </a:p>
        </p:txBody>
      </p:sp>
      <p:sp>
        <p:nvSpPr>
          <p:cNvPr id="3" name="Notes Placeholder 2"/>
          <p:cNvSpPr>
            <a:spLocks noGrp="1"/>
          </p:cNvSpPr>
          <p:nvPr>
            <p:ph type="body" idx="1"/>
          </p:nvPr>
        </p:nvSpPr>
        <p:spPr/>
        <p:txBody>
          <a:bodyPr/>
          <a:lstStyle/>
          <a:p>
            <a:r>
              <a:rPr lang="ko-IN" dirty="0"/>
              <a:t>Finally, there are several limitations we need to address, including data quality, regional differences, limited ground-truth data, model explainability, and the need for expert validation.</a:t>
            </a:r>
          </a:p>
          <a:p>
            <a:r>
              <a:rPr lang="ko-IN" dirty="0"/>
              <a:t>Our future roadmap includes developing basic weather, soil, and crop recommendations first, followed by satellite-based analysis, pest prediction, market intelligence, and personalised recommendations.</a:t>
            </a:r>
          </a:p>
          <a:p>
            <a:r>
              <a:rPr lang="ko-IN" dirty="0"/>
              <a:t>Eventually, we aim to explore regional-language and voice interfaces, followed by real-world pilot testing and expert validation.</a:t>
            </a:r>
            <a:endParaRPr lang="en-US" dirty="0"/>
          </a:p>
          <a:p>
            <a:r>
              <a:rPr lang="ko-IN" dirty="0"/>
              <a:t>To conclude, Agrisathi explores how AI can help bridge the gap between agricultural information and practical farm-level decisions.</a:t>
            </a:r>
          </a:p>
          <a:p>
            <a:r>
              <a:rPr lang="ko-IN" dirty="0"/>
              <a:t>Our aim is not simply to provide farmers with more data, but to help make that data more meaningful and actionable.</a:t>
            </a:r>
          </a:p>
          <a:p>
            <a:r>
              <a:rPr lang="ko-IN" dirty="0"/>
              <a:t>Thank you.</a:t>
            </a:r>
          </a:p>
          <a:p>
            <a:br>
              <a:rPr lang="en-US" dirty="0"/>
            </a:br>
            <a:endParaRPr lang="ko-IN"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4F1E8"/>
        </a:solidFill>
        <a:effectLst/>
      </p:bgPr>
    </p:bg>
    <p:spTree>
      <p:nvGrpSpPr>
        <p:cNvPr id="1" name=""/>
        <p:cNvGrpSpPr/>
        <p:nvPr/>
      </p:nvGrpSpPr>
      <p:grpSpPr>
        <a:xfrm>
          <a:off x="0" y="0"/>
          <a:ext cx="0" cy="0"/>
          <a:chOff x="0" y="0"/>
          <a:chExt cx="0" cy="0"/>
        </a:xfrm>
      </p:grpSpPr>
      <p:sp>
        <p:nvSpPr>
          <p:cNvPr id="2" name="Text 0"/>
          <p:cNvSpPr/>
          <p:nvPr/>
        </p:nvSpPr>
        <p:spPr>
          <a:xfrm>
            <a:off x="548640" y="6473952"/>
            <a:ext cx="7315200" cy="228600"/>
          </a:xfrm>
          <a:prstGeom prst="rect">
            <a:avLst/>
          </a:prstGeom>
          <a:noFill/>
          <a:ln/>
        </p:spPr>
        <p:txBody>
          <a:bodyPr wrap="square" lIns="0" tIns="0" rIns="0" bIns="0" rtlCol="0" anchor="ctr"/>
          <a:lstStyle/>
          <a:p>
            <a:pPr marL="0" indent="0">
              <a:buNone/>
            </a:pPr>
            <a:r>
              <a:rPr lang="en-US" sz="1000" dirty="0">
                <a:solidFill>
                  <a:schemeClr val="accent4"/>
                </a:solidFill>
              </a:rPr>
              <a:t>AGRISATHI  ·  AI Decision Intelligence for Indian Agriculture</a:t>
            </a:r>
            <a:endParaRPr lang="en-US" sz="1000" dirty="0"/>
          </a:p>
        </p:txBody>
      </p:sp>
      <p:sp>
        <p:nvSpPr>
          <p:cNvPr id="3" name="Text 1"/>
          <p:cNvSpPr>
            <a:spLocks noGrp="1"/>
          </p:cNvSpPr>
          <p:nvPr>
            <p:ph type="title" idx="101" hasCustomPrompt="1"/>
          </p:nvPr>
        </p:nvSpPr>
        <p:spPr>
          <a:xfrm>
            <a:off x="548640" y="658368"/>
            <a:ext cx="11091672" cy="731520"/>
          </a:xfrm>
          <a:prstGeom prst="rect">
            <a:avLst/>
          </a:prstGeom>
          <a:noFill/>
          <a:ln/>
        </p:spPr>
        <p:txBody>
          <a:bodyPr wrap="square" rtlCol="0"/>
          <a:lstStyle>
            <a:lvl1pPr marL="0" indent="0" algn="l">
              <a:buNone/>
              <a:defRPr lang="en-US" sz="3600" b="1" dirty="0">
                <a:solidFill>
                  <a:schemeClr val="tx2"/>
                </a:solidFill>
              </a:defRPr>
            </a:lvl1pPr>
          </a:lstStyle>
          <a:p>
            <a:pPr marL="0" indent="0" algn="l">
              <a:buNone/>
            </a:pPr>
            <a:endParaRPr lang="en-US" sz="3600" dirty="0"/>
          </a:p>
        </p:txBody>
      </p:sp>
      <p:sp>
        <p:nvSpPr>
          <p:cNvPr id="25" name="Slide Number Placeholder 0"/>
          <p:cNvSpPr>
            <a:spLocks noGrp="1"/>
          </p:cNvSpPr>
          <p:nvPr>
            <p:ph type="sldNum" sz="quarter" idx="4294967295"/>
          </p:nvPr>
        </p:nvSpPr>
        <p:spPr>
          <a:xfrm>
            <a:off x="11064240" y="6446520"/>
            <a:ext cx="576072"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F3D2B"/>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783080"/>
            <a:ext cx="5760720" cy="1097280"/>
          </a:xfrm>
          <a:prstGeom prst="rect">
            <a:avLst/>
          </a:prstGeom>
          <a:noFill/>
          <a:ln/>
        </p:spPr>
        <p:txBody>
          <a:bodyPr wrap="square" rtlCol="0"/>
          <a:lstStyle>
            <a:lvl1pPr marL="0" indent="0" algn="l">
              <a:buNone/>
              <a:defRPr lang="en-US" sz="6600" b="1" dirty="0">
                <a:solidFill>
                  <a:schemeClr val="bg2"/>
                </a:solidFill>
              </a:defRPr>
            </a:lvl1pPr>
          </a:lstStyle>
          <a:p>
            <a:pPr marL="0" indent="0" algn="l">
              <a:buNone/>
            </a:pPr>
            <a:endParaRPr lang="en-US" sz="6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46520"/>
            <a:ext cx="576072"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pixel-1"/>
          <p:cNvSpPr/>
          <p:nvPr/>
        </p:nvSpPr>
        <p:spPr>
          <a:xfrm>
            <a:off x="6583680" y="1234440"/>
            <a:ext cx="384048" cy="384048"/>
          </a:xfrm>
          <a:prstGeom prst="rect">
            <a:avLst/>
          </a:prstGeom>
          <a:solidFill>
            <a:schemeClr val="accent2">
              <a:alpha val="87000"/>
            </a:schemeClr>
          </a:solidFill>
          <a:ln/>
        </p:spPr>
        <p:txBody>
          <a:bodyPr/>
          <a:lstStyle/>
          <a:p>
            <a:endParaRPr lang="ko-IN"/>
          </a:p>
        </p:txBody>
      </p:sp>
      <p:sp>
        <p:nvSpPr>
          <p:cNvPr id="3" name="pixel-2"/>
          <p:cNvSpPr/>
          <p:nvPr/>
        </p:nvSpPr>
        <p:spPr>
          <a:xfrm>
            <a:off x="7004304" y="1234440"/>
            <a:ext cx="384048" cy="384048"/>
          </a:xfrm>
          <a:prstGeom prst="rect">
            <a:avLst/>
          </a:prstGeom>
          <a:solidFill>
            <a:schemeClr val="accent2">
              <a:alpha val="85000"/>
            </a:schemeClr>
          </a:solidFill>
          <a:ln/>
        </p:spPr>
        <p:txBody>
          <a:bodyPr/>
          <a:lstStyle/>
          <a:p>
            <a:endParaRPr lang="ko-IN"/>
          </a:p>
        </p:txBody>
      </p:sp>
      <p:sp>
        <p:nvSpPr>
          <p:cNvPr id="4" name="pixel-3"/>
          <p:cNvSpPr/>
          <p:nvPr/>
        </p:nvSpPr>
        <p:spPr>
          <a:xfrm>
            <a:off x="7424928" y="1234440"/>
            <a:ext cx="384048" cy="384048"/>
          </a:xfrm>
          <a:prstGeom prst="rect">
            <a:avLst/>
          </a:prstGeom>
          <a:solidFill>
            <a:schemeClr val="accent2">
              <a:alpha val="77000"/>
            </a:schemeClr>
          </a:solidFill>
          <a:ln/>
        </p:spPr>
        <p:txBody>
          <a:bodyPr/>
          <a:lstStyle/>
          <a:p>
            <a:endParaRPr lang="ko-IN"/>
          </a:p>
        </p:txBody>
      </p:sp>
      <p:sp>
        <p:nvSpPr>
          <p:cNvPr id="5" name="pixel-4"/>
          <p:cNvSpPr/>
          <p:nvPr/>
        </p:nvSpPr>
        <p:spPr>
          <a:xfrm>
            <a:off x="7845552" y="1234440"/>
            <a:ext cx="384048" cy="384048"/>
          </a:xfrm>
          <a:prstGeom prst="rect">
            <a:avLst/>
          </a:prstGeom>
          <a:solidFill>
            <a:schemeClr val="accent2">
              <a:alpha val="64000"/>
            </a:schemeClr>
          </a:solidFill>
          <a:ln/>
        </p:spPr>
        <p:txBody>
          <a:bodyPr/>
          <a:lstStyle/>
          <a:p>
            <a:endParaRPr lang="ko-IN"/>
          </a:p>
        </p:txBody>
      </p:sp>
      <p:sp>
        <p:nvSpPr>
          <p:cNvPr id="6" name="pixel-5"/>
          <p:cNvSpPr/>
          <p:nvPr/>
        </p:nvSpPr>
        <p:spPr>
          <a:xfrm>
            <a:off x="8266176" y="1234440"/>
            <a:ext cx="384048" cy="384048"/>
          </a:xfrm>
          <a:prstGeom prst="rect">
            <a:avLst/>
          </a:prstGeom>
          <a:solidFill>
            <a:schemeClr val="accent2">
              <a:alpha val="50000"/>
            </a:schemeClr>
          </a:solidFill>
          <a:ln/>
        </p:spPr>
        <p:txBody>
          <a:bodyPr/>
          <a:lstStyle/>
          <a:p>
            <a:endParaRPr lang="ko-IN"/>
          </a:p>
        </p:txBody>
      </p:sp>
      <p:sp>
        <p:nvSpPr>
          <p:cNvPr id="7" name="pixel-6"/>
          <p:cNvSpPr/>
          <p:nvPr/>
        </p:nvSpPr>
        <p:spPr>
          <a:xfrm>
            <a:off x="8686800" y="1234440"/>
            <a:ext cx="384048" cy="384048"/>
          </a:xfrm>
          <a:prstGeom prst="rect">
            <a:avLst/>
          </a:prstGeom>
          <a:solidFill>
            <a:schemeClr val="accent2">
              <a:alpha val="41000"/>
            </a:schemeClr>
          </a:solidFill>
          <a:ln/>
        </p:spPr>
        <p:txBody>
          <a:bodyPr/>
          <a:lstStyle/>
          <a:p>
            <a:endParaRPr lang="ko-IN"/>
          </a:p>
        </p:txBody>
      </p:sp>
      <p:sp>
        <p:nvSpPr>
          <p:cNvPr id="8" name="pixel-7"/>
          <p:cNvSpPr/>
          <p:nvPr/>
        </p:nvSpPr>
        <p:spPr>
          <a:xfrm>
            <a:off x="9107424" y="1234440"/>
            <a:ext cx="384048" cy="384048"/>
          </a:xfrm>
          <a:prstGeom prst="rect">
            <a:avLst/>
          </a:prstGeom>
          <a:solidFill>
            <a:schemeClr val="accent2">
              <a:alpha val="38000"/>
            </a:schemeClr>
          </a:solidFill>
          <a:ln/>
        </p:spPr>
        <p:txBody>
          <a:bodyPr/>
          <a:lstStyle/>
          <a:p>
            <a:endParaRPr lang="ko-IN"/>
          </a:p>
        </p:txBody>
      </p:sp>
      <p:sp>
        <p:nvSpPr>
          <p:cNvPr id="9" name="pixel-8"/>
          <p:cNvSpPr/>
          <p:nvPr/>
        </p:nvSpPr>
        <p:spPr>
          <a:xfrm>
            <a:off x="9528048" y="1234440"/>
            <a:ext cx="384048" cy="384048"/>
          </a:xfrm>
          <a:prstGeom prst="rect">
            <a:avLst/>
          </a:prstGeom>
          <a:solidFill>
            <a:schemeClr val="accent2">
              <a:alpha val="44000"/>
            </a:schemeClr>
          </a:solidFill>
          <a:ln/>
        </p:spPr>
        <p:txBody>
          <a:bodyPr/>
          <a:lstStyle/>
          <a:p>
            <a:endParaRPr lang="ko-IN"/>
          </a:p>
        </p:txBody>
      </p:sp>
      <p:sp>
        <p:nvSpPr>
          <p:cNvPr id="10" name="pixel-9"/>
          <p:cNvSpPr/>
          <p:nvPr/>
        </p:nvSpPr>
        <p:spPr>
          <a:xfrm>
            <a:off x="9948672" y="1234440"/>
            <a:ext cx="384048" cy="384048"/>
          </a:xfrm>
          <a:prstGeom prst="rect">
            <a:avLst/>
          </a:prstGeom>
          <a:solidFill>
            <a:schemeClr val="accent2">
              <a:alpha val="55000"/>
            </a:schemeClr>
          </a:solidFill>
          <a:ln/>
        </p:spPr>
        <p:txBody>
          <a:bodyPr/>
          <a:lstStyle/>
          <a:p>
            <a:endParaRPr lang="ko-IN"/>
          </a:p>
        </p:txBody>
      </p:sp>
      <p:sp>
        <p:nvSpPr>
          <p:cNvPr id="11" name="pixel-10"/>
          <p:cNvSpPr/>
          <p:nvPr/>
        </p:nvSpPr>
        <p:spPr>
          <a:xfrm>
            <a:off x="10369296" y="1234440"/>
            <a:ext cx="384048" cy="384048"/>
          </a:xfrm>
          <a:prstGeom prst="rect">
            <a:avLst/>
          </a:prstGeom>
          <a:solidFill>
            <a:schemeClr val="accent2">
              <a:alpha val="68000"/>
            </a:schemeClr>
          </a:solidFill>
          <a:ln/>
        </p:spPr>
        <p:txBody>
          <a:bodyPr/>
          <a:lstStyle/>
          <a:p>
            <a:endParaRPr lang="ko-IN"/>
          </a:p>
        </p:txBody>
      </p:sp>
      <p:sp>
        <p:nvSpPr>
          <p:cNvPr id="12" name="pixel-11"/>
          <p:cNvSpPr/>
          <p:nvPr/>
        </p:nvSpPr>
        <p:spPr>
          <a:xfrm>
            <a:off x="10789920" y="1234440"/>
            <a:ext cx="384048" cy="384048"/>
          </a:xfrm>
          <a:prstGeom prst="rect">
            <a:avLst/>
          </a:prstGeom>
          <a:solidFill>
            <a:schemeClr val="accent2">
              <a:alpha val="79000"/>
            </a:schemeClr>
          </a:solidFill>
          <a:ln/>
        </p:spPr>
        <p:txBody>
          <a:bodyPr/>
          <a:lstStyle/>
          <a:p>
            <a:endParaRPr lang="ko-IN"/>
          </a:p>
        </p:txBody>
      </p:sp>
      <p:sp>
        <p:nvSpPr>
          <p:cNvPr id="13" name="pixel-12"/>
          <p:cNvSpPr/>
          <p:nvPr/>
        </p:nvSpPr>
        <p:spPr>
          <a:xfrm>
            <a:off x="11210544" y="1234440"/>
            <a:ext cx="384048" cy="384048"/>
          </a:xfrm>
          <a:prstGeom prst="rect">
            <a:avLst/>
          </a:prstGeom>
          <a:solidFill>
            <a:schemeClr val="accent2">
              <a:alpha val="84000"/>
            </a:schemeClr>
          </a:solidFill>
          <a:ln/>
        </p:spPr>
        <p:txBody>
          <a:bodyPr/>
          <a:lstStyle/>
          <a:p>
            <a:endParaRPr lang="ko-IN"/>
          </a:p>
        </p:txBody>
      </p:sp>
      <p:sp>
        <p:nvSpPr>
          <p:cNvPr id="14" name="pixel-13"/>
          <p:cNvSpPr/>
          <p:nvPr/>
        </p:nvSpPr>
        <p:spPr>
          <a:xfrm>
            <a:off x="6583680" y="1655064"/>
            <a:ext cx="384048" cy="384048"/>
          </a:xfrm>
          <a:prstGeom prst="rect">
            <a:avLst/>
          </a:prstGeom>
          <a:solidFill>
            <a:schemeClr val="accent2">
              <a:alpha val="79000"/>
            </a:schemeClr>
          </a:solidFill>
          <a:ln/>
        </p:spPr>
        <p:txBody>
          <a:bodyPr/>
          <a:lstStyle/>
          <a:p>
            <a:endParaRPr lang="ko-IN"/>
          </a:p>
        </p:txBody>
      </p:sp>
      <p:sp>
        <p:nvSpPr>
          <p:cNvPr id="15" name="pixel-14"/>
          <p:cNvSpPr/>
          <p:nvPr/>
        </p:nvSpPr>
        <p:spPr>
          <a:xfrm>
            <a:off x="7004304" y="1655064"/>
            <a:ext cx="384048" cy="384048"/>
          </a:xfrm>
          <a:prstGeom prst="rect">
            <a:avLst/>
          </a:prstGeom>
          <a:solidFill>
            <a:schemeClr val="accent2">
              <a:alpha val="76000"/>
            </a:schemeClr>
          </a:solidFill>
          <a:ln/>
        </p:spPr>
        <p:txBody>
          <a:bodyPr/>
          <a:lstStyle/>
          <a:p>
            <a:endParaRPr lang="ko-IN"/>
          </a:p>
        </p:txBody>
      </p:sp>
      <p:sp>
        <p:nvSpPr>
          <p:cNvPr id="16" name="pixel-15"/>
          <p:cNvSpPr/>
          <p:nvPr/>
        </p:nvSpPr>
        <p:spPr>
          <a:xfrm>
            <a:off x="7424928" y="1655064"/>
            <a:ext cx="384048" cy="384048"/>
          </a:xfrm>
          <a:prstGeom prst="rect">
            <a:avLst/>
          </a:prstGeom>
          <a:solidFill>
            <a:schemeClr val="accent2">
              <a:alpha val="67000"/>
            </a:schemeClr>
          </a:solidFill>
          <a:ln/>
        </p:spPr>
        <p:txBody>
          <a:bodyPr/>
          <a:lstStyle/>
          <a:p>
            <a:endParaRPr lang="ko-IN"/>
          </a:p>
        </p:txBody>
      </p:sp>
      <p:sp>
        <p:nvSpPr>
          <p:cNvPr id="17" name="pixel-16"/>
          <p:cNvSpPr/>
          <p:nvPr/>
        </p:nvSpPr>
        <p:spPr>
          <a:xfrm>
            <a:off x="7845552" y="1655064"/>
            <a:ext cx="384048" cy="384048"/>
          </a:xfrm>
          <a:prstGeom prst="rect">
            <a:avLst/>
          </a:prstGeom>
          <a:solidFill>
            <a:schemeClr val="accent2">
              <a:alpha val="55000"/>
            </a:schemeClr>
          </a:solidFill>
          <a:ln/>
        </p:spPr>
        <p:txBody>
          <a:bodyPr/>
          <a:lstStyle/>
          <a:p>
            <a:endParaRPr lang="ko-IN"/>
          </a:p>
        </p:txBody>
      </p:sp>
      <p:sp>
        <p:nvSpPr>
          <p:cNvPr id="18" name="pixel-17"/>
          <p:cNvSpPr/>
          <p:nvPr/>
        </p:nvSpPr>
        <p:spPr>
          <a:xfrm>
            <a:off x="8266176" y="1655064"/>
            <a:ext cx="384048" cy="384048"/>
          </a:xfrm>
          <a:prstGeom prst="rect">
            <a:avLst/>
          </a:prstGeom>
          <a:solidFill>
            <a:schemeClr val="accent2">
              <a:alpha val="43000"/>
            </a:schemeClr>
          </a:solidFill>
          <a:ln/>
        </p:spPr>
        <p:txBody>
          <a:bodyPr/>
          <a:lstStyle/>
          <a:p>
            <a:endParaRPr lang="ko-IN"/>
          </a:p>
        </p:txBody>
      </p:sp>
      <p:sp>
        <p:nvSpPr>
          <p:cNvPr id="19" name="pixel-18"/>
          <p:cNvSpPr/>
          <p:nvPr/>
        </p:nvSpPr>
        <p:spPr>
          <a:xfrm>
            <a:off x="8686800" y="1655064"/>
            <a:ext cx="384048" cy="384048"/>
          </a:xfrm>
          <a:prstGeom prst="rect">
            <a:avLst/>
          </a:prstGeom>
          <a:solidFill>
            <a:schemeClr val="accent2">
              <a:alpha val="35000"/>
            </a:schemeClr>
          </a:solidFill>
          <a:ln/>
        </p:spPr>
        <p:txBody>
          <a:bodyPr/>
          <a:lstStyle/>
          <a:p>
            <a:endParaRPr lang="ko-IN"/>
          </a:p>
        </p:txBody>
      </p:sp>
      <p:sp>
        <p:nvSpPr>
          <p:cNvPr id="20" name="pixel-19"/>
          <p:cNvSpPr/>
          <p:nvPr/>
        </p:nvSpPr>
        <p:spPr>
          <a:xfrm>
            <a:off x="9107424" y="1655064"/>
            <a:ext cx="384048" cy="384048"/>
          </a:xfrm>
          <a:prstGeom prst="rect">
            <a:avLst/>
          </a:prstGeom>
          <a:solidFill>
            <a:schemeClr val="accent2">
              <a:alpha val="36000"/>
            </a:schemeClr>
          </a:solidFill>
          <a:ln/>
        </p:spPr>
        <p:txBody>
          <a:bodyPr/>
          <a:lstStyle/>
          <a:p>
            <a:endParaRPr lang="ko-IN"/>
          </a:p>
        </p:txBody>
      </p:sp>
      <p:sp>
        <p:nvSpPr>
          <p:cNvPr id="21" name="pixel-20"/>
          <p:cNvSpPr/>
          <p:nvPr/>
        </p:nvSpPr>
        <p:spPr>
          <a:xfrm>
            <a:off x="9528048" y="1655064"/>
            <a:ext cx="384048" cy="384048"/>
          </a:xfrm>
          <a:prstGeom prst="rect">
            <a:avLst/>
          </a:prstGeom>
          <a:solidFill>
            <a:schemeClr val="accent2">
              <a:alpha val="43000"/>
            </a:schemeClr>
          </a:solidFill>
          <a:ln/>
        </p:spPr>
        <p:txBody>
          <a:bodyPr/>
          <a:lstStyle/>
          <a:p>
            <a:endParaRPr lang="ko-IN"/>
          </a:p>
        </p:txBody>
      </p:sp>
      <p:sp>
        <p:nvSpPr>
          <p:cNvPr id="22" name="pixel-21"/>
          <p:cNvSpPr/>
          <p:nvPr/>
        </p:nvSpPr>
        <p:spPr>
          <a:xfrm>
            <a:off x="9948672" y="1655064"/>
            <a:ext cx="384048" cy="384048"/>
          </a:xfrm>
          <a:prstGeom prst="rect">
            <a:avLst/>
          </a:prstGeom>
          <a:solidFill>
            <a:schemeClr val="accent2">
              <a:alpha val="56000"/>
            </a:schemeClr>
          </a:solidFill>
          <a:ln/>
        </p:spPr>
        <p:txBody>
          <a:bodyPr/>
          <a:lstStyle/>
          <a:p>
            <a:endParaRPr lang="ko-IN"/>
          </a:p>
        </p:txBody>
      </p:sp>
      <p:sp>
        <p:nvSpPr>
          <p:cNvPr id="23" name="pixel-22"/>
          <p:cNvSpPr/>
          <p:nvPr/>
        </p:nvSpPr>
        <p:spPr>
          <a:xfrm>
            <a:off x="10369296" y="1655064"/>
            <a:ext cx="384048" cy="384048"/>
          </a:xfrm>
          <a:prstGeom prst="rect">
            <a:avLst/>
          </a:prstGeom>
          <a:solidFill>
            <a:schemeClr val="accent2">
              <a:alpha val="70000"/>
            </a:schemeClr>
          </a:solidFill>
          <a:ln/>
        </p:spPr>
        <p:txBody>
          <a:bodyPr/>
          <a:lstStyle/>
          <a:p>
            <a:endParaRPr lang="ko-IN"/>
          </a:p>
        </p:txBody>
      </p:sp>
      <p:sp>
        <p:nvSpPr>
          <p:cNvPr id="24" name="pixel-23"/>
          <p:cNvSpPr/>
          <p:nvPr/>
        </p:nvSpPr>
        <p:spPr>
          <a:xfrm>
            <a:off x="10789920" y="1655064"/>
            <a:ext cx="384048" cy="384048"/>
          </a:xfrm>
          <a:prstGeom prst="rect">
            <a:avLst/>
          </a:prstGeom>
          <a:solidFill>
            <a:schemeClr val="accent2">
              <a:alpha val="80000"/>
            </a:schemeClr>
          </a:solidFill>
          <a:ln/>
        </p:spPr>
        <p:txBody>
          <a:bodyPr/>
          <a:lstStyle/>
          <a:p>
            <a:endParaRPr lang="ko-IN"/>
          </a:p>
        </p:txBody>
      </p:sp>
      <p:sp>
        <p:nvSpPr>
          <p:cNvPr id="25" name="pixel-24"/>
          <p:cNvSpPr/>
          <p:nvPr/>
        </p:nvSpPr>
        <p:spPr>
          <a:xfrm>
            <a:off x="11210544" y="1655064"/>
            <a:ext cx="384048" cy="384048"/>
          </a:xfrm>
          <a:prstGeom prst="rect">
            <a:avLst/>
          </a:prstGeom>
          <a:solidFill>
            <a:schemeClr val="accent2">
              <a:alpha val="84000"/>
            </a:schemeClr>
          </a:solidFill>
          <a:ln/>
        </p:spPr>
        <p:txBody>
          <a:bodyPr/>
          <a:lstStyle/>
          <a:p>
            <a:endParaRPr lang="ko-IN"/>
          </a:p>
        </p:txBody>
      </p:sp>
      <p:sp>
        <p:nvSpPr>
          <p:cNvPr id="26" name="pixel-25"/>
          <p:cNvSpPr/>
          <p:nvPr/>
        </p:nvSpPr>
        <p:spPr>
          <a:xfrm>
            <a:off x="6583680" y="2075688"/>
            <a:ext cx="384048" cy="384048"/>
          </a:xfrm>
          <a:prstGeom prst="rect">
            <a:avLst/>
          </a:prstGeom>
          <a:solidFill>
            <a:schemeClr val="accent2">
              <a:alpha val="65000"/>
            </a:schemeClr>
          </a:solidFill>
          <a:ln/>
        </p:spPr>
        <p:txBody>
          <a:bodyPr/>
          <a:lstStyle/>
          <a:p>
            <a:endParaRPr lang="ko-IN"/>
          </a:p>
        </p:txBody>
      </p:sp>
      <p:sp>
        <p:nvSpPr>
          <p:cNvPr id="27" name="pixel-26"/>
          <p:cNvSpPr/>
          <p:nvPr/>
        </p:nvSpPr>
        <p:spPr>
          <a:xfrm>
            <a:off x="7004304" y="2075688"/>
            <a:ext cx="384048" cy="384048"/>
          </a:xfrm>
          <a:prstGeom prst="rect">
            <a:avLst/>
          </a:prstGeom>
          <a:solidFill>
            <a:schemeClr val="accent2">
              <a:alpha val="61000"/>
            </a:schemeClr>
          </a:solidFill>
          <a:ln/>
        </p:spPr>
        <p:txBody>
          <a:bodyPr/>
          <a:lstStyle/>
          <a:p>
            <a:endParaRPr lang="ko-IN"/>
          </a:p>
        </p:txBody>
      </p:sp>
      <p:sp>
        <p:nvSpPr>
          <p:cNvPr id="28" name="pixel-27"/>
          <p:cNvSpPr/>
          <p:nvPr/>
        </p:nvSpPr>
        <p:spPr>
          <a:xfrm>
            <a:off x="7424928" y="2075688"/>
            <a:ext cx="384048" cy="384048"/>
          </a:xfrm>
          <a:prstGeom prst="rect">
            <a:avLst/>
          </a:prstGeom>
          <a:solidFill>
            <a:schemeClr val="accent2">
              <a:alpha val="52000"/>
            </a:schemeClr>
          </a:solidFill>
          <a:ln/>
        </p:spPr>
        <p:txBody>
          <a:bodyPr/>
          <a:lstStyle/>
          <a:p>
            <a:endParaRPr lang="ko-IN"/>
          </a:p>
        </p:txBody>
      </p:sp>
      <p:sp>
        <p:nvSpPr>
          <p:cNvPr id="29" name="pixel-28"/>
          <p:cNvSpPr/>
          <p:nvPr/>
        </p:nvSpPr>
        <p:spPr>
          <a:xfrm>
            <a:off x="7845552" y="2075688"/>
            <a:ext cx="384048" cy="384048"/>
          </a:xfrm>
          <a:prstGeom prst="rect">
            <a:avLst/>
          </a:prstGeom>
          <a:solidFill>
            <a:schemeClr val="accent2">
              <a:alpha val="41000"/>
            </a:schemeClr>
          </a:solidFill>
          <a:ln/>
        </p:spPr>
        <p:txBody>
          <a:bodyPr/>
          <a:lstStyle/>
          <a:p>
            <a:endParaRPr lang="ko-IN"/>
          </a:p>
        </p:txBody>
      </p:sp>
      <p:sp>
        <p:nvSpPr>
          <p:cNvPr id="30" name="pixel-29"/>
          <p:cNvSpPr/>
          <p:nvPr/>
        </p:nvSpPr>
        <p:spPr>
          <a:xfrm>
            <a:off x="8266176" y="2075688"/>
            <a:ext cx="384048" cy="384048"/>
          </a:xfrm>
          <a:prstGeom prst="rect">
            <a:avLst/>
          </a:prstGeom>
          <a:solidFill>
            <a:schemeClr val="accent2">
              <a:alpha val="32000"/>
            </a:schemeClr>
          </a:solidFill>
          <a:ln/>
        </p:spPr>
        <p:txBody>
          <a:bodyPr/>
          <a:lstStyle/>
          <a:p>
            <a:endParaRPr lang="ko-IN"/>
          </a:p>
        </p:txBody>
      </p:sp>
      <p:sp>
        <p:nvSpPr>
          <p:cNvPr id="31" name="pixel-30"/>
          <p:cNvSpPr/>
          <p:nvPr/>
        </p:nvSpPr>
        <p:spPr>
          <a:xfrm>
            <a:off x="8686800" y="2075688"/>
            <a:ext cx="384048" cy="384048"/>
          </a:xfrm>
          <a:prstGeom prst="rect">
            <a:avLst/>
          </a:prstGeom>
          <a:solidFill>
            <a:schemeClr val="accent2">
              <a:alpha val="27000"/>
            </a:schemeClr>
          </a:solidFill>
          <a:ln/>
        </p:spPr>
        <p:txBody>
          <a:bodyPr/>
          <a:lstStyle/>
          <a:p>
            <a:endParaRPr lang="ko-IN"/>
          </a:p>
        </p:txBody>
      </p:sp>
      <p:sp>
        <p:nvSpPr>
          <p:cNvPr id="32" name="pixel-31"/>
          <p:cNvSpPr/>
          <p:nvPr/>
        </p:nvSpPr>
        <p:spPr>
          <a:xfrm>
            <a:off x="9107424" y="2075688"/>
            <a:ext cx="384048" cy="384048"/>
          </a:xfrm>
          <a:prstGeom prst="rect">
            <a:avLst/>
          </a:prstGeom>
          <a:solidFill>
            <a:schemeClr val="accent2">
              <a:alpha val="30000"/>
            </a:schemeClr>
          </a:solidFill>
          <a:ln/>
        </p:spPr>
        <p:txBody>
          <a:bodyPr/>
          <a:lstStyle/>
          <a:p>
            <a:endParaRPr lang="ko-IN"/>
          </a:p>
        </p:txBody>
      </p:sp>
      <p:sp>
        <p:nvSpPr>
          <p:cNvPr id="33" name="pixel-32"/>
          <p:cNvSpPr/>
          <p:nvPr/>
        </p:nvSpPr>
        <p:spPr>
          <a:xfrm>
            <a:off x="9528048" y="2075688"/>
            <a:ext cx="384048" cy="384048"/>
          </a:xfrm>
          <a:prstGeom prst="rect">
            <a:avLst/>
          </a:prstGeom>
          <a:solidFill>
            <a:schemeClr val="accent2">
              <a:alpha val="39000"/>
            </a:schemeClr>
          </a:solidFill>
          <a:ln/>
        </p:spPr>
        <p:txBody>
          <a:bodyPr/>
          <a:lstStyle/>
          <a:p>
            <a:endParaRPr lang="ko-IN"/>
          </a:p>
        </p:txBody>
      </p:sp>
      <p:sp>
        <p:nvSpPr>
          <p:cNvPr id="34" name="pixel-33"/>
          <p:cNvSpPr/>
          <p:nvPr/>
        </p:nvSpPr>
        <p:spPr>
          <a:xfrm>
            <a:off x="9948672" y="2075688"/>
            <a:ext cx="384048" cy="384048"/>
          </a:xfrm>
          <a:prstGeom prst="rect">
            <a:avLst/>
          </a:prstGeom>
          <a:solidFill>
            <a:schemeClr val="accent2">
              <a:alpha val="52000"/>
            </a:schemeClr>
          </a:solidFill>
          <a:ln/>
        </p:spPr>
        <p:txBody>
          <a:bodyPr/>
          <a:lstStyle/>
          <a:p>
            <a:endParaRPr lang="ko-IN"/>
          </a:p>
        </p:txBody>
      </p:sp>
      <p:sp>
        <p:nvSpPr>
          <p:cNvPr id="35" name="pixel-34"/>
          <p:cNvSpPr/>
          <p:nvPr/>
        </p:nvSpPr>
        <p:spPr>
          <a:xfrm>
            <a:off x="10369296" y="2075688"/>
            <a:ext cx="384048" cy="384048"/>
          </a:xfrm>
          <a:prstGeom prst="rect">
            <a:avLst/>
          </a:prstGeom>
          <a:solidFill>
            <a:schemeClr val="accent2">
              <a:alpha val="66000"/>
            </a:schemeClr>
          </a:solidFill>
          <a:ln/>
        </p:spPr>
        <p:txBody>
          <a:bodyPr/>
          <a:lstStyle/>
          <a:p>
            <a:endParaRPr lang="ko-IN"/>
          </a:p>
        </p:txBody>
      </p:sp>
      <p:sp>
        <p:nvSpPr>
          <p:cNvPr id="36" name="pixel-35"/>
          <p:cNvSpPr/>
          <p:nvPr/>
        </p:nvSpPr>
        <p:spPr>
          <a:xfrm>
            <a:off x="10789920" y="2075688"/>
            <a:ext cx="384048" cy="384048"/>
          </a:xfrm>
          <a:prstGeom prst="rect">
            <a:avLst/>
          </a:prstGeom>
          <a:solidFill>
            <a:schemeClr val="accent2">
              <a:alpha val="74000"/>
            </a:schemeClr>
          </a:solidFill>
          <a:ln/>
        </p:spPr>
        <p:txBody>
          <a:bodyPr/>
          <a:lstStyle/>
          <a:p>
            <a:endParaRPr lang="ko-IN"/>
          </a:p>
        </p:txBody>
      </p:sp>
      <p:sp>
        <p:nvSpPr>
          <p:cNvPr id="37" name="pixel-36"/>
          <p:cNvSpPr/>
          <p:nvPr/>
        </p:nvSpPr>
        <p:spPr>
          <a:xfrm>
            <a:off x="11210544" y="2075688"/>
            <a:ext cx="384048" cy="384048"/>
          </a:xfrm>
          <a:prstGeom prst="rect">
            <a:avLst/>
          </a:prstGeom>
          <a:solidFill>
            <a:schemeClr val="accent2">
              <a:alpha val="76000"/>
            </a:schemeClr>
          </a:solidFill>
          <a:ln/>
        </p:spPr>
        <p:txBody>
          <a:bodyPr/>
          <a:lstStyle/>
          <a:p>
            <a:endParaRPr lang="ko-IN"/>
          </a:p>
        </p:txBody>
      </p:sp>
      <p:sp>
        <p:nvSpPr>
          <p:cNvPr id="38" name="pixel-37"/>
          <p:cNvSpPr/>
          <p:nvPr/>
        </p:nvSpPr>
        <p:spPr>
          <a:xfrm>
            <a:off x="6583680" y="2496312"/>
            <a:ext cx="384048" cy="384048"/>
          </a:xfrm>
          <a:prstGeom prst="rect">
            <a:avLst/>
          </a:prstGeom>
          <a:solidFill>
            <a:schemeClr val="accent2">
              <a:alpha val="50000"/>
            </a:schemeClr>
          </a:solidFill>
          <a:ln/>
        </p:spPr>
        <p:txBody>
          <a:bodyPr/>
          <a:lstStyle/>
          <a:p>
            <a:endParaRPr lang="ko-IN"/>
          </a:p>
        </p:txBody>
      </p:sp>
      <p:sp>
        <p:nvSpPr>
          <p:cNvPr id="39" name="pixel-38"/>
          <p:cNvSpPr/>
          <p:nvPr/>
        </p:nvSpPr>
        <p:spPr>
          <a:xfrm>
            <a:off x="7004304" y="2496312"/>
            <a:ext cx="384048" cy="384048"/>
          </a:xfrm>
          <a:prstGeom prst="rect">
            <a:avLst/>
          </a:prstGeom>
          <a:solidFill>
            <a:schemeClr val="accent2">
              <a:alpha val="46000"/>
            </a:schemeClr>
          </a:solidFill>
          <a:ln/>
        </p:spPr>
        <p:txBody>
          <a:bodyPr/>
          <a:lstStyle/>
          <a:p>
            <a:endParaRPr lang="ko-IN"/>
          </a:p>
        </p:txBody>
      </p:sp>
      <p:sp>
        <p:nvSpPr>
          <p:cNvPr id="40" name="pixel-39"/>
          <p:cNvSpPr/>
          <p:nvPr/>
        </p:nvSpPr>
        <p:spPr>
          <a:xfrm>
            <a:off x="7424928" y="2496312"/>
            <a:ext cx="384048" cy="384048"/>
          </a:xfrm>
          <a:prstGeom prst="rect">
            <a:avLst/>
          </a:prstGeom>
          <a:solidFill>
            <a:schemeClr val="accent2">
              <a:alpha val="39000"/>
            </a:schemeClr>
          </a:solidFill>
          <a:ln/>
        </p:spPr>
        <p:txBody>
          <a:bodyPr/>
          <a:lstStyle/>
          <a:p>
            <a:endParaRPr lang="ko-IN"/>
          </a:p>
        </p:txBody>
      </p:sp>
      <p:sp>
        <p:nvSpPr>
          <p:cNvPr id="41" name="pixel-40"/>
          <p:cNvSpPr/>
          <p:nvPr/>
        </p:nvSpPr>
        <p:spPr>
          <a:xfrm>
            <a:off x="7845552" y="2496312"/>
            <a:ext cx="384048" cy="384048"/>
          </a:xfrm>
          <a:prstGeom prst="rect">
            <a:avLst/>
          </a:prstGeom>
          <a:solidFill>
            <a:schemeClr val="accent2">
              <a:alpha val="31000"/>
            </a:schemeClr>
          </a:solidFill>
          <a:ln/>
        </p:spPr>
        <p:txBody>
          <a:bodyPr/>
          <a:lstStyle/>
          <a:p>
            <a:endParaRPr lang="ko-IN"/>
          </a:p>
        </p:txBody>
      </p:sp>
      <p:sp>
        <p:nvSpPr>
          <p:cNvPr id="42" name="pixel-41"/>
          <p:cNvSpPr/>
          <p:nvPr/>
        </p:nvSpPr>
        <p:spPr>
          <a:xfrm>
            <a:off x="8266176" y="2496312"/>
            <a:ext cx="384048" cy="384048"/>
          </a:xfrm>
          <a:prstGeom prst="rect">
            <a:avLst/>
          </a:prstGeom>
          <a:solidFill>
            <a:schemeClr val="accent2">
              <a:alpha val="24000"/>
            </a:schemeClr>
          </a:solidFill>
          <a:ln/>
        </p:spPr>
        <p:txBody>
          <a:bodyPr/>
          <a:lstStyle/>
          <a:p>
            <a:endParaRPr lang="ko-IN"/>
          </a:p>
        </p:txBody>
      </p:sp>
      <p:sp>
        <p:nvSpPr>
          <p:cNvPr id="43" name="pixel-42"/>
          <p:cNvSpPr/>
          <p:nvPr/>
        </p:nvSpPr>
        <p:spPr>
          <a:xfrm>
            <a:off x="8686800" y="2496312"/>
            <a:ext cx="384048" cy="384048"/>
          </a:xfrm>
          <a:prstGeom prst="rect">
            <a:avLst/>
          </a:prstGeom>
          <a:solidFill>
            <a:schemeClr val="accent2">
              <a:alpha val="22000"/>
            </a:schemeClr>
          </a:solidFill>
          <a:ln/>
        </p:spPr>
        <p:txBody>
          <a:bodyPr/>
          <a:lstStyle/>
          <a:p>
            <a:endParaRPr lang="ko-IN"/>
          </a:p>
        </p:txBody>
      </p:sp>
      <p:sp>
        <p:nvSpPr>
          <p:cNvPr id="44" name="pixel-43"/>
          <p:cNvSpPr/>
          <p:nvPr/>
        </p:nvSpPr>
        <p:spPr>
          <a:xfrm>
            <a:off x="9107424" y="2496312"/>
            <a:ext cx="384048" cy="384048"/>
          </a:xfrm>
          <a:prstGeom prst="rect">
            <a:avLst/>
          </a:prstGeom>
          <a:solidFill>
            <a:schemeClr val="accent2">
              <a:alpha val="26000"/>
            </a:schemeClr>
          </a:solidFill>
          <a:ln/>
        </p:spPr>
        <p:txBody>
          <a:bodyPr/>
          <a:lstStyle/>
          <a:p>
            <a:endParaRPr lang="ko-IN"/>
          </a:p>
        </p:txBody>
      </p:sp>
      <p:sp>
        <p:nvSpPr>
          <p:cNvPr id="45" name="pixel-44"/>
          <p:cNvSpPr/>
          <p:nvPr/>
        </p:nvSpPr>
        <p:spPr>
          <a:xfrm>
            <a:off x="9528048" y="2496312"/>
            <a:ext cx="384048" cy="384048"/>
          </a:xfrm>
          <a:prstGeom prst="rect">
            <a:avLst/>
          </a:prstGeom>
          <a:solidFill>
            <a:schemeClr val="accent2">
              <a:alpha val="36000"/>
            </a:schemeClr>
          </a:solidFill>
          <a:ln/>
        </p:spPr>
        <p:txBody>
          <a:bodyPr/>
          <a:lstStyle/>
          <a:p>
            <a:endParaRPr lang="ko-IN"/>
          </a:p>
        </p:txBody>
      </p:sp>
      <p:sp>
        <p:nvSpPr>
          <p:cNvPr id="46" name="pixel-45"/>
          <p:cNvSpPr/>
          <p:nvPr/>
        </p:nvSpPr>
        <p:spPr>
          <a:xfrm>
            <a:off x="9948672" y="2496312"/>
            <a:ext cx="384048" cy="384048"/>
          </a:xfrm>
          <a:prstGeom prst="rect">
            <a:avLst/>
          </a:prstGeom>
          <a:solidFill>
            <a:schemeClr val="accent2">
              <a:alpha val="48000"/>
            </a:schemeClr>
          </a:solidFill>
          <a:ln/>
        </p:spPr>
        <p:txBody>
          <a:bodyPr/>
          <a:lstStyle/>
          <a:p>
            <a:endParaRPr lang="ko-IN"/>
          </a:p>
        </p:txBody>
      </p:sp>
      <p:sp>
        <p:nvSpPr>
          <p:cNvPr id="47" name="pixel-46"/>
          <p:cNvSpPr/>
          <p:nvPr/>
        </p:nvSpPr>
        <p:spPr>
          <a:xfrm>
            <a:off x="10369296" y="2496312"/>
            <a:ext cx="384048" cy="384048"/>
          </a:xfrm>
          <a:prstGeom prst="rect">
            <a:avLst/>
          </a:prstGeom>
          <a:solidFill>
            <a:schemeClr val="accent2">
              <a:alpha val="60000"/>
            </a:schemeClr>
          </a:solidFill>
          <a:ln/>
        </p:spPr>
        <p:txBody>
          <a:bodyPr/>
          <a:lstStyle/>
          <a:p>
            <a:endParaRPr lang="ko-IN"/>
          </a:p>
        </p:txBody>
      </p:sp>
      <p:sp>
        <p:nvSpPr>
          <p:cNvPr id="48" name="pixel-47"/>
          <p:cNvSpPr/>
          <p:nvPr/>
        </p:nvSpPr>
        <p:spPr>
          <a:xfrm>
            <a:off x="10789920" y="2496312"/>
            <a:ext cx="384048" cy="384048"/>
          </a:xfrm>
          <a:prstGeom prst="rect">
            <a:avLst/>
          </a:prstGeom>
          <a:solidFill>
            <a:schemeClr val="accent2">
              <a:alpha val="67000"/>
            </a:schemeClr>
          </a:solidFill>
          <a:ln/>
        </p:spPr>
        <p:txBody>
          <a:bodyPr/>
          <a:lstStyle/>
          <a:p>
            <a:endParaRPr lang="ko-IN"/>
          </a:p>
        </p:txBody>
      </p:sp>
      <p:sp>
        <p:nvSpPr>
          <p:cNvPr id="49" name="pixel-48"/>
          <p:cNvSpPr/>
          <p:nvPr/>
        </p:nvSpPr>
        <p:spPr>
          <a:xfrm>
            <a:off x="11210544" y="2496312"/>
            <a:ext cx="384048" cy="384048"/>
          </a:xfrm>
          <a:prstGeom prst="rect">
            <a:avLst/>
          </a:prstGeom>
          <a:solidFill>
            <a:schemeClr val="accent2">
              <a:alpha val="66000"/>
            </a:schemeClr>
          </a:solidFill>
          <a:ln/>
        </p:spPr>
        <p:txBody>
          <a:bodyPr/>
          <a:lstStyle/>
          <a:p>
            <a:endParaRPr lang="ko-IN"/>
          </a:p>
        </p:txBody>
      </p:sp>
      <p:sp>
        <p:nvSpPr>
          <p:cNvPr id="50" name="pixel-49"/>
          <p:cNvSpPr/>
          <p:nvPr/>
        </p:nvSpPr>
        <p:spPr>
          <a:xfrm>
            <a:off x="6583680" y="2916936"/>
            <a:ext cx="384048" cy="384048"/>
          </a:xfrm>
          <a:prstGeom prst="rect">
            <a:avLst/>
          </a:prstGeom>
          <a:solidFill>
            <a:schemeClr val="accent2">
              <a:alpha val="41000"/>
            </a:schemeClr>
          </a:solidFill>
          <a:ln/>
        </p:spPr>
        <p:txBody>
          <a:bodyPr/>
          <a:lstStyle/>
          <a:p>
            <a:endParaRPr lang="ko-IN"/>
          </a:p>
        </p:txBody>
      </p:sp>
      <p:sp>
        <p:nvSpPr>
          <p:cNvPr id="51" name="pixel-50"/>
          <p:cNvSpPr/>
          <p:nvPr/>
        </p:nvSpPr>
        <p:spPr>
          <a:xfrm>
            <a:off x="7004304" y="2916936"/>
            <a:ext cx="384048" cy="384048"/>
          </a:xfrm>
          <a:prstGeom prst="rect">
            <a:avLst/>
          </a:prstGeom>
          <a:solidFill>
            <a:schemeClr val="accent2">
              <a:alpha val="39000"/>
            </a:schemeClr>
          </a:solidFill>
          <a:ln/>
        </p:spPr>
        <p:txBody>
          <a:bodyPr/>
          <a:lstStyle/>
          <a:p>
            <a:endParaRPr lang="ko-IN"/>
          </a:p>
        </p:txBody>
      </p:sp>
      <p:sp>
        <p:nvSpPr>
          <p:cNvPr id="52" name="pixel-51"/>
          <p:cNvSpPr/>
          <p:nvPr/>
        </p:nvSpPr>
        <p:spPr>
          <a:xfrm>
            <a:off x="7424928" y="2916936"/>
            <a:ext cx="384048" cy="384048"/>
          </a:xfrm>
          <a:prstGeom prst="rect">
            <a:avLst/>
          </a:prstGeom>
          <a:solidFill>
            <a:schemeClr val="accent2">
              <a:alpha val="35000"/>
            </a:schemeClr>
          </a:solidFill>
          <a:ln/>
        </p:spPr>
        <p:txBody>
          <a:bodyPr/>
          <a:lstStyle/>
          <a:p>
            <a:endParaRPr lang="ko-IN"/>
          </a:p>
        </p:txBody>
      </p:sp>
      <p:sp>
        <p:nvSpPr>
          <p:cNvPr id="53" name="pixel-52"/>
          <p:cNvSpPr/>
          <p:nvPr/>
        </p:nvSpPr>
        <p:spPr>
          <a:xfrm>
            <a:off x="7845552" y="2916936"/>
            <a:ext cx="384048" cy="384048"/>
          </a:xfrm>
          <a:prstGeom prst="rect">
            <a:avLst/>
          </a:prstGeom>
          <a:solidFill>
            <a:schemeClr val="accent2">
              <a:alpha val="29000"/>
            </a:schemeClr>
          </a:solidFill>
          <a:ln/>
        </p:spPr>
        <p:txBody>
          <a:bodyPr/>
          <a:lstStyle/>
          <a:p>
            <a:endParaRPr lang="ko-IN"/>
          </a:p>
        </p:txBody>
      </p:sp>
      <p:sp>
        <p:nvSpPr>
          <p:cNvPr id="54" name="pixel-53"/>
          <p:cNvSpPr/>
          <p:nvPr/>
        </p:nvSpPr>
        <p:spPr>
          <a:xfrm>
            <a:off x="8266176" y="2916936"/>
            <a:ext cx="384048" cy="384048"/>
          </a:xfrm>
          <a:prstGeom prst="rect">
            <a:avLst/>
          </a:prstGeom>
          <a:solidFill>
            <a:schemeClr val="accent2">
              <a:alpha val="24000"/>
            </a:schemeClr>
          </a:solidFill>
          <a:ln/>
        </p:spPr>
        <p:txBody>
          <a:bodyPr/>
          <a:lstStyle/>
          <a:p>
            <a:endParaRPr lang="ko-IN"/>
          </a:p>
        </p:txBody>
      </p:sp>
      <p:sp>
        <p:nvSpPr>
          <p:cNvPr id="55" name="pixel-54"/>
          <p:cNvSpPr/>
          <p:nvPr/>
        </p:nvSpPr>
        <p:spPr>
          <a:xfrm>
            <a:off x="8686800" y="2916936"/>
            <a:ext cx="384048" cy="384048"/>
          </a:xfrm>
          <a:prstGeom prst="rect">
            <a:avLst/>
          </a:prstGeom>
          <a:solidFill>
            <a:schemeClr val="accent2">
              <a:alpha val="23000"/>
            </a:schemeClr>
          </a:solidFill>
          <a:ln/>
        </p:spPr>
        <p:txBody>
          <a:bodyPr/>
          <a:lstStyle/>
          <a:p>
            <a:endParaRPr lang="ko-IN"/>
          </a:p>
        </p:txBody>
      </p:sp>
      <p:sp>
        <p:nvSpPr>
          <p:cNvPr id="56" name="pixel-55"/>
          <p:cNvSpPr/>
          <p:nvPr/>
        </p:nvSpPr>
        <p:spPr>
          <a:xfrm>
            <a:off x="9107424" y="2916936"/>
            <a:ext cx="384048" cy="384048"/>
          </a:xfrm>
          <a:prstGeom prst="rect">
            <a:avLst/>
          </a:prstGeom>
          <a:solidFill>
            <a:schemeClr val="accent2">
              <a:alpha val="28000"/>
            </a:schemeClr>
          </a:solidFill>
          <a:ln/>
        </p:spPr>
        <p:txBody>
          <a:bodyPr/>
          <a:lstStyle/>
          <a:p>
            <a:endParaRPr lang="ko-IN"/>
          </a:p>
        </p:txBody>
      </p:sp>
      <p:sp>
        <p:nvSpPr>
          <p:cNvPr id="57" name="pixel-56"/>
          <p:cNvSpPr/>
          <p:nvPr/>
        </p:nvSpPr>
        <p:spPr>
          <a:xfrm>
            <a:off x="9528048" y="2916936"/>
            <a:ext cx="384048" cy="384048"/>
          </a:xfrm>
          <a:prstGeom prst="rect">
            <a:avLst/>
          </a:prstGeom>
          <a:solidFill>
            <a:schemeClr val="accent2">
              <a:alpha val="37000"/>
            </a:schemeClr>
          </a:solidFill>
          <a:ln/>
        </p:spPr>
        <p:txBody>
          <a:bodyPr/>
          <a:lstStyle/>
          <a:p>
            <a:endParaRPr lang="ko-IN"/>
          </a:p>
        </p:txBody>
      </p:sp>
      <p:sp>
        <p:nvSpPr>
          <p:cNvPr id="58" name="pixel-57"/>
          <p:cNvSpPr/>
          <p:nvPr/>
        </p:nvSpPr>
        <p:spPr>
          <a:xfrm>
            <a:off x="9948672" y="2916936"/>
            <a:ext cx="384048" cy="384048"/>
          </a:xfrm>
          <a:prstGeom prst="rect">
            <a:avLst/>
          </a:prstGeom>
          <a:solidFill>
            <a:schemeClr val="accent2">
              <a:alpha val="49000"/>
            </a:schemeClr>
          </a:solidFill>
          <a:ln/>
        </p:spPr>
        <p:txBody>
          <a:bodyPr/>
          <a:lstStyle/>
          <a:p>
            <a:endParaRPr lang="ko-IN"/>
          </a:p>
        </p:txBody>
      </p:sp>
      <p:sp>
        <p:nvSpPr>
          <p:cNvPr id="59" name="pixel-58"/>
          <p:cNvSpPr/>
          <p:nvPr/>
        </p:nvSpPr>
        <p:spPr>
          <a:xfrm>
            <a:off x="10369296" y="2916936"/>
            <a:ext cx="384048" cy="384048"/>
          </a:xfrm>
          <a:prstGeom prst="rect">
            <a:avLst/>
          </a:prstGeom>
          <a:solidFill>
            <a:schemeClr val="accent2">
              <a:alpha val="58000"/>
            </a:schemeClr>
          </a:solidFill>
          <a:ln/>
        </p:spPr>
        <p:txBody>
          <a:bodyPr/>
          <a:lstStyle/>
          <a:p>
            <a:endParaRPr lang="ko-IN"/>
          </a:p>
        </p:txBody>
      </p:sp>
      <p:sp>
        <p:nvSpPr>
          <p:cNvPr id="60" name="pixel-59"/>
          <p:cNvSpPr/>
          <p:nvPr/>
        </p:nvSpPr>
        <p:spPr>
          <a:xfrm>
            <a:off x="10789920" y="2916936"/>
            <a:ext cx="384048" cy="384048"/>
          </a:xfrm>
          <a:prstGeom prst="rect">
            <a:avLst/>
          </a:prstGeom>
          <a:solidFill>
            <a:schemeClr val="accent2">
              <a:alpha val="62000"/>
            </a:schemeClr>
          </a:solidFill>
          <a:ln/>
        </p:spPr>
        <p:txBody>
          <a:bodyPr/>
          <a:lstStyle/>
          <a:p>
            <a:endParaRPr lang="ko-IN"/>
          </a:p>
        </p:txBody>
      </p:sp>
      <p:sp>
        <p:nvSpPr>
          <p:cNvPr id="61" name="pixel-60"/>
          <p:cNvSpPr/>
          <p:nvPr/>
        </p:nvSpPr>
        <p:spPr>
          <a:xfrm>
            <a:off x="11210544" y="2916936"/>
            <a:ext cx="384048" cy="384048"/>
          </a:xfrm>
          <a:prstGeom prst="rect">
            <a:avLst/>
          </a:prstGeom>
          <a:solidFill>
            <a:schemeClr val="accent2">
              <a:alpha val="59000"/>
            </a:schemeClr>
          </a:solidFill>
          <a:ln/>
        </p:spPr>
        <p:txBody>
          <a:bodyPr/>
          <a:lstStyle/>
          <a:p>
            <a:endParaRPr lang="ko-IN"/>
          </a:p>
        </p:txBody>
      </p:sp>
      <p:sp>
        <p:nvSpPr>
          <p:cNvPr id="62" name="pixel-61"/>
          <p:cNvSpPr/>
          <p:nvPr/>
        </p:nvSpPr>
        <p:spPr>
          <a:xfrm>
            <a:off x="6583680" y="3337560"/>
            <a:ext cx="384048" cy="384048"/>
          </a:xfrm>
          <a:prstGeom prst="rect">
            <a:avLst/>
          </a:prstGeom>
          <a:solidFill>
            <a:schemeClr val="accent2">
              <a:alpha val="42000"/>
            </a:schemeClr>
          </a:solidFill>
          <a:ln/>
        </p:spPr>
        <p:txBody>
          <a:bodyPr/>
          <a:lstStyle/>
          <a:p>
            <a:endParaRPr lang="ko-IN"/>
          </a:p>
        </p:txBody>
      </p:sp>
      <p:sp>
        <p:nvSpPr>
          <p:cNvPr id="63" name="pixel-62"/>
          <p:cNvSpPr/>
          <p:nvPr/>
        </p:nvSpPr>
        <p:spPr>
          <a:xfrm>
            <a:off x="7004304" y="3337560"/>
            <a:ext cx="384048" cy="384048"/>
          </a:xfrm>
          <a:prstGeom prst="rect">
            <a:avLst/>
          </a:prstGeom>
          <a:solidFill>
            <a:schemeClr val="accent2">
              <a:alpha val="42000"/>
            </a:schemeClr>
          </a:solidFill>
          <a:ln/>
        </p:spPr>
        <p:txBody>
          <a:bodyPr/>
          <a:lstStyle/>
          <a:p>
            <a:endParaRPr lang="ko-IN"/>
          </a:p>
        </p:txBody>
      </p:sp>
      <p:sp>
        <p:nvSpPr>
          <p:cNvPr id="64" name="pixel-63"/>
          <p:cNvSpPr/>
          <p:nvPr/>
        </p:nvSpPr>
        <p:spPr>
          <a:xfrm>
            <a:off x="7424928" y="3337560"/>
            <a:ext cx="384048" cy="384048"/>
          </a:xfrm>
          <a:prstGeom prst="rect">
            <a:avLst/>
          </a:prstGeom>
          <a:solidFill>
            <a:schemeClr val="accent2">
              <a:alpha val="40000"/>
            </a:schemeClr>
          </a:solidFill>
          <a:ln/>
        </p:spPr>
        <p:txBody>
          <a:bodyPr/>
          <a:lstStyle/>
          <a:p>
            <a:endParaRPr lang="ko-IN"/>
          </a:p>
        </p:txBody>
      </p:sp>
      <p:sp>
        <p:nvSpPr>
          <p:cNvPr id="65" name="pixel-64"/>
          <p:cNvSpPr/>
          <p:nvPr/>
        </p:nvSpPr>
        <p:spPr>
          <a:xfrm>
            <a:off x="7845552" y="3337560"/>
            <a:ext cx="384048" cy="384048"/>
          </a:xfrm>
          <a:prstGeom prst="rect">
            <a:avLst/>
          </a:prstGeom>
          <a:solidFill>
            <a:schemeClr val="accent2">
              <a:alpha val="37000"/>
            </a:schemeClr>
          </a:solidFill>
          <a:ln/>
        </p:spPr>
        <p:txBody>
          <a:bodyPr/>
          <a:lstStyle/>
          <a:p>
            <a:endParaRPr lang="ko-IN"/>
          </a:p>
        </p:txBody>
      </p:sp>
      <p:sp>
        <p:nvSpPr>
          <p:cNvPr id="66" name="pixel-65"/>
          <p:cNvSpPr/>
          <p:nvPr/>
        </p:nvSpPr>
        <p:spPr>
          <a:xfrm>
            <a:off x="8266176" y="3337560"/>
            <a:ext cx="384048" cy="384048"/>
          </a:xfrm>
          <a:prstGeom prst="rect">
            <a:avLst/>
          </a:prstGeom>
          <a:solidFill>
            <a:schemeClr val="accent2">
              <a:alpha val="34000"/>
            </a:schemeClr>
          </a:solidFill>
          <a:ln/>
        </p:spPr>
        <p:txBody>
          <a:bodyPr/>
          <a:lstStyle/>
          <a:p>
            <a:endParaRPr lang="ko-IN"/>
          </a:p>
        </p:txBody>
      </p:sp>
      <p:sp>
        <p:nvSpPr>
          <p:cNvPr id="67" name="pixel-66"/>
          <p:cNvSpPr/>
          <p:nvPr/>
        </p:nvSpPr>
        <p:spPr>
          <a:xfrm>
            <a:off x="8686800" y="3337560"/>
            <a:ext cx="384048" cy="384048"/>
          </a:xfrm>
          <a:prstGeom prst="rect">
            <a:avLst/>
          </a:prstGeom>
          <a:solidFill>
            <a:schemeClr val="accent2">
              <a:alpha val="34000"/>
            </a:schemeClr>
          </a:solidFill>
          <a:ln/>
        </p:spPr>
        <p:txBody>
          <a:bodyPr/>
          <a:lstStyle/>
          <a:p>
            <a:endParaRPr lang="ko-IN"/>
          </a:p>
        </p:txBody>
      </p:sp>
      <p:sp>
        <p:nvSpPr>
          <p:cNvPr id="68" name="pixel-67"/>
          <p:cNvSpPr/>
          <p:nvPr/>
        </p:nvSpPr>
        <p:spPr>
          <a:xfrm>
            <a:off x="9107424" y="3337560"/>
            <a:ext cx="384048" cy="384048"/>
          </a:xfrm>
          <a:prstGeom prst="rect">
            <a:avLst/>
          </a:prstGeom>
          <a:solidFill>
            <a:schemeClr val="accent2">
              <a:alpha val="38000"/>
            </a:schemeClr>
          </a:solidFill>
          <a:ln/>
        </p:spPr>
        <p:txBody>
          <a:bodyPr/>
          <a:lstStyle/>
          <a:p>
            <a:endParaRPr lang="ko-IN"/>
          </a:p>
        </p:txBody>
      </p:sp>
      <p:sp>
        <p:nvSpPr>
          <p:cNvPr id="69" name="pixel-68"/>
          <p:cNvSpPr/>
          <p:nvPr/>
        </p:nvSpPr>
        <p:spPr>
          <a:xfrm>
            <a:off x="9528048" y="3337560"/>
            <a:ext cx="384048" cy="384048"/>
          </a:xfrm>
          <a:prstGeom prst="rect">
            <a:avLst/>
          </a:prstGeom>
          <a:solidFill>
            <a:schemeClr val="accent2">
              <a:alpha val="45000"/>
            </a:schemeClr>
          </a:solidFill>
          <a:ln/>
        </p:spPr>
        <p:txBody>
          <a:bodyPr/>
          <a:lstStyle/>
          <a:p>
            <a:endParaRPr lang="ko-IN"/>
          </a:p>
        </p:txBody>
      </p:sp>
      <p:sp>
        <p:nvSpPr>
          <p:cNvPr id="70" name="pixel-69"/>
          <p:cNvSpPr/>
          <p:nvPr/>
        </p:nvSpPr>
        <p:spPr>
          <a:xfrm>
            <a:off x="9948672" y="3337560"/>
            <a:ext cx="384048" cy="384048"/>
          </a:xfrm>
          <a:prstGeom prst="rect">
            <a:avLst/>
          </a:prstGeom>
          <a:solidFill>
            <a:schemeClr val="accent2">
              <a:alpha val="54000"/>
            </a:schemeClr>
          </a:solidFill>
          <a:ln/>
        </p:spPr>
        <p:txBody>
          <a:bodyPr/>
          <a:lstStyle/>
          <a:p>
            <a:endParaRPr lang="ko-IN"/>
          </a:p>
        </p:txBody>
      </p:sp>
      <p:sp>
        <p:nvSpPr>
          <p:cNvPr id="71" name="pixel-70"/>
          <p:cNvSpPr/>
          <p:nvPr/>
        </p:nvSpPr>
        <p:spPr>
          <a:xfrm>
            <a:off x="10369296" y="3337560"/>
            <a:ext cx="384048" cy="384048"/>
          </a:xfrm>
          <a:prstGeom prst="rect">
            <a:avLst/>
          </a:prstGeom>
          <a:solidFill>
            <a:schemeClr val="accent2">
              <a:alpha val="61000"/>
            </a:schemeClr>
          </a:solidFill>
          <a:ln/>
        </p:spPr>
        <p:txBody>
          <a:bodyPr/>
          <a:lstStyle/>
          <a:p>
            <a:endParaRPr lang="ko-IN"/>
          </a:p>
        </p:txBody>
      </p:sp>
      <p:sp>
        <p:nvSpPr>
          <p:cNvPr id="72" name="pixel-71"/>
          <p:cNvSpPr/>
          <p:nvPr/>
        </p:nvSpPr>
        <p:spPr>
          <a:xfrm>
            <a:off x="10789920" y="3337560"/>
            <a:ext cx="384048" cy="384048"/>
          </a:xfrm>
          <a:prstGeom prst="rect">
            <a:avLst/>
          </a:prstGeom>
          <a:solidFill>
            <a:schemeClr val="accent2">
              <a:alpha val="63000"/>
            </a:schemeClr>
          </a:solidFill>
          <a:ln/>
        </p:spPr>
        <p:txBody>
          <a:bodyPr/>
          <a:lstStyle/>
          <a:p>
            <a:endParaRPr lang="ko-IN"/>
          </a:p>
        </p:txBody>
      </p:sp>
      <p:sp>
        <p:nvSpPr>
          <p:cNvPr id="73" name="pixel-72"/>
          <p:cNvSpPr/>
          <p:nvPr/>
        </p:nvSpPr>
        <p:spPr>
          <a:xfrm>
            <a:off x="11210544" y="3337560"/>
            <a:ext cx="384048" cy="384048"/>
          </a:xfrm>
          <a:prstGeom prst="rect">
            <a:avLst/>
          </a:prstGeom>
          <a:solidFill>
            <a:schemeClr val="accent2">
              <a:alpha val="58000"/>
            </a:schemeClr>
          </a:solidFill>
          <a:ln/>
        </p:spPr>
        <p:txBody>
          <a:bodyPr/>
          <a:lstStyle/>
          <a:p>
            <a:endParaRPr lang="ko-IN"/>
          </a:p>
        </p:txBody>
      </p:sp>
      <p:sp>
        <p:nvSpPr>
          <p:cNvPr id="74" name="pixel-73"/>
          <p:cNvSpPr/>
          <p:nvPr/>
        </p:nvSpPr>
        <p:spPr>
          <a:xfrm>
            <a:off x="6583680" y="3758184"/>
            <a:ext cx="384048" cy="384048"/>
          </a:xfrm>
          <a:prstGeom prst="rect">
            <a:avLst/>
          </a:prstGeom>
          <a:solidFill>
            <a:schemeClr val="accent2">
              <a:alpha val="50000"/>
            </a:schemeClr>
          </a:solidFill>
          <a:ln/>
        </p:spPr>
        <p:txBody>
          <a:bodyPr/>
          <a:lstStyle/>
          <a:p>
            <a:endParaRPr lang="ko-IN"/>
          </a:p>
        </p:txBody>
      </p:sp>
      <p:sp>
        <p:nvSpPr>
          <p:cNvPr id="75" name="pixel-74"/>
          <p:cNvSpPr/>
          <p:nvPr/>
        </p:nvSpPr>
        <p:spPr>
          <a:xfrm>
            <a:off x="7004304" y="3758184"/>
            <a:ext cx="384048" cy="384048"/>
          </a:xfrm>
          <a:prstGeom prst="rect">
            <a:avLst/>
          </a:prstGeom>
          <a:solidFill>
            <a:schemeClr val="accent2">
              <a:alpha val="53000"/>
            </a:schemeClr>
          </a:solidFill>
          <a:ln/>
        </p:spPr>
        <p:txBody>
          <a:bodyPr/>
          <a:lstStyle/>
          <a:p>
            <a:endParaRPr lang="ko-IN"/>
          </a:p>
        </p:txBody>
      </p:sp>
      <p:sp>
        <p:nvSpPr>
          <p:cNvPr id="76" name="pixel-75"/>
          <p:cNvSpPr/>
          <p:nvPr/>
        </p:nvSpPr>
        <p:spPr>
          <a:xfrm>
            <a:off x="7424928" y="3758184"/>
            <a:ext cx="384048" cy="384048"/>
          </a:xfrm>
          <a:prstGeom prst="rect">
            <a:avLst/>
          </a:prstGeom>
          <a:solidFill>
            <a:schemeClr val="accent2">
              <a:alpha val="54000"/>
            </a:schemeClr>
          </a:solidFill>
          <a:ln/>
        </p:spPr>
        <p:txBody>
          <a:bodyPr/>
          <a:lstStyle/>
          <a:p>
            <a:endParaRPr lang="ko-IN"/>
          </a:p>
        </p:txBody>
      </p:sp>
      <p:sp>
        <p:nvSpPr>
          <p:cNvPr id="77" name="pixel-76"/>
          <p:cNvSpPr/>
          <p:nvPr/>
        </p:nvSpPr>
        <p:spPr>
          <a:xfrm>
            <a:off x="7845552" y="3758184"/>
            <a:ext cx="384048" cy="384048"/>
          </a:xfrm>
          <a:prstGeom prst="rect">
            <a:avLst/>
          </a:prstGeom>
          <a:solidFill>
            <a:schemeClr val="accent2">
              <a:alpha val="52000"/>
            </a:schemeClr>
          </a:solidFill>
          <a:ln/>
        </p:spPr>
        <p:txBody>
          <a:bodyPr/>
          <a:lstStyle/>
          <a:p>
            <a:endParaRPr lang="ko-IN"/>
          </a:p>
        </p:txBody>
      </p:sp>
      <p:sp>
        <p:nvSpPr>
          <p:cNvPr id="78" name="pixel-77"/>
          <p:cNvSpPr/>
          <p:nvPr/>
        </p:nvSpPr>
        <p:spPr>
          <a:xfrm>
            <a:off x="8266176" y="3758184"/>
            <a:ext cx="384048" cy="384048"/>
          </a:xfrm>
          <a:prstGeom prst="rect">
            <a:avLst/>
          </a:prstGeom>
          <a:solidFill>
            <a:schemeClr val="accent2">
              <a:alpha val="49000"/>
            </a:schemeClr>
          </a:solidFill>
          <a:ln/>
        </p:spPr>
        <p:txBody>
          <a:bodyPr/>
          <a:lstStyle/>
          <a:p>
            <a:endParaRPr lang="ko-IN"/>
          </a:p>
        </p:txBody>
      </p:sp>
      <p:sp>
        <p:nvSpPr>
          <p:cNvPr id="79" name="pixel-78"/>
          <p:cNvSpPr/>
          <p:nvPr/>
        </p:nvSpPr>
        <p:spPr>
          <a:xfrm>
            <a:off x="8686800" y="3758184"/>
            <a:ext cx="384048" cy="384048"/>
          </a:xfrm>
          <a:prstGeom prst="rect">
            <a:avLst/>
          </a:prstGeom>
          <a:solidFill>
            <a:schemeClr val="accent2">
              <a:alpha val="49000"/>
            </a:schemeClr>
          </a:solidFill>
          <a:ln/>
        </p:spPr>
        <p:txBody>
          <a:bodyPr/>
          <a:lstStyle/>
          <a:p>
            <a:endParaRPr lang="ko-IN"/>
          </a:p>
        </p:txBody>
      </p:sp>
      <p:sp>
        <p:nvSpPr>
          <p:cNvPr id="80" name="pixel-79"/>
          <p:cNvSpPr/>
          <p:nvPr/>
        </p:nvSpPr>
        <p:spPr>
          <a:xfrm>
            <a:off x="9107424" y="3758184"/>
            <a:ext cx="384048" cy="384048"/>
          </a:xfrm>
          <a:prstGeom prst="rect">
            <a:avLst/>
          </a:prstGeom>
          <a:solidFill>
            <a:schemeClr val="accent2">
              <a:alpha val="51000"/>
            </a:schemeClr>
          </a:solidFill>
          <a:ln/>
        </p:spPr>
        <p:txBody>
          <a:bodyPr/>
          <a:lstStyle/>
          <a:p>
            <a:endParaRPr lang="ko-IN"/>
          </a:p>
        </p:txBody>
      </p:sp>
      <p:sp>
        <p:nvSpPr>
          <p:cNvPr id="81" name="pixel-80"/>
          <p:cNvSpPr/>
          <p:nvPr/>
        </p:nvSpPr>
        <p:spPr>
          <a:xfrm>
            <a:off x="9528048" y="3758184"/>
            <a:ext cx="384048" cy="384048"/>
          </a:xfrm>
          <a:prstGeom prst="rect">
            <a:avLst/>
          </a:prstGeom>
          <a:solidFill>
            <a:schemeClr val="accent2">
              <a:alpha val="56000"/>
            </a:schemeClr>
          </a:solidFill>
          <a:ln/>
        </p:spPr>
        <p:txBody>
          <a:bodyPr/>
          <a:lstStyle/>
          <a:p>
            <a:endParaRPr lang="ko-IN"/>
          </a:p>
        </p:txBody>
      </p:sp>
      <p:sp>
        <p:nvSpPr>
          <p:cNvPr id="82" name="pixel-81"/>
          <p:cNvSpPr/>
          <p:nvPr/>
        </p:nvSpPr>
        <p:spPr>
          <a:xfrm>
            <a:off x="9948672" y="3758184"/>
            <a:ext cx="384048" cy="384048"/>
          </a:xfrm>
          <a:prstGeom prst="rect">
            <a:avLst/>
          </a:prstGeom>
          <a:solidFill>
            <a:schemeClr val="accent2">
              <a:alpha val="63000"/>
            </a:schemeClr>
          </a:solidFill>
          <a:ln/>
        </p:spPr>
        <p:txBody>
          <a:bodyPr/>
          <a:lstStyle/>
          <a:p>
            <a:endParaRPr lang="ko-IN"/>
          </a:p>
        </p:txBody>
      </p:sp>
      <p:sp>
        <p:nvSpPr>
          <p:cNvPr id="83" name="pixel-82"/>
          <p:cNvSpPr/>
          <p:nvPr/>
        </p:nvSpPr>
        <p:spPr>
          <a:xfrm>
            <a:off x="10369296" y="3758184"/>
            <a:ext cx="384048" cy="384048"/>
          </a:xfrm>
          <a:prstGeom prst="rect">
            <a:avLst/>
          </a:prstGeom>
          <a:solidFill>
            <a:schemeClr val="accent2">
              <a:alpha val="67000"/>
            </a:schemeClr>
          </a:solidFill>
          <a:ln/>
        </p:spPr>
        <p:txBody>
          <a:bodyPr/>
          <a:lstStyle/>
          <a:p>
            <a:endParaRPr lang="ko-IN"/>
          </a:p>
        </p:txBody>
      </p:sp>
      <p:sp>
        <p:nvSpPr>
          <p:cNvPr id="84" name="pixel-83"/>
          <p:cNvSpPr/>
          <p:nvPr/>
        </p:nvSpPr>
        <p:spPr>
          <a:xfrm>
            <a:off x="10789920" y="3758184"/>
            <a:ext cx="384048" cy="384048"/>
          </a:xfrm>
          <a:prstGeom prst="rect">
            <a:avLst/>
          </a:prstGeom>
          <a:solidFill>
            <a:schemeClr val="accent2">
              <a:alpha val="67000"/>
            </a:schemeClr>
          </a:solidFill>
          <a:ln/>
        </p:spPr>
        <p:txBody>
          <a:bodyPr/>
          <a:lstStyle/>
          <a:p>
            <a:endParaRPr lang="ko-IN"/>
          </a:p>
        </p:txBody>
      </p:sp>
      <p:sp>
        <p:nvSpPr>
          <p:cNvPr id="85" name="pixel-84"/>
          <p:cNvSpPr/>
          <p:nvPr/>
        </p:nvSpPr>
        <p:spPr>
          <a:xfrm>
            <a:off x="11210544" y="3758184"/>
            <a:ext cx="384048" cy="384048"/>
          </a:xfrm>
          <a:prstGeom prst="rect">
            <a:avLst/>
          </a:prstGeom>
          <a:solidFill>
            <a:schemeClr val="accent2">
              <a:alpha val="62000"/>
            </a:schemeClr>
          </a:solidFill>
          <a:ln/>
        </p:spPr>
        <p:txBody>
          <a:bodyPr/>
          <a:lstStyle/>
          <a:p>
            <a:endParaRPr lang="ko-IN"/>
          </a:p>
        </p:txBody>
      </p:sp>
      <p:sp>
        <p:nvSpPr>
          <p:cNvPr id="86" name="pixel-85"/>
          <p:cNvSpPr/>
          <p:nvPr/>
        </p:nvSpPr>
        <p:spPr>
          <a:xfrm>
            <a:off x="6583680" y="4178808"/>
            <a:ext cx="384048" cy="384048"/>
          </a:xfrm>
          <a:prstGeom prst="rect">
            <a:avLst/>
          </a:prstGeom>
          <a:solidFill>
            <a:schemeClr val="accent2">
              <a:alpha val="60000"/>
            </a:schemeClr>
          </a:solidFill>
          <a:ln/>
        </p:spPr>
        <p:txBody>
          <a:bodyPr/>
          <a:lstStyle/>
          <a:p>
            <a:endParaRPr lang="ko-IN"/>
          </a:p>
        </p:txBody>
      </p:sp>
      <p:sp>
        <p:nvSpPr>
          <p:cNvPr id="87" name="pixel-86"/>
          <p:cNvSpPr/>
          <p:nvPr/>
        </p:nvSpPr>
        <p:spPr>
          <a:xfrm>
            <a:off x="7004304" y="4178808"/>
            <a:ext cx="384048" cy="384048"/>
          </a:xfrm>
          <a:prstGeom prst="rect">
            <a:avLst/>
          </a:prstGeom>
          <a:solidFill>
            <a:schemeClr val="accent2">
              <a:alpha val="66000"/>
            </a:schemeClr>
          </a:solidFill>
          <a:ln/>
        </p:spPr>
        <p:txBody>
          <a:bodyPr/>
          <a:lstStyle/>
          <a:p>
            <a:endParaRPr lang="ko-IN"/>
          </a:p>
        </p:txBody>
      </p:sp>
      <p:sp>
        <p:nvSpPr>
          <p:cNvPr id="88" name="pixel-87"/>
          <p:cNvSpPr/>
          <p:nvPr/>
        </p:nvSpPr>
        <p:spPr>
          <a:xfrm>
            <a:off x="7424928" y="4178808"/>
            <a:ext cx="384048" cy="384048"/>
          </a:xfrm>
          <a:prstGeom prst="rect">
            <a:avLst/>
          </a:prstGeom>
          <a:solidFill>
            <a:schemeClr val="accent2">
              <a:alpha val="68000"/>
            </a:schemeClr>
          </a:solidFill>
          <a:ln/>
        </p:spPr>
        <p:txBody>
          <a:bodyPr/>
          <a:lstStyle/>
          <a:p>
            <a:endParaRPr lang="ko-IN"/>
          </a:p>
        </p:txBody>
      </p:sp>
      <p:sp>
        <p:nvSpPr>
          <p:cNvPr id="89" name="pixel-88"/>
          <p:cNvSpPr/>
          <p:nvPr/>
        </p:nvSpPr>
        <p:spPr>
          <a:xfrm>
            <a:off x="7845552" y="4178808"/>
            <a:ext cx="384048" cy="384048"/>
          </a:xfrm>
          <a:prstGeom prst="rect">
            <a:avLst/>
          </a:prstGeom>
          <a:solidFill>
            <a:schemeClr val="accent2">
              <a:alpha val="66000"/>
            </a:schemeClr>
          </a:solidFill>
          <a:ln/>
        </p:spPr>
        <p:txBody>
          <a:bodyPr/>
          <a:lstStyle/>
          <a:p>
            <a:endParaRPr lang="ko-IN"/>
          </a:p>
        </p:txBody>
      </p:sp>
      <p:sp>
        <p:nvSpPr>
          <p:cNvPr id="90" name="pixel-89"/>
          <p:cNvSpPr/>
          <p:nvPr/>
        </p:nvSpPr>
        <p:spPr>
          <a:xfrm>
            <a:off x="8266176" y="4178808"/>
            <a:ext cx="384048" cy="384048"/>
          </a:xfrm>
          <a:prstGeom prst="rect">
            <a:avLst/>
          </a:prstGeom>
          <a:solidFill>
            <a:schemeClr val="accent2">
              <a:alpha val="63000"/>
            </a:schemeClr>
          </a:solidFill>
          <a:ln/>
        </p:spPr>
        <p:txBody>
          <a:bodyPr/>
          <a:lstStyle/>
          <a:p>
            <a:endParaRPr lang="ko-IN"/>
          </a:p>
        </p:txBody>
      </p:sp>
      <p:sp>
        <p:nvSpPr>
          <p:cNvPr id="91" name="pixel-90"/>
          <p:cNvSpPr/>
          <p:nvPr/>
        </p:nvSpPr>
        <p:spPr>
          <a:xfrm>
            <a:off x="8686800" y="4178808"/>
            <a:ext cx="384048" cy="384048"/>
          </a:xfrm>
          <a:prstGeom prst="rect">
            <a:avLst/>
          </a:prstGeom>
          <a:solidFill>
            <a:schemeClr val="accent2">
              <a:alpha val="61000"/>
            </a:schemeClr>
          </a:solidFill>
          <a:ln/>
        </p:spPr>
        <p:txBody>
          <a:bodyPr/>
          <a:lstStyle/>
          <a:p>
            <a:endParaRPr lang="ko-IN"/>
          </a:p>
        </p:txBody>
      </p:sp>
      <p:sp>
        <p:nvSpPr>
          <p:cNvPr id="92" name="pixel-91"/>
          <p:cNvSpPr/>
          <p:nvPr/>
        </p:nvSpPr>
        <p:spPr>
          <a:xfrm>
            <a:off x="9107424" y="4178808"/>
            <a:ext cx="384048" cy="384048"/>
          </a:xfrm>
          <a:prstGeom prst="rect">
            <a:avLst/>
          </a:prstGeom>
          <a:solidFill>
            <a:schemeClr val="accent2">
              <a:alpha val="61000"/>
            </a:schemeClr>
          </a:solidFill>
          <a:ln/>
        </p:spPr>
        <p:txBody>
          <a:bodyPr/>
          <a:lstStyle/>
          <a:p>
            <a:endParaRPr lang="ko-IN"/>
          </a:p>
        </p:txBody>
      </p:sp>
      <p:sp>
        <p:nvSpPr>
          <p:cNvPr id="93" name="pixel-92"/>
          <p:cNvSpPr/>
          <p:nvPr/>
        </p:nvSpPr>
        <p:spPr>
          <a:xfrm>
            <a:off x="9528048" y="4178808"/>
            <a:ext cx="384048" cy="384048"/>
          </a:xfrm>
          <a:prstGeom prst="rect">
            <a:avLst/>
          </a:prstGeom>
          <a:solidFill>
            <a:schemeClr val="accent2">
              <a:alpha val="64000"/>
            </a:schemeClr>
          </a:solidFill>
          <a:ln/>
        </p:spPr>
        <p:txBody>
          <a:bodyPr/>
          <a:lstStyle/>
          <a:p>
            <a:endParaRPr lang="ko-IN"/>
          </a:p>
        </p:txBody>
      </p:sp>
      <p:sp>
        <p:nvSpPr>
          <p:cNvPr id="94" name="pixel-93"/>
          <p:cNvSpPr/>
          <p:nvPr/>
        </p:nvSpPr>
        <p:spPr>
          <a:xfrm>
            <a:off x="9948672" y="4178808"/>
            <a:ext cx="384048" cy="384048"/>
          </a:xfrm>
          <a:prstGeom prst="rect">
            <a:avLst/>
          </a:prstGeom>
          <a:solidFill>
            <a:schemeClr val="accent2">
              <a:alpha val="68000"/>
            </a:schemeClr>
          </a:solidFill>
          <a:ln/>
        </p:spPr>
        <p:txBody>
          <a:bodyPr/>
          <a:lstStyle/>
          <a:p>
            <a:endParaRPr lang="ko-IN"/>
          </a:p>
        </p:txBody>
      </p:sp>
      <p:sp>
        <p:nvSpPr>
          <p:cNvPr id="95" name="pixel-94"/>
          <p:cNvSpPr/>
          <p:nvPr/>
        </p:nvSpPr>
        <p:spPr>
          <a:xfrm>
            <a:off x="10369296" y="4178808"/>
            <a:ext cx="384048" cy="384048"/>
          </a:xfrm>
          <a:prstGeom prst="rect">
            <a:avLst/>
          </a:prstGeom>
          <a:solidFill>
            <a:schemeClr val="accent2">
              <a:alpha val="71000"/>
            </a:schemeClr>
          </a:solidFill>
          <a:ln/>
        </p:spPr>
        <p:txBody>
          <a:bodyPr/>
          <a:lstStyle/>
          <a:p>
            <a:endParaRPr lang="ko-IN"/>
          </a:p>
        </p:txBody>
      </p:sp>
      <p:sp>
        <p:nvSpPr>
          <p:cNvPr id="96" name="pixel-95"/>
          <p:cNvSpPr/>
          <p:nvPr/>
        </p:nvSpPr>
        <p:spPr>
          <a:xfrm>
            <a:off x="10789920" y="4178808"/>
            <a:ext cx="384048" cy="384048"/>
          </a:xfrm>
          <a:prstGeom prst="rect">
            <a:avLst/>
          </a:prstGeom>
          <a:solidFill>
            <a:schemeClr val="accent2">
              <a:alpha val="70000"/>
            </a:schemeClr>
          </a:solidFill>
          <a:ln/>
        </p:spPr>
        <p:txBody>
          <a:bodyPr/>
          <a:lstStyle/>
          <a:p>
            <a:endParaRPr lang="ko-IN"/>
          </a:p>
        </p:txBody>
      </p:sp>
      <p:sp>
        <p:nvSpPr>
          <p:cNvPr id="97" name="pixel-96"/>
          <p:cNvSpPr/>
          <p:nvPr/>
        </p:nvSpPr>
        <p:spPr>
          <a:xfrm>
            <a:off x="11210544" y="4178808"/>
            <a:ext cx="384048" cy="384048"/>
          </a:xfrm>
          <a:prstGeom prst="rect">
            <a:avLst/>
          </a:prstGeom>
          <a:solidFill>
            <a:schemeClr val="accent2">
              <a:alpha val="65000"/>
            </a:schemeClr>
          </a:solidFill>
          <a:ln/>
        </p:spPr>
        <p:txBody>
          <a:bodyPr/>
          <a:lstStyle/>
          <a:p>
            <a:endParaRPr lang="ko-IN"/>
          </a:p>
        </p:txBody>
      </p:sp>
      <p:sp>
        <p:nvSpPr>
          <p:cNvPr id="98" name="pixel-97"/>
          <p:cNvSpPr/>
          <p:nvPr/>
        </p:nvSpPr>
        <p:spPr>
          <a:xfrm>
            <a:off x="6583680" y="4599432"/>
            <a:ext cx="384048" cy="384048"/>
          </a:xfrm>
          <a:prstGeom prst="rect">
            <a:avLst/>
          </a:prstGeom>
          <a:solidFill>
            <a:schemeClr val="accent2">
              <a:alpha val="67000"/>
            </a:schemeClr>
          </a:solidFill>
          <a:ln/>
        </p:spPr>
        <p:txBody>
          <a:bodyPr/>
          <a:lstStyle/>
          <a:p>
            <a:endParaRPr lang="ko-IN"/>
          </a:p>
        </p:txBody>
      </p:sp>
      <p:sp>
        <p:nvSpPr>
          <p:cNvPr id="99" name="pixel-98"/>
          <p:cNvSpPr/>
          <p:nvPr/>
        </p:nvSpPr>
        <p:spPr>
          <a:xfrm>
            <a:off x="7004304" y="4599432"/>
            <a:ext cx="384048" cy="384048"/>
          </a:xfrm>
          <a:prstGeom prst="rect">
            <a:avLst/>
          </a:prstGeom>
          <a:solidFill>
            <a:schemeClr val="accent2">
              <a:alpha val="74000"/>
            </a:schemeClr>
          </a:solidFill>
          <a:ln/>
        </p:spPr>
        <p:txBody>
          <a:bodyPr/>
          <a:lstStyle/>
          <a:p>
            <a:endParaRPr lang="ko-IN"/>
          </a:p>
        </p:txBody>
      </p:sp>
      <p:sp>
        <p:nvSpPr>
          <p:cNvPr id="100" name="pixel-99"/>
          <p:cNvSpPr/>
          <p:nvPr/>
        </p:nvSpPr>
        <p:spPr>
          <a:xfrm>
            <a:off x="7424928" y="4599432"/>
            <a:ext cx="384048" cy="384048"/>
          </a:xfrm>
          <a:prstGeom prst="rect">
            <a:avLst/>
          </a:prstGeom>
          <a:solidFill>
            <a:schemeClr val="accent2">
              <a:alpha val="76000"/>
            </a:schemeClr>
          </a:solidFill>
          <a:ln/>
        </p:spPr>
        <p:txBody>
          <a:bodyPr/>
          <a:lstStyle/>
          <a:p>
            <a:endParaRPr lang="ko-IN"/>
          </a:p>
        </p:txBody>
      </p:sp>
      <p:sp>
        <p:nvSpPr>
          <p:cNvPr id="101" name="pixel-100"/>
          <p:cNvSpPr/>
          <p:nvPr/>
        </p:nvSpPr>
        <p:spPr>
          <a:xfrm>
            <a:off x="7845552" y="4599432"/>
            <a:ext cx="384048" cy="384048"/>
          </a:xfrm>
          <a:prstGeom prst="rect">
            <a:avLst/>
          </a:prstGeom>
          <a:solidFill>
            <a:schemeClr val="accent2">
              <a:alpha val="74000"/>
            </a:schemeClr>
          </a:solidFill>
          <a:ln/>
        </p:spPr>
        <p:txBody>
          <a:bodyPr/>
          <a:lstStyle/>
          <a:p>
            <a:endParaRPr lang="ko-IN"/>
          </a:p>
        </p:txBody>
      </p:sp>
      <p:sp>
        <p:nvSpPr>
          <p:cNvPr id="102" name="pixel-101"/>
          <p:cNvSpPr/>
          <p:nvPr/>
        </p:nvSpPr>
        <p:spPr>
          <a:xfrm>
            <a:off x="8266176" y="4599432"/>
            <a:ext cx="384048" cy="384048"/>
          </a:xfrm>
          <a:prstGeom prst="rect">
            <a:avLst/>
          </a:prstGeom>
          <a:solidFill>
            <a:schemeClr val="accent2">
              <a:alpha val="70000"/>
            </a:schemeClr>
          </a:solidFill>
          <a:ln/>
        </p:spPr>
        <p:txBody>
          <a:bodyPr/>
          <a:lstStyle/>
          <a:p>
            <a:endParaRPr lang="ko-IN"/>
          </a:p>
        </p:txBody>
      </p:sp>
      <p:sp>
        <p:nvSpPr>
          <p:cNvPr id="103" name="pixel-102"/>
          <p:cNvSpPr/>
          <p:nvPr/>
        </p:nvSpPr>
        <p:spPr>
          <a:xfrm>
            <a:off x="8686800" y="4599432"/>
            <a:ext cx="384048" cy="384048"/>
          </a:xfrm>
          <a:prstGeom prst="rect">
            <a:avLst/>
          </a:prstGeom>
          <a:solidFill>
            <a:schemeClr val="accent2">
              <a:alpha val="65000"/>
            </a:schemeClr>
          </a:solidFill>
          <a:ln/>
        </p:spPr>
        <p:txBody>
          <a:bodyPr/>
          <a:lstStyle/>
          <a:p>
            <a:endParaRPr lang="ko-IN"/>
          </a:p>
        </p:txBody>
      </p:sp>
      <p:sp>
        <p:nvSpPr>
          <p:cNvPr id="104" name="pixel-103"/>
          <p:cNvSpPr/>
          <p:nvPr/>
        </p:nvSpPr>
        <p:spPr>
          <a:xfrm>
            <a:off x="9107424" y="4599432"/>
            <a:ext cx="384048" cy="384048"/>
          </a:xfrm>
          <a:prstGeom prst="rect">
            <a:avLst/>
          </a:prstGeom>
          <a:solidFill>
            <a:schemeClr val="accent2">
              <a:alpha val="63000"/>
            </a:schemeClr>
          </a:solidFill>
          <a:ln/>
        </p:spPr>
        <p:txBody>
          <a:bodyPr/>
          <a:lstStyle/>
          <a:p>
            <a:endParaRPr lang="ko-IN"/>
          </a:p>
        </p:txBody>
      </p:sp>
      <p:sp>
        <p:nvSpPr>
          <p:cNvPr id="105" name="pixel-104"/>
          <p:cNvSpPr/>
          <p:nvPr/>
        </p:nvSpPr>
        <p:spPr>
          <a:xfrm>
            <a:off x="9528048" y="4599432"/>
            <a:ext cx="384048" cy="384048"/>
          </a:xfrm>
          <a:prstGeom prst="rect">
            <a:avLst/>
          </a:prstGeom>
          <a:solidFill>
            <a:schemeClr val="accent2">
              <a:alpha val="63000"/>
            </a:schemeClr>
          </a:solidFill>
          <a:ln/>
        </p:spPr>
        <p:txBody>
          <a:bodyPr/>
          <a:lstStyle/>
          <a:p>
            <a:endParaRPr lang="ko-IN"/>
          </a:p>
        </p:txBody>
      </p:sp>
      <p:sp>
        <p:nvSpPr>
          <p:cNvPr id="106" name="pixel-105"/>
          <p:cNvSpPr/>
          <p:nvPr/>
        </p:nvSpPr>
        <p:spPr>
          <a:xfrm>
            <a:off x="9948672" y="4599432"/>
            <a:ext cx="384048" cy="384048"/>
          </a:xfrm>
          <a:prstGeom prst="rect">
            <a:avLst/>
          </a:prstGeom>
          <a:solidFill>
            <a:schemeClr val="accent2">
              <a:alpha val="66000"/>
            </a:schemeClr>
          </a:solidFill>
          <a:ln/>
        </p:spPr>
        <p:txBody>
          <a:bodyPr/>
          <a:lstStyle/>
          <a:p>
            <a:endParaRPr lang="ko-IN"/>
          </a:p>
        </p:txBody>
      </p:sp>
      <p:sp>
        <p:nvSpPr>
          <p:cNvPr id="107" name="pixel-106"/>
          <p:cNvSpPr/>
          <p:nvPr/>
        </p:nvSpPr>
        <p:spPr>
          <a:xfrm>
            <a:off x="10369296" y="4599432"/>
            <a:ext cx="384048" cy="384048"/>
          </a:xfrm>
          <a:prstGeom prst="rect">
            <a:avLst/>
          </a:prstGeom>
          <a:solidFill>
            <a:schemeClr val="accent2">
              <a:alpha val="68000"/>
            </a:schemeClr>
          </a:solidFill>
          <a:ln/>
        </p:spPr>
        <p:txBody>
          <a:bodyPr/>
          <a:lstStyle/>
          <a:p>
            <a:endParaRPr lang="ko-IN"/>
          </a:p>
        </p:txBody>
      </p:sp>
      <p:sp>
        <p:nvSpPr>
          <p:cNvPr id="108" name="pixel-107"/>
          <p:cNvSpPr/>
          <p:nvPr/>
        </p:nvSpPr>
        <p:spPr>
          <a:xfrm>
            <a:off x="10789920" y="4599432"/>
            <a:ext cx="384048" cy="384048"/>
          </a:xfrm>
          <a:prstGeom prst="rect">
            <a:avLst/>
          </a:prstGeom>
          <a:solidFill>
            <a:schemeClr val="accent2">
              <a:alpha val="68000"/>
            </a:schemeClr>
          </a:solidFill>
          <a:ln/>
        </p:spPr>
        <p:txBody>
          <a:bodyPr/>
          <a:lstStyle/>
          <a:p>
            <a:endParaRPr lang="ko-IN"/>
          </a:p>
        </p:txBody>
      </p:sp>
      <p:sp>
        <p:nvSpPr>
          <p:cNvPr id="109" name="pixel-108"/>
          <p:cNvSpPr/>
          <p:nvPr/>
        </p:nvSpPr>
        <p:spPr>
          <a:xfrm>
            <a:off x="11210544" y="4599432"/>
            <a:ext cx="384048" cy="384048"/>
          </a:xfrm>
          <a:prstGeom prst="rect">
            <a:avLst/>
          </a:prstGeom>
          <a:solidFill>
            <a:schemeClr val="accent2">
              <a:alpha val="65000"/>
            </a:schemeClr>
          </a:solidFill>
          <a:ln/>
        </p:spPr>
        <p:txBody>
          <a:bodyPr/>
          <a:lstStyle/>
          <a:p>
            <a:endParaRPr lang="ko-IN"/>
          </a:p>
        </p:txBody>
      </p:sp>
      <p:sp>
        <p:nvSpPr>
          <p:cNvPr id="110" name="decision-cell-109"/>
          <p:cNvSpPr/>
          <p:nvPr/>
        </p:nvSpPr>
        <p:spPr>
          <a:xfrm>
            <a:off x="7845552" y="2075688"/>
            <a:ext cx="384048" cy="384048"/>
          </a:xfrm>
          <a:prstGeom prst="rect">
            <a:avLst/>
          </a:prstGeom>
          <a:ln w="25400">
            <a:solidFill>
              <a:schemeClr val="accent3"/>
            </a:solidFill>
            <a:prstDash val="solid"/>
          </a:ln>
        </p:spPr>
        <p:txBody>
          <a:bodyPr/>
          <a:lstStyle/>
          <a:p>
            <a:endParaRPr lang="ko-IN"/>
          </a:p>
        </p:txBody>
      </p:sp>
      <p:sp>
        <p:nvSpPr>
          <p:cNvPr id="111" name="decision-cell-110"/>
          <p:cNvSpPr/>
          <p:nvPr/>
        </p:nvSpPr>
        <p:spPr>
          <a:xfrm>
            <a:off x="9528048" y="3337560"/>
            <a:ext cx="384048" cy="384048"/>
          </a:xfrm>
          <a:prstGeom prst="rect">
            <a:avLst/>
          </a:prstGeom>
          <a:ln w="25400">
            <a:solidFill>
              <a:schemeClr val="accent3"/>
            </a:solidFill>
            <a:prstDash val="solid"/>
          </a:ln>
        </p:spPr>
        <p:txBody>
          <a:bodyPr/>
          <a:lstStyle/>
          <a:p>
            <a:endParaRPr lang="ko-IN"/>
          </a:p>
        </p:txBody>
      </p:sp>
      <p:sp>
        <p:nvSpPr>
          <p:cNvPr id="112" name="decision-cell-111"/>
          <p:cNvSpPr/>
          <p:nvPr/>
        </p:nvSpPr>
        <p:spPr>
          <a:xfrm>
            <a:off x="10369296" y="1655064"/>
            <a:ext cx="384048" cy="384048"/>
          </a:xfrm>
          <a:prstGeom prst="rect">
            <a:avLst/>
          </a:prstGeom>
          <a:ln w="25400">
            <a:solidFill>
              <a:schemeClr val="accent3"/>
            </a:solidFill>
            <a:prstDash val="solid"/>
          </a:ln>
        </p:spPr>
        <p:txBody>
          <a:bodyPr/>
          <a:lstStyle/>
          <a:p>
            <a:endParaRPr lang="ko-IN"/>
          </a:p>
        </p:txBody>
      </p:sp>
      <p:sp>
        <p:nvSpPr>
          <p:cNvPr id="113" name="txt-112"/>
          <p:cNvSpPr txBox="1"/>
          <p:nvPr/>
        </p:nvSpPr>
        <p:spPr>
          <a:xfrm>
            <a:off x="6583680" y="5093208"/>
            <a:ext cx="5029200" cy="228600"/>
          </a:xfrm>
          <a:prstGeom prst="rect">
            <a:avLst/>
          </a:prstGeom>
          <a:noFill/>
          <a:ln/>
        </p:spPr>
        <p:txBody>
          <a:bodyPr wrap="square" lIns="0" tIns="0" rIns="0" bIns="0" rtlCol="0" anchor="t"/>
          <a:lstStyle/>
          <a:p>
            <a:pPr marL="0" indent="0">
              <a:buNone/>
            </a:pPr>
            <a:r>
              <a:rPr lang="en-US" sz="1000" dirty="0">
                <a:solidFill>
                  <a:schemeClr val="accent2"/>
                </a:solidFill>
              </a:rPr>
              <a:t>Illustrative NDVI-style raster  ·  highlighted cells = decision points</a:t>
            </a:r>
            <a:endParaRPr lang="en-US" sz="1000" dirty="0"/>
          </a:p>
        </p:txBody>
      </p:sp>
      <p:sp>
        <p:nvSpPr>
          <p:cNvPr id="115" name="Text 0"/>
          <p:cNvSpPr>
            <a:spLocks noGrp="1"/>
          </p:cNvSpPr>
          <p:nvPr>
            <p:ph type="title" idx="100" hasCustomPrompt="1"/>
          </p:nvPr>
        </p:nvSpPr>
        <p:spPr>
          <a:xfrm>
            <a:off x="640080" y="1783080"/>
            <a:ext cx="5760720" cy="1097280"/>
          </a:xfrm>
          <a:prstGeom prst="rect">
            <a:avLst/>
          </a:prstGeom>
          <a:noFill/>
          <a:ln/>
        </p:spPr>
        <p:txBody>
          <a:bodyPr wrap="square" lIns="0" tIns="0" rIns="0" bIns="0" rtlCol="0" anchor="t"/>
          <a:lstStyle/>
          <a:p>
            <a:pPr marL="0" indent="0" algn="l">
              <a:buNone/>
            </a:pPr>
            <a:r>
              <a:rPr lang="en-US" sz="6600" b="1" dirty="0">
                <a:solidFill>
                  <a:schemeClr val="bg2"/>
                </a:solidFill>
              </a:rPr>
              <a:t>AGRISATHI</a:t>
            </a:r>
            <a:endParaRPr lang="en-US" sz="6600" dirty="0"/>
          </a:p>
        </p:txBody>
      </p:sp>
      <p:sp>
        <p:nvSpPr>
          <p:cNvPr id="116" name="txt-114"/>
          <p:cNvSpPr txBox="1"/>
          <p:nvPr/>
        </p:nvSpPr>
        <p:spPr>
          <a:xfrm>
            <a:off x="640080" y="2926080"/>
            <a:ext cx="5577840" cy="914400"/>
          </a:xfrm>
          <a:prstGeom prst="rect">
            <a:avLst/>
          </a:prstGeom>
          <a:noFill/>
          <a:ln/>
        </p:spPr>
        <p:txBody>
          <a:bodyPr wrap="square" lIns="0" tIns="0" rIns="0" bIns="0" rtlCol="0" anchor="t"/>
          <a:lstStyle/>
          <a:p>
            <a:pPr marL="0" indent="0">
              <a:buNone/>
            </a:pPr>
            <a:r>
              <a:rPr lang="en-US" sz="2400" dirty="0">
                <a:solidFill>
                  <a:schemeClr val="bg2"/>
                </a:solidFill>
              </a:rPr>
              <a:t>AI-Powered Decision Intelligence System for Indian Agriculture</a:t>
            </a:r>
            <a:endParaRPr lang="en-US" sz="2400" dirty="0"/>
          </a:p>
        </p:txBody>
      </p:sp>
      <p:sp>
        <p:nvSpPr>
          <p:cNvPr id="117" name="txt-115"/>
          <p:cNvSpPr txBox="1"/>
          <p:nvPr/>
        </p:nvSpPr>
        <p:spPr>
          <a:xfrm>
            <a:off x="640080" y="4023360"/>
            <a:ext cx="5577840" cy="640080"/>
          </a:xfrm>
          <a:prstGeom prst="rect">
            <a:avLst/>
          </a:prstGeom>
          <a:noFill/>
          <a:ln/>
        </p:spPr>
        <p:txBody>
          <a:bodyPr wrap="square" lIns="0" tIns="0" rIns="0" bIns="0" rtlCol="0" anchor="t"/>
          <a:lstStyle/>
          <a:p>
            <a:pPr marL="0" indent="0">
              <a:buNone/>
            </a:pPr>
            <a:r>
              <a:rPr lang="en-US" sz="1600" i="1" dirty="0">
                <a:solidFill>
                  <a:schemeClr val="accent2"/>
                </a:solidFill>
              </a:rPr>
              <a:t>From fragmented agricultural data to actionable farm-level decisions</a:t>
            </a:r>
            <a:endParaRPr lang="en-US" sz="1600" dirty="0"/>
          </a:p>
        </p:txBody>
      </p:sp>
      <p:sp>
        <p:nvSpPr>
          <p:cNvPr id="118" name="txt-116"/>
          <p:cNvSpPr txBox="1"/>
          <p:nvPr/>
        </p:nvSpPr>
        <p:spPr>
          <a:xfrm>
            <a:off x="629920" y="4846320"/>
            <a:ext cx="5760720" cy="914400"/>
          </a:xfrm>
          <a:prstGeom prst="rect">
            <a:avLst/>
          </a:prstGeom>
          <a:noFill/>
          <a:ln/>
        </p:spPr>
        <p:txBody>
          <a:bodyPr wrap="square" lIns="0" tIns="0" rIns="0" bIns="0" rtlCol="0" anchor="t"/>
          <a:lstStyle/>
          <a:p>
            <a:pPr marL="0" indent="0">
              <a:spcAft>
                <a:spcPts val="400"/>
              </a:spcAft>
              <a:buNone/>
            </a:pPr>
            <a:r>
              <a:rPr lang="en-US" sz="1400" b="1" dirty="0">
                <a:solidFill>
                  <a:schemeClr val="accent2"/>
                </a:solidFill>
              </a:rPr>
              <a:t>Team  </a:t>
            </a:r>
            <a:r>
              <a:rPr lang="en-US" sz="1400" b="1" dirty="0">
                <a:solidFill>
                  <a:schemeClr val="bg2"/>
                </a:solidFill>
              </a:rPr>
              <a:t>Bheeshma Nair</a:t>
            </a:r>
          </a:p>
          <a:p>
            <a:pPr marL="0" indent="0">
              <a:spcAft>
                <a:spcPts val="400"/>
              </a:spcAft>
              <a:buNone/>
            </a:pPr>
            <a:r>
              <a:rPr lang="en-US" sz="1400" b="1" dirty="0">
                <a:solidFill>
                  <a:schemeClr val="bg2"/>
                </a:solidFill>
              </a:rPr>
              <a:t>            Parth Vinod Pungle</a:t>
            </a:r>
          </a:p>
          <a:p>
            <a:pPr marL="0" indent="0">
              <a:spcAft>
                <a:spcPts val="400"/>
              </a:spcAft>
              <a:buNone/>
            </a:pPr>
            <a:r>
              <a:rPr lang="en-US" sz="1400" b="1" dirty="0">
                <a:solidFill>
                  <a:schemeClr val="bg2"/>
                </a:solidFill>
              </a:rPr>
              <a:t>            Shaik Abdul Ashraf</a:t>
            </a:r>
          </a:p>
          <a:p>
            <a:pPr marL="0" indent="0">
              <a:spcAft>
                <a:spcPts val="400"/>
              </a:spcAft>
              <a:buNone/>
            </a:pPr>
            <a:r>
              <a:rPr lang="en-US" sz="1400" b="1" dirty="0">
                <a:solidFill>
                  <a:schemeClr val="bg2"/>
                </a:solidFill>
              </a:rPr>
              <a:t>            Shreya Basker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dot-117"/>
          <p:cNvSpPr/>
          <p:nvPr/>
        </p:nvSpPr>
        <p:spPr>
          <a:xfrm>
            <a:off x="548640" y="429768"/>
            <a:ext cx="118872" cy="118872"/>
          </a:xfrm>
          <a:prstGeom prst="ellipse">
            <a:avLst/>
          </a:prstGeom>
          <a:solidFill>
            <a:schemeClr val="accent3"/>
          </a:solidFill>
          <a:ln/>
        </p:spPr>
        <p:txBody>
          <a:bodyPr/>
          <a:lstStyle/>
          <a:p>
            <a:endParaRPr lang="ko-IN"/>
          </a:p>
        </p:txBody>
      </p:sp>
      <p:sp>
        <p:nvSpPr>
          <p:cNvPr id="3" name="txt-118"/>
          <p:cNvSpPr txBox="1"/>
          <p:nvPr/>
        </p:nvSpPr>
        <p:spPr>
          <a:xfrm>
            <a:off x="768096" y="384048"/>
            <a:ext cx="6400800" cy="256032"/>
          </a:xfrm>
          <a:prstGeom prst="rect">
            <a:avLst/>
          </a:prstGeom>
          <a:noFill/>
          <a:ln/>
        </p:spPr>
        <p:txBody>
          <a:bodyPr wrap="square" lIns="0" tIns="0" rIns="0" bIns="0" rtlCol="0" anchor="t"/>
          <a:lstStyle/>
          <a:p>
            <a:pPr marL="0" indent="0">
              <a:buNone/>
            </a:pPr>
            <a:r>
              <a:rPr lang="en-US" sz="1200" b="1" kern="0" spc="200" dirty="0">
                <a:solidFill>
                  <a:schemeClr val="accent4"/>
                </a:solidFill>
              </a:rPr>
              <a:t>01  ·  THE PROBLEM</a:t>
            </a:r>
            <a:endParaRPr lang="en-US" sz="1200" dirty="0"/>
          </a:p>
        </p:txBody>
      </p:sp>
      <p:sp>
        <p:nvSpPr>
          <p:cNvPr id="4" name="box-119"/>
          <p:cNvSpPr txBox="1"/>
          <p:nvPr/>
        </p:nvSpPr>
        <p:spPr>
          <a:xfrm>
            <a:off x="9537192" y="365760"/>
            <a:ext cx="2103120" cy="274320"/>
          </a:xfrm>
          <a:prstGeom prst="rect">
            <a:avLst/>
          </a:prstGeom>
          <a:ln w="12700">
            <a:solidFill>
              <a:schemeClr val="accent4"/>
            </a:solidFill>
          </a:ln>
        </p:spPr>
        <p:txBody>
          <a:bodyPr wrap="square" lIns="0" tIns="0" rIns="0" bIns="0" rtlCol="0" anchor="ctr"/>
          <a:lstStyle/>
          <a:p>
            <a:pPr marL="0" indent="0" algn="ctr">
              <a:buNone/>
            </a:pPr>
            <a:r>
              <a:rPr lang="en-US" sz="1000" b="1" dirty="0">
                <a:solidFill>
                  <a:schemeClr val="accent4"/>
                </a:solidFill>
              </a:rPr>
              <a:t>EVIDENCE</a:t>
            </a:r>
            <a:endParaRPr lang="en-US" sz="1000" dirty="0"/>
          </a:p>
        </p:txBody>
      </p:sp>
      <p:sp>
        <p:nvSpPr>
          <p:cNvPr id="5" name="Text 1"/>
          <p:cNvSpPr>
            <a:spLocks noGrp="1"/>
          </p:cNvSpPr>
          <p:nvPr>
            <p:ph type="title" idx="101" hasCustomPrompt="1"/>
          </p:nvPr>
        </p:nvSpPr>
        <p:spPr>
          <a:xfrm>
            <a:off x="548640" y="658368"/>
            <a:ext cx="11091672" cy="731520"/>
          </a:xfrm>
          <a:prstGeom prst="rect">
            <a:avLst/>
          </a:prstGeom>
          <a:noFill/>
          <a:ln/>
        </p:spPr>
        <p:txBody>
          <a:bodyPr wrap="square" lIns="0" tIns="0" rIns="0" bIns="0" rtlCol="0" anchor="t"/>
          <a:lstStyle/>
          <a:p>
            <a:pPr marL="0" indent="0" algn="l">
              <a:buNone/>
            </a:pPr>
            <a:r>
              <a:rPr lang="en-US" sz="3600" b="1" dirty="0">
                <a:solidFill>
                  <a:schemeClr val="tx2"/>
                </a:solidFill>
              </a:rPr>
              <a:t>Why did we build Agrisathi?</a:t>
            </a:r>
            <a:endParaRPr lang="en-US" sz="3600" dirty="0"/>
          </a:p>
        </p:txBody>
      </p:sp>
      <p:sp>
        <p:nvSpPr>
          <p:cNvPr id="7" name="txt-120"/>
          <p:cNvSpPr txBox="1"/>
          <p:nvPr/>
        </p:nvSpPr>
        <p:spPr>
          <a:xfrm>
            <a:off x="548640" y="1371600"/>
            <a:ext cx="11091672" cy="457200"/>
          </a:xfrm>
          <a:prstGeom prst="rect">
            <a:avLst/>
          </a:prstGeom>
          <a:noFill/>
          <a:ln/>
        </p:spPr>
        <p:txBody>
          <a:bodyPr wrap="square" lIns="0" tIns="0" rIns="0" bIns="0" rtlCol="0" anchor="t"/>
          <a:lstStyle/>
          <a:p>
            <a:pPr marL="0" indent="0">
              <a:buNone/>
            </a:pPr>
            <a:r>
              <a:rPr lang="en-US" sz="1800" i="1" dirty="0">
                <a:solidFill>
                  <a:schemeClr val="accent1"/>
                </a:solidFill>
              </a:rPr>
              <a:t>The problem is not a lack of agricultural information. It is fragmented decision-making.</a:t>
            </a:r>
            <a:endParaRPr lang="en-US" sz="1800" dirty="0"/>
          </a:p>
        </p:txBody>
      </p:sp>
      <p:sp>
        <p:nvSpPr>
          <p:cNvPr id="8" name="box-121"/>
          <p:cNvSpPr txBox="1"/>
          <p:nvPr/>
        </p:nvSpPr>
        <p:spPr>
          <a:xfrm>
            <a:off x="548640" y="2011680"/>
            <a:ext cx="2286000" cy="384048"/>
          </a:xfrm>
          <a:prstGeom prst="rect">
            <a:avLst/>
          </a:prstGeom>
          <a:solidFill>
            <a:schemeClr val="bg1"/>
          </a:solidFill>
          <a:ln w="12700">
            <a:solidFill>
              <a:schemeClr val="accent2"/>
            </a:solidFill>
          </a:ln>
        </p:spPr>
        <p:txBody>
          <a:bodyPr wrap="square" lIns="128016" tIns="128016" rIns="128016" bIns="128016" rtlCol="0" anchor="ctr"/>
          <a:lstStyle/>
          <a:p>
            <a:pPr marL="0" indent="0" algn="l">
              <a:buNone/>
            </a:pPr>
            <a:r>
              <a:rPr lang="en-US" sz="1400" dirty="0">
                <a:solidFill>
                  <a:schemeClr val="tx1"/>
                </a:solidFill>
              </a:rPr>
              <a:t>Weather</a:t>
            </a:r>
            <a:endParaRPr lang="en-US" sz="1400" dirty="0"/>
          </a:p>
        </p:txBody>
      </p:sp>
      <p:sp>
        <p:nvSpPr>
          <p:cNvPr id="9" name="line-122"/>
          <p:cNvSpPr/>
          <p:nvPr/>
        </p:nvSpPr>
        <p:spPr>
          <a:xfrm>
            <a:off x="2834640" y="2203704"/>
            <a:ext cx="1389888" cy="1636776"/>
          </a:xfrm>
          <a:prstGeom prst="line">
            <a:avLst/>
          </a:prstGeom>
          <a:noFill/>
          <a:ln w="15875">
            <a:solidFill>
              <a:schemeClr val="accent6"/>
            </a:solidFill>
            <a:prstDash val="solid"/>
          </a:ln>
        </p:spPr>
        <p:txBody>
          <a:bodyPr/>
          <a:lstStyle/>
          <a:p>
            <a:endParaRPr lang="ko-IN"/>
          </a:p>
        </p:txBody>
      </p:sp>
      <p:sp>
        <p:nvSpPr>
          <p:cNvPr id="10" name="box-123"/>
          <p:cNvSpPr txBox="1"/>
          <p:nvPr/>
        </p:nvSpPr>
        <p:spPr>
          <a:xfrm>
            <a:off x="548640" y="2468880"/>
            <a:ext cx="2286000" cy="384048"/>
          </a:xfrm>
          <a:prstGeom prst="rect">
            <a:avLst/>
          </a:prstGeom>
          <a:solidFill>
            <a:schemeClr val="bg1"/>
          </a:solidFill>
          <a:ln w="12700">
            <a:solidFill>
              <a:schemeClr val="accent2"/>
            </a:solidFill>
          </a:ln>
        </p:spPr>
        <p:txBody>
          <a:bodyPr wrap="square" lIns="128016" tIns="128016" rIns="128016" bIns="128016" rtlCol="0" anchor="ctr"/>
          <a:lstStyle/>
          <a:p>
            <a:pPr marL="0" indent="0" algn="l">
              <a:buNone/>
            </a:pPr>
            <a:r>
              <a:rPr lang="en-US" sz="1400" dirty="0">
                <a:solidFill>
                  <a:schemeClr val="tx1"/>
                </a:solidFill>
              </a:rPr>
              <a:t>Soil</a:t>
            </a:r>
            <a:endParaRPr lang="en-US" sz="1400" dirty="0"/>
          </a:p>
        </p:txBody>
      </p:sp>
      <p:sp>
        <p:nvSpPr>
          <p:cNvPr id="11" name="line-124"/>
          <p:cNvSpPr/>
          <p:nvPr/>
        </p:nvSpPr>
        <p:spPr>
          <a:xfrm>
            <a:off x="2834640" y="2660904"/>
            <a:ext cx="1389888" cy="1179576"/>
          </a:xfrm>
          <a:prstGeom prst="line">
            <a:avLst/>
          </a:prstGeom>
          <a:noFill/>
          <a:ln w="15875">
            <a:solidFill>
              <a:schemeClr val="accent6"/>
            </a:solidFill>
            <a:prstDash val="solid"/>
          </a:ln>
        </p:spPr>
        <p:txBody>
          <a:bodyPr/>
          <a:lstStyle/>
          <a:p>
            <a:endParaRPr lang="ko-IN"/>
          </a:p>
        </p:txBody>
      </p:sp>
      <p:sp>
        <p:nvSpPr>
          <p:cNvPr id="12" name="box-125"/>
          <p:cNvSpPr txBox="1"/>
          <p:nvPr/>
        </p:nvSpPr>
        <p:spPr>
          <a:xfrm>
            <a:off x="548640" y="2926080"/>
            <a:ext cx="2286000" cy="384048"/>
          </a:xfrm>
          <a:prstGeom prst="rect">
            <a:avLst/>
          </a:prstGeom>
          <a:solidFill>
            <a:schemeClr val="bg1"/>
          </a:solidFill>
          <a:ln w="12700">
            <a:solidFill>
              <a:schemeClr val="accent2"/>
            </a:solidFill>
          </a:ln>
        </p:spPr>
        <p:txBody>
          <a:bodyPr wrap="square" lIns="128016" tIns="128016" rIns="128016" bIns="128016" rtlCol="0" anchor="ctr"/>
          <a:lstStyle/>
          <a:p>
            <a:pPr marL="0" indent="0" algn="l">
              <a:buNone/>
            </a:pPr>
            <a:r>
              <a:rPr lang="en-US" sz="1400" dirty="0">
                <a:solidFill>
                  <a:schemeClr val="tx1"/>
                </a:solidFill>
              </a:rPr>
              <a:t>Crop stage</a:t>
            </a:r>
            <a:endParaRPr lang="en-US" sz="1400" dirty="0"/>
          </a:p>
        </p:txBody>
      </p:sp>
      <p:sp>
        <p:nvSpPr>
          <p:cNvPr id="13" name="line-126"/>
          <p:cNvSpPr/>
          <p:nvPr/>
        </p:nvSpPr>
        <p:spPr>
          <a:xfrm>
            <a:off x="2834640" y="3118104"/>
            <a:ext cx="1389888" cy="722376"/>
          </a:xfrm>
          <a:prstGeom prst="line">
            <a:avLst/>
          </a:prstGeom>
          <a:noFill/>
          <a:ln w="15875">
            <a:solidFill>
              <a:schemeClr val="accent6"/>
            </a:solidFill>
            <a:prstDash val="solid"/>
          </a:ln>
        </p:spPr>
        <p:txBody>
          <a:bodyPr/>
          <a:lstStyle/>
          <a:p>
            <a:endParaRPr lang="ko-IN"/>
          </a:p>
        </p:txBody>
      </p:sp>
      <p:sp>
        <p:nvSpPr>
          <p:cNvPr id="14" name="box-127"/>
          <p:cNvSpPr txBox="1"/>
          <p:nvPr/>
        </p:nvSpPr>
        <p:spPr>
          <a:xfrm>
            <a:off x="548640" y="3383280"/>
            <a:ext cx="2286000" cy="384048"/>
          </a:xfrm>
          <a:prstGeom prst="rect">
            <a:avLst/>
          </a:prstGeom>
          <a:solidFill>
            <a:schemeClr val="bg1"/>
          </a:solidFill>
          <a:ln w="12700">
            <a:solidFill>
              <a:schemeClr val="accent2"/>
            </a:solidFill>
          </a:ln>
        </p:spPr>
        <p:txBody>
          <a:bodyPr wrap="square" lIns="128016" tIns="128016" rIns="128016" bIns="128016" rtlCol="0" anchor="ctr"/>
          <a:lstStyle/>
          <a:p>
            <a:pPr marL="0" indent="0" algn="l">
              <a:buNone/>
            </a:pPr>
            <a:r>
              <a:rPr lang="en-US" sz="1400" dirty="0">
                <a:solidFill>
                  <a:schemeClr val="tx1"/>
                </a:solidFill>
              </a:rPr>
              <a:t>Pest / disease risk</a:t>
            </a:r>
            <a:endParaRPr lang="en-US" sz="1400" dirty="0"/>
          </a:p>
        </p:txBody>
      </p:sp>
      <p:sp>
        <p:nvSpPr>
          <p:cNvPr id="15" name="line-128"/>
          <p:cNvSpPr/>
          <p:nvPr/>
        </p:nvSpPr>
        <p:spPr>
          <a:xfrm>
            <a:off x="2834640" y="3575304"/>
            <a:ext cx="1389888" cy="265176"/>
          </a:xfrm>
          <a:prstGeom prst="line">
            <a:avLst/>
          </a:prstGeom>
          <a:noFill/>
          <a:ln w="15875">
            <a:solidFill>
              <a:schemeClr val="accent6"/>
            </a:solidFill>
            <a:prstDash val="solid"/>
          </a:ln>
        </p:spPr>
        <p:txBody>
          <a:bodyPr/>
          <a:lstStyle/>
          <a:p>
            <a:endParaRPr lang="ko-IN"/>
          </a:p>
        </p:txBody>
      </p:sp>
      <p:sp>
        <p:nvSpPr>
          <p:cNvPr id="16" name="box-129"/>
          <p:cNvSpPr txBox="1"/>
          <p:nvPr/>
        </p:nvSpPr>
        <p:spPr>
          <a:xfrm>
            <a:off x="548640" y="3840480"/>
            <a:ext cx="2286000" cy="384048"/>
          </a:xfrm>
          <a:prstGeom prst="rect">
            <a:avLst/>
          </a:prstGeom>
          <a:solidFill>
            <a:schemeClr val="bg1"/>
          </a:solidFill>
          <a:ln w="12700">
            <a:solidFill>
              <a:schemeClr val="accent2"/>
            </a:solidFill>
          </a:ln>
        </p:spPr>
        <p:txBody>
          <a:bodyPr wrap="square" lIns="128016" tIns="128016" rIns="128016" bIns="128016" rtlCol="0" anchor="ctr"/>
          <a:lstStyle/>
          <a:p>
            <a:pPr marL="0" indent="0" algn="l">
              <a:buNone/>
            </a:pPr>
            <a:r>
              <a:rPr lang="en-US" sz="1400" dirty="0">
                <a:solidFill>
                  <a:schemeClr val="tx1"/>
                </a:solidFill>
              </a:rPr>
              <a:t>Irrigation</a:t>
            </a:r>
            <a:endParaRPr lang="en-US" sz="1400" dirty="0"/>
          </a:p>
        </p:txBody>
      </p:sp>
      <p:sp>
        <p:nvSpPr>
          <p:cNvPr id="17" name="line-130"/>
          <p:cNvSpPr/>
          <p:nvPr/>
        </p:nvSpPr>
        <p:spPr>
          <a:xfrm flipV="1">
            <a:off x="2834640" y="3840480"/>
            <a:ext cx="1389888" cy="192024"/>
          </a:xfrm>
          <a:prstGeom prst="line">
            <a:avLst/>
          </a:prstGeom>
          <a:noFill/>
          <a:ln w="15875">
            <a:solidFill>
              <a:schemeClr val="accent6"/>
            </a:solidFill>
            <a:prstDash val="solid"/>
          </a:ln>
        </p:spPr>
        <p:txBody>
          <a:bodyPr/>
          <a:lstStyle/>
          <a:p>
            <a:endParaRPr lang="ko-IN"/>
          </a:p>
        </p:txBody>
      </p:sp>
      <p:sp>
        <p:nvSpPr>
          <p:cNvPr id="18" name="box-131"/>
          <p:cNvSpPr txBox="1"/>
          <p:nvPr/>
        </p:nvSpPr>
        <p:spPr>
          <a:xfrm>
            <a:off x="548640" y="4297680"/>
            <a:ext cx="2286000" cy="384048"/>
          </a:xfrm>
          <a:prstGeom prst="rect">
            <a:avLst/>
          </a:prstGeom>
          <a:solidFill>
            <a:schemeClr val="bg1"/>
          </a:solidFill>
          <a:ln w="12700">
            <a:solidFill>
              <a:schemeClr val="accent2"/>
            </a:solidFill>
          </a:ln>
        </p:spPr>
        <p:txBody>
          <a:bodyPr wrap="square" lIns="128016" tIns="128016" rIns="128016" bIns="128016" rtlCol="0" anchor="ctr"/>
          <a:lstStyle/>
          <a:p>
            <a:pPr marL="0" indent="0" algn="l">
              <a:buNone/>
            </a:pPr>
            <a:r>
              <a:rPr lang="en-US" sz="1400" dirty="0">
                <a:solidFill>
                  <a:schemeClr val="tx1"/>
                </a:solidFill>
              </a:rPr>
              <a:t>Inputs</a:t>
            </a:r>
            <a:endParaRPr lang="en-US" sz="1400" dirty="0"/>
          </a:p>
        </p:txBody>
      </p:sp>
      <p:sp>
        <p:nvSpPr>
          <p:cNvPr id="19" name="line-132"/>
          <p:cNvSpPr/>
          <p:nvPr/>
        </p:nvSpPr>
        <p:spPr>
          <a:xfrm flipV="1">
            <a:off x="2834640" y="3840480"/>
            <a:ext cx="1389888" cy="649224"/>
          </a:xfrm>
          <a:prstGeom prst="line">
            <a:avLst/>
          </a:prstGeom>
          <a:noFill/>
          <a:ln w="15875">
            <a:solidFill>
              <a:schemeClr val="accent6"/>
            </a:solidFill>
            <a:prstDash val="solid"/>
          </a:ln>
        </p:spPr>
        <p:txBody>
          <a:bodyPr/>
          <a:lstStyle/>
          <a:p>
            <a:endParaRPr lang="ko-IN"/>
          </a:p>
        </p:txBody>
      </p:sp>
      <p:sp>
        <p:nvSpPr>
          <p:cNvPr id="20" name="box-133"/>
          <p:cNvSpPr txBox="1"/>
          <p:nvPr/>
        </p:nvSpPr>
        <p:spPr>
          <a:xfrm>
            <a:off x="548640" y="4754880"/>
            <a:ext cx="2286000" cy="384048"/>
          </a:xfrm>
          <a:prstGeom prst="rect">
            <a:avLst/>
          </a:prstGeom>
          <a:solidFill>
            <a:schemeClr val="bg1"/>
          </a:solidFill>
          <a:ln w="12700">
            <a:solidFill>
              <a:schemeClr val="accent2"/>
            </a:solidFill>
          </a:ln>
        </p:spPr>
        <p:txBody>
          <a:bodyPr wrap="square" lIns="128016" tIns="128016" rIns="128016" bIns="128016" rtlCol="0" anchor="ctr"/>
          <a:lstStyle/>
          <a:p>
            <a:pPr marL="0" indent="0" algn="l">
              <a:buNone/>
            </a:pPr>
            <a:r>
              <a:rPr lang="en-US" sz="1400" dirty="0">
                <a:solidFill>
                  <a:schemeClr val="tx1"/>
                </a:solidFill>
              </a:rPr>
              <a:t>Market prices</a:t>
            </a:r>
            <a:endParaRPr lang="en-US" sz="1400" dirty="0"/>
          </a:p>
        </p:txBody>
      </p:sp>
      <p:sp>
        <p:nvSpPr>
          <p:cNvPr id="21" name="line-134"/>
          <p:cNvSpPr/>
          <p:nvPr/>
        </p:nvSpPr>
        <p:spPr>
          <a:xfrm flipV="1">
            <a:off x="2834640" y="3840480"/>
            <a:ext cx="1389888" cy="1106424"/>
          </a:xfrm>
          <a:prstGeom prst="line">
            <a:avLst/>
          </a:prstGeom>
          <a:noFill/>
          <a:ln w="15875">
            <a:solidFill>
              <a:schemeClr val="accent6"/>
            </a:solidFill>
            <a:prstDash val="solid"/>
          </a:ln>
        </p:spPr>
        <p:txBody>
          <a:bodyPr/>
          <a:lstStyle/>
          <a:p>
            <a:endParaRPr lang="ko-IN"/>
          </a:p>
        </p:txBody>
      </p:sp>
      <p:sp>
        <p:nvSpPr>
          <p:cNvPr id="22" name="box-135"/>
          <p:cNvSpPr txBox="1"/>
          <p:nvPr/>
        </p:nvSpPr>
        <p:spPr>
          <a:xfrm>
            <a:off x="548640" y="5212080"/>
            <a:ext cx="2286000" cy="384048"/>
          </a:xfrm>
          <a:prstGeom prst="rect">
            <a:avLst/>
          </a:prstGeom>
          <a:solidFill>
            <a:schemeClr val="bg1"/>
          </a:solidFill>
          <a:ln w="12700">
            <a:solidFill>
              <a:schemeClr val="accent2"/>
            </a:solidFill>
          </a:ln>
        </p:spPr>
        <p:txBody>
          <a:bodyPr wrap="square" lIns="128016" tIns="128016" rIns="128016" bIns="128016" rtlCol="0" anchor="ctr"/>
          <a:lstStyle/>
          <a:p>
            <a:pPr marL="0" indent="0" algn="l">
              <a:buNone/>
            </a:pPr>
            <a:r>
              <a:rPr lang="en-US" sz="1400" dirty="0">
                <a:solidFill>
                  <a:schemeClr val="tx1"/>
                </a:solidFill>
              </a:rPr>
              <a:t>Harvest timing</a:t>
            </a:r>
            <a:endParaRPr lang="en-US" sz="1400" dirty="0"/>
          </a:p>
        </p:txBody>
      </p:sp>
      <p:sp>
        <p:nvSpPr>
          <p:cNvPr id="23" name="line-136"/>
          <p:cNvSpPr/>
          <p:nvPr/>
        </p:nvSpPr>
        <p:spPr>
          <a:xfrm flipV="1">
            <a:off x="2834640" y="3840480"/>
            <a:ext cx="1389888" cy="1563624"/>
          </a:xfrm>
          <a:prstGeom prst="line">
            <a:avLst/>
          </a:prstGeom>
          <a:noFill/>
          <a:ln w="15875">
            <a:solidFill>
              <a:schemeClr val="accent6"/>
            </a:solidFill>
            <a:prstDash val="solid"/>
          </a:ln>
        </p:spPr>
        <p:txBody>
          <a:bodyPr/>
          <a:lstStyle/>
          <a:p>
            <a:endParaRPr lang="ko-IN"/>
          </a:p>
        </p:txBody>
      </p:sp>
      <p:sp>
        <p:nvSpPr>
          <p:cNvPr id="24" name="circle-137"/>
          <p:cNvSpPr/>
          <p:nvPr/>
        </p:nvSpPr>
        <p:spPr>
          <a:xfrm>
            <a:off x="4206240" y="3063240"/>
            <a:ext cx="1554480" cy="1554480"/>
          </a:xfrm>
          <a:prstGeom prst="ellipse">
            <a:avLst/>
          </a:prstGeom>
          <a:solidFill>
            <a:schemeClr val="tx2"/>
          </a:solidFill>
          <a:ln/>
        </p:spPr>
        <p:txBody>
          <a:bodyPr/>
          <a:lstStyle/>
          <a:p>
            <a:endParaRPr lang="ko-IN"/>
          </a:p>
        </p:txBody>
      </p:sp>
      <p:sp>
        <p:nvSpPr>
          <p:cNvPr id="25" name="txt-138"/>
          <p:cNvSpPr txBox="1"/>
          <p:nvPr/>
        </p:nvSpPr>
        <p:spPr>
          <a:xfrm>
            <a:off x="4206240" y="3063240"/>
            <a:ext cx="1554480" cy="1554480"/>
          </a:xfrm>
          <a:prstGeom prst="rect">
            <a:avLst/>
          </a:prstGeom>
          <a:noFill/>
          <a:ln/>
        </p:spPr>
        <p:txBody>
          <a:bodyPr wrap="square" lIns="0" tIns="0" rIns="0" bIns="0" rtlCol="0" anchor="ctr"/>
          <a:lstStyle/>
          <a:p>
            <a:pPr marL="0" indent="0" algn="ctr">
              <a:buNone/>
            </a:pPr>
            <a:r>
              <a:rPr lang="en-US" sz="1400" b="1" dirty="0">
                <a:solidFill>
                  <a:schemeClr val="bg2"/>
                </a:solidFill>
              </a:rPr>
              <a:t>ONE</a:t>
            </a:r>
            <a:endParaRPr lang="en-US" sz="1400" dirty="0"/>
          </a:p>
          <a:p>
            <a:pPr marL="0" indent="0" algn="ctr">
              <a:buNone/>
            </a:pPr>
            <a:r>
              <a:rPr lang="en-US" sz="1400" b="1" dirty="0">
                <a:solidFill>
                  <a:schemeClr val="bg2"/>
                </a:solidFill>
              </a:rPr>
              <a:t>FARM</a:t>
            </a:r>
            <a:endParaRPr lang="en-US" sz="1400" dirty="0"/>
          </a:p>
          <a:p>
            <a:pPr marL="0" indent="0" algn="ctr">
              <a:buNone/>
            </a:pPr>
            <a:r>
              <a:rPr lang="en-US" sz="1400" b="1" dirty="0">
                <a:solidFill>
                  <a:schemeClr val="bg2"/>
                </a:solidFill>
              </a:rPr>
              <a:t>DECISION</a:t>
            </a:r>
            <a:endParaRPr lang="en-US" sz="1400" dirty="0"/>
          </a:p>
        </p:txBody>
      </p:sp>
      <p:sp>
        <p:nvSpPr>
          <p:cNvPr id="26" name="txt-139"/>
          <p:cNvSpPr txBox="1"/>
          <p:nvPr/>
        </p:nvSpPr>
        <p:spPr>
          <a:xfrm>
            <a:off x="548640" y="5733288"/>
            <a:ext cx="3657600" cy="228600"/>
          </a:xfrm>
          <a:prstGeom prst="rect">
            <a:avLst/>
          </a:prstGeom>
          <a:noFill/>
          <a:ln/>
        </p:spPr>
        <p:txBody>
          <a:bodyPr wrap="square" lIns="0" tIns="0" rIns="0" bIns="0" rtlCol="0" anchor="t"/>
          <a:lstStyle/>
          <a:p>
            <a:pPr marL="0" indent="0">
              <a:buNone/>
            </a:pPr>
            <a:r>
              <a:rPr lang="en-US" sz="1100" dirty="0">
                <a:solidFill>
                  <a:schemeClr val="accent4"/>
                </a:solidFill>
              </a:rPr>
              <a:t>8 signals, separate sources</a:t>
            </a:r>
            <a:endParaRPr lang="en-US" sz="1100" dirty="0"/>
          </a:p>
        </p:txBody>
      </p:sp>
      <p:sp>
        <p:nvSpPr>
          <p:cNvPr id="27" name="txt-140"/>
          <p:cNvSpPr txBox="1"/>
          <p:nvPr/>
        </p:nvSpPr>
        <p:spPr>
          <a:xfrm>
            <a:off x="6675120" y="1828800"/>
            <a:ext cx="4937760" cy="1371600"/>
          </a:xfrm>
          <a:prstGeom prst="rect">
            <a:avLst/>
          </a:prstGeom>
          <a:noFill/>
          <a:ln/>
        </p:spPr>
        <p:txBody>
          <a:bodyPr wrap="square" lIns="0" tIns="0" rIns="0" bIns="0" rtlCol="0" anchor="t"/>
          <a:lstStyle/>
          <a:p>
            <a:pPr marL="0" indent="0">
              <a:buNone/>
            </a:pPr>
            <a:r>
              <a:rPr lang="en-US" sz="9600" b="1" dirty="0">
                <a:solidFill>
                  <a:schemeClr val="tx2"/>
                </a:solidFill>
                <a:latin typeface="+mj-lt" pitchFamily="34" charset="0"/>
                <a:ea typeface="+mj-lt" pitchFamily="34" charset="-122"/>
                <a:cs typeface="+mj-lt" pitchFamily="34" charset="-120"/>
              </a:rPr>
              <a:t>86%</a:t>
            </a:r>
            <a:endParaRPr lang="en-US" sz="9600" dirty="0"/>
          </a:p>
        </p:txBody>
      </p:sp>
      <p:sp>
        <p:nvSpPr>
          <p:cNvPr id="28" name="txt-141"/>
          <p:cNvSpPr txBox="1"/>
          <p:nvPr/>
        </p:nvSpPr>
        <p:spPr>
          <a:xfrm>
            <a:off x="6675120" y="3337560"/>
            <a:ext cx="4937760" cy="640080"/>
          </a:xfrm>
          <a:prstGeom prst="rect">
            <a:avLst/>
          </a:prstGeom>
          <a:noFill/>
          <a:ln/>
        </p:spPr>
        <p:txBody>
          <a:bodyPr wrap="square" lIns="0" tIns="0" rIns="0" bIns="0" rtlCol="0" anchor="t"/>
          <a:lstStyle/>
          <a:p>
            <a:pPr marL="0" indent="0">
              <a:buNone/>
            </a:pPr>
            <a:r>
              <a:rPr lang="en-US" sz="1800" dirty="0">
                <a:solidFill>
                  <a:schemeClr val="tx1"/>
                </a:solidFill>
              </a:rPr>
              <a:t>of India's operational holdings are small or marginal (under 2 hectares)</a:t>
            </a:r>
            <a:endParaRPr lang="en-US" sz="1800" dirty="0"/>
          </a:p>
        </p:txBody>
      </p:sp>
      <p:sp>
        <p:nvSpPr>
          <p:cNvPr id="29" name="txt-142"/>
          <p:cNvSpPr txBox="1"/>
          <p:nvPr/>
        </p:nvSpPr>
        <p:spPr>
          <a:xfrm>
            <a:off x="6675120" y="4069080"/>
            <a:ext cx="4937760" cy="365760"/>
          </a:xfrm>
          <a:prstGeom prst="rect">
            <a:avLst/>
          </a:prstGeom>
          <a:noFill/>
          <a:ln/>
        </p:spPr>
        <p:txBody>
          <a:bodyPr wrap="square" lIns="0" tIns="0" rIns="0" bIns="0" rtlCol="0" anchor="t"/>
          <a:lstStyle/>
          <a:p>
            <a:pPr marL="0" indent="0">
              <a:buNone/>
            </a:pPr>
            <a:r>
              <a:rPr lang="en-US" sz="1400" dirty="0">
                <a:solidFill>
                  <a:schemeClr val="accent4"/>
                </a:solidFill>
              </a:rPr>
              <a:t>…yet together they operate only 46.9% of the farmland.</a:t>
            </a:r>
            <a:endParaRPr lang="en-US" sz="1400" dirty="0"/>
          </a:p>
        </p:txBody>
      </p:sp>
      <p:sp>
        <p:nvSpPr>
          <p:cNvPr id="30" name="txt-143"/>
          <p:cNvSpPr txBox="1"/>
          <p:nvPr/>
        </p:nvSpPr>
        <p:spPr>
          <a:xfrm>
            <a:off x="6675120" y="4709160"/>
            <a:ext cx="4937760" cy="228600"/>
          </a:xfrm>
          <a:prstGeom prst="rect">
            <a:avLst/>
          </a:prstGeom>
          <a:noFill/>
          <a:ln/>
        </p:spPr>
        <p:txBody>
          <a:bodyPr wrap="square" lIns="0" tIns="0" rIns="0" bIns="0" rtlCol="0" anchor="t"/>
          <a:lstStyle/>
          <a:p>
            <a:pPr marL="0" indent="0">
              <a:buNone/>
            </a:pPr>
            <a:r>
              <a:rPr lang="en-US" sz="1200" b="1" kern="0" spc="200" dirty="0">
                <a:solidFill>
                  <a:schemeClr val="accent4"/>
                </a:solidFill>
              </a:rPr>
              <a:t>WHY IT MATTERS</a:t>
            </a:r>
            <a:endParaRPr lang="en-US" sz="1200" dirty="0"/>
          </a:p>
        </p:txBody>
      </p:sp>
      <p:sp>
        <p:nvSpPr>
          <p:cNvPr id="31" name="txt-144"/>
          <p:cNvSpPr txBox="1"/>
          <p:nvPr/>
        </p:nvSpPr>
        <p:spPr>
          <a:xfrm>
            <a:off x="6675120" y="4983480"/>
            <a:ext cx="4937760" cy="640080"/>
          </a:xfrm>
          <a:prstGeom prst="rect">
            <a:avLst/>
          </a:prstGeom>
          <a:noFill/>
          <a:ln/>
        </p:spPr>
        <p:txBody>
          <a:bodyPr wrap="square" lIns="0" tIns="0" rIns="0" bIns="0" rtlCol="0" anchor="t"/>
          <a:lstStyle/>
          <a:p>
            <a:pPr marL="0" indent="0">
              <a:buNone/>
            </a:pPr>
            <a:r>
              <a:rPr lang="en-US" sz="1400" dirty="0">
                <a:solidFill>
                  <a:schemeClr val="tx1"/>
                </a:solidFill>
              </a:rPr>
              <a:t>Small farms have less room to absorb losses from a poor crop, input, irrigation or market decision.</a:t>
            </a:r>
            <a:endParaRPr lang="en-US" sz="1400" dirty="0"/>
          </a:p>
        </p:txBody>
      </p:sp>
      <p:sp>
        <p:nvSpPr>
          <p:cNvPr id="32" name="txt-145"/>
          <p:cNvSpPr txBox="1"/>
          <p:nvPr/>
        </p:nvSpPr>
        <p:spPr>
          <a:xfrm>
            <a:off x="548640" y="6053328"/>
            <a:ext cx="11091672" cy="329184"/>
          </a:xfrm>
          <a:prstGeom prst="rect">
            <a:avLst/>
          </a:prstGeom>
          <a:noFill/>
          <a:ln/>
        </p:spPr>
        <p:txBody>
          <a:bodyPr wrap="square" lIns="0" tIns="0" rIns="0" bIns="0" rtlCol="0" anchor="t"/>
          <a:lstStyle/>
          <a:p>
            <a:pPr marL="0" indent="0">
              <a:buNone/>
            </a:pPr>
            <a:r>
              <a:rPr lang="en-US" sz="1000" dirty="0">
                <a:solidFill>
                  <a:schemeClr val="accent4"/>
                </a:solidFill>
              </a:rPr>
              <a:t>Source: Agriculture Census 2015–16 (10th), Dept. of Agriculture &amp; Farmers Welfare, Govt. of India — small &amp; marginal holdings: 86.08% of holdings, 46.94% of operated area.</a:t>
            </a:r>
            <a:endParaRPr lang="en-US" sz="1000" dirty="0"/>
          </a:p>
        </p:txBody>
      </p:sp>
      <p:sp>
        <p:nvSpPr>
          <p:cNvPr id="6" name="Slide Number Placeholder 0"/>
          <p:cNvSpPr>
            <a:spLocks noGrp="1"/>
          </p:cNvSpPr>
          <p:nvPr>
            <p:ph type="sldNum" sz="quarter" idx="4294967295"/>
          </p:nvPr>
        </p:nvSpPr>
        <p:spPr>
          <a:xfrm>
            <a:off x="11064240" y="6446520"/>
            <a:ext cx="576072"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dot-146"/>
          <p:cNvSpPr/>
          <p:nvPr/>
        </p:nvSpPr>
        <p:spPr>
          <a:xfrm>
            <a:off x="548640" y="429768"/>
            <a:ext cx="118872" cy="118872"/>
          </a:xfrm>
          <a:prstGeom prst="ellipse">
            <a:avLst/>
          </a:prstGeom>
          <a:solidFill>
            <a:schemeClr val="accent3"/>
          </a:solidFill>
          <a:ln/>
        </p:spPr>
        <p:txBody>
          <a:bodyPr/>
          <a:lstStyle/>
          <a:p>
            <a:endParaRPr lang="ko-IN"/>
          </a:p>
        </p:txBody>
      </p:sp>
      <p:sp>
        <p:nvSpPr>
          <p:cNvPr id="3" name="txt-147"/>
          <p:cNvSpPr txBox="1"/>
          <p:nvPr/>
        </p:nvSpPr>
        <p:spPr>
          <a:xfrm>
            <a:off x="768096" y="384048"/>
            <a:ext cx="6400800" cy="256032"/>
          </a:xfrm>
          <a:prstGeom prst="rect">
            <a:avLst/>
          </a:prstGeom>
          <a:noFill/>
          <a:ln/>
        </p:spPr>
        <p:txBody>
          <a:bodyPr wrap="square" lIns="0" tIns="0" rIns="0" bIns="0" rtlCol="0" anchor="t"/>
          <a:lstStyle/>
          <a:p>
            <a:pPr marL="0" indent="0">
              <a:buNone/>
            </a:pPr>
            <a:r>
              <a:rPr lang="en-US" sz="1200" b="1" kern="0" spc="200" dirty="0">
                <a:solidFill>
                  <a:schemeClr val="accent4"/>
                </a:solidFill>
              </a:rPr>
              <a:t>02  ·  WHY IT MATTERS</a:t>
            </a:r>
            <a:endParaRPr lang="en-US" sz="1200" dirty="0"/>
          </a:p>
        </p:txBody>
      </p:sp>
      <p:sp>
        <p:nvSpPr>
          <p:cNvPr id="4" name="box-148"/>
          <p:cNvSpPr txBox="1"/>
          <p:nvPr/>
        </p:nvSpPr>
        <p:spPr>
          <a:xfrm>
            <a:off x="9537192" y="365760"/>
            <a:ext cx="2103120" cy="274320"/>
          </a:xfrm>
          <a:prstGeom prst="rect">
            <a:avLst/>
          </a:prstGeom>
          <a:ln w="12700">
            <a:solidFill>
              <a:schemeClr val="accent4"/>
            </a:solidFill>
          </a:ln>
        </p:spPr>
        <p:txBody>
          <a:bodyPr wrap="square" lIns="0" tIns="0" rIns="0" bIns="0" rtlCol="0" anchor="ctr"/>
          <a:lstStyle/>
          <a:p>
            <a:pPr marL="0" indent="0" algn="ctr">
              <a:buNone/>
            </a:pPr>
            <a:r>
              <a:rPr lang="en-US" sz="1000" b="1" dirty="0">
                <a:solidFill>
                  <a:schemeClr val="accent4"/>
                </a:solidFill>
              </a:rPr>
              <a:t>EVIDENCE</a:t>
            </a:r>
            <a:endParaRPr lang="en-US" sz="1000" dirty="0"/>
          </a:p>
        </p:txBody>
      </p:sp>
      <p:sp>
        <p:nvSpPr>
          <p:cNvPr id="5" name="Text 1"/>
          <p:cNvSpPr>
            <a:spLocks noGrp="1"/>
          </p:cNvSpPr>
          <p:nvPr>
            <p:ph type="title" idx="101" hasCustomPrompt="1"/>
          </p:nvPr>
        </p:nvSpPr>
        <p:spPr>
          <a:xfrm>
            <a:off x="548640" y="658368"/>
            <a:ext cx="11091672" cy="731520"/>
          </a:xfrm>
          <a:prstGeom prst="rect">
            <a:avLst/>
          </a:prstGeom>
          <a:noFill/>
          <a:ln/>
        </p:spPr>
        <p:txBody>
          <a:bodyPr wrap="square" lIns="0" tIns="0" rIns="0" bIns="0" rtlCol="0" anchor="t"/>
          <a:lstStyle/>
          <a:p>
            <a:pPr marL="0" indent="0" algn="l">
              <a:buNone/>
            </a:pPr>
            <a:r>
              <a:rPr lang="en-US" sz="3600" b="1" dirty="0">
                <a:solidFill>
                  <a:schemeClr val="tx2"/>
                </a:solidFill>
              </a:rPr>
              <a:t>Farming is becoming data-dependent</a:t>
            </a:r>
            <a:endParaRPr lang="en-US" sz="3600" dirty="0"/>
          </a:p>
        </p:txBody>
      </p:sp>
      <p:sp>
        <p:nvSpPr>
          <p:cNvPr id="7" name="txt-149"/>
          <p:cNvSpPr txBox="1"/>
          <p:nvPr/>
        </p:nvSpPr>
        <p:spPr>
          <a:xfrm>
            <a:off x="548640" y="1554480"/>
            <a:ext cx="7132320" cy="256032"/>
          </a:xfrm>
          <a:prstGeom prst="rect">
            <a:avLst/>
          </a:prstGeom>
          <a:noFill/>
          <a:ln/>
        </p:spPr>
        <p:txBody>
          <a:bodyPr wrap="square" lIns="0" tIns="0" rIns="0" bIns="0" rtlCol="0" anchor="t"/>
          <a:lstStyle/>
          <a:p>
            <a:pPr marL="0" indent="0">
              <a:buNone/>
            </a:pPr>
            <a:r>
              <a:rPr lang="en-US" sz="1200" b="1" kern="0" spc="200" dirty="0">
                <a:solidFill>
                  <a:schemeClr val="accent4"/>
                </a:solidFill>
              </a:rPr>
              <a:t>TRADITIONAL DECISION</a:t>
            </a:r>
            <a:r>
              <a:rPr lang="en-US" sz="1200" i="1" dirty="0">
                <a:solidFill>
                  <a:schemeClr val="accent4"/>
                </a:solidFill>
              </a:rPr>
              <a:t>   valuable, but limited to what one person can track</a:t>
            </a:r>
            <a:endParaRPr lang="en-US" sz="1200" dirty="0"/>
          </a:p>
        </p:txBody>
      </p:sp>
      <p:sp>
        <p:nvSpPr>
          <p:cNvPr id="8" name="box-150"/>
          <p:cNvSpPr txBox="1"/>
          <p:nvPr/>
        </p:nvSpPr>
        <p:spPr>
          <a:xfrm>
            <a:off x="548640" y="1874520"/>
            <a:ext cx="1920240" cy="566928"/>
          </a:xfrm>
          <a:prstGeom prst="rect">
            <a:avLst/>
          </a:prstGeom>
          <a:solidFill>
            <a:schemeClr val="bg1"/>
          </a:solidFill>
          <a:ln w="12700">
            <a:solidFill>
              <a:schemeClr val="accent2"/>
            </a:solidFill>
          </a:ln>
        </p:spPr>
        <p:txBody>
          <a:bodyPr wrap="square" lIns="73152" tIns="73152" rIns="73152" bIns="73152" rtlCol="0" anchor="ctr"/>
          <a:lstStyle/>
          <a:p>
            <a:pPr marL="0" indent="0" algn="ctr">
              <a:buNone/>
            </a:pPr>
            <a:r>
              <a:rPr lang="en-US" sz="1600" dirty="0">
                <a:solidFill>
                  <a:schemeClr val="tx1"/>
                </a:solidFill>
              </a:rPr>
              <a:t>Experience</a:t>
            </a:r>
            <a:endParaRPr lang="en-US" sz="1600" dirty="0"/>
          </a:p>
        </p:txBody>
      </p:sp>
      <p:sp>
        <p:nvSpPr>
          <p:cNvPr id="9" name="line-151"/>
          <p:cNvSpPr/>
          <p:nvPr/>
        </p:nvSpPr>
        <p:spPr>
          <a:xfrm>
            <a:off x="2468880" y="2157984"/>
            <a:ext cx="457200" cy="0"/>
          </a:xfrm>
          <a:prstGeom prst="line">
            <a:avLst/>
          </a:prstGeom>
          <a:noFill/>
          <a:ln w="19050">
            <a:solidFill>
              <a:schemeClr val="accent4"/>
            </a:solidFill>
            <a:prstDash val="solid"/>
            <a:tailEnd type="triangle"/>
          </a:ln>
        </p:spPr>
        <p:txBody>
          <a:bodyPr/>
          <a:lstStyle/>
          <a:p>
            <a:endParaRPr lang="ko-IN"/>
          </a:p>
        </p:txBody>
      </p:sp>
      <p:sp>
        <p:nvSpPr>
          <p:cNvPr id="10" name="box-152"/>
          <p:cNvSpPr txBox="1"/>
          <p:nvPr/>
        </p:nvSpPr>
        <p:spPr>
          <a:xfrm>
            <a:off x="2926080" y="1874520"/>
            <a:ext cx="1920240" cy="566928"/>
          </a:xfrm>
          <a:prstGeom prst="rect">
            <a:avLst/>
          </a:prstGeom>
          <a:solidFill>
            <a:schemeClr val="bg1"/>
          </a:solidFill>
          <a:ln w="12700">
            <a:solidFill>
              <a:schemeClr val="accent2"/>
            </a:solidFill>
          </a:ln>
        </p:spPr>
        <p:txBody>
          <a:bodyPr wrap="square" lIns="73152" tIns="73152" rIns="73152" bIns="73152" rtlCol="0" anchor="ctr"/>
          <a:lstStyle/>
          <a:p>
            <a:pPr marL="0" indent="0" algn="ctr">
              <a:buNone/>
            </a:pPr>
            <a:r>
              <a:rPr lang="en-US" sz="1600" dirty="0">
                <a:solidFill>
                  <a:schemeClr val="tx1"/>
                </a:solidFill>
              </a:rPr>
              <a:t>Routine</a:t>
            </a:r>
            <a:endParaRPr lang="en-US" sz="1600" dirty="0"/>
          </a:p>
        </p:txBody>
      </p:sp>
      <p:sp>
        <p:nvSpPr>
          <p:cNvPr id="11" name="line-153"/>
          <p:cNvSpPr/>
          <p:nvPr/>
        </p:nvSpPr>
        <p:spPr>
          <a:xfrm>
            <a:off x="4846320" y="2157984"/>
            <a:ext cx="457200" cy="0"/>
          </a:xfrm>
          <a:prstGeom prst="line">
            <a:avLst/>
          </a:prstGeom>
          <a:noFill/>
          <a:ln w="19050">
            <a:solidFill>
              <a:schemeClr val="accent4"/>
            </a:solidFill>
            <a:prstDash val="solid"/>
            <a:tailEnd type="triangle"/>
          </a:ln>
        </p:spPr>
        <p:txBody>
          <a:bodyPr/>
          <a:lstStyle/>
          <a:p>
            <a:endParaRPr lang="ko-IN"/>
          </a:p>
        </p:txBody>
      </p:sp>
      <p:sp>
        <p:nvSpPr>
          <p:cNvPr id="12" name="box-154"/>
          <p:cNvSpPr txBox="1"/>
          <p:nvPr/>
        </p:nvSpPr>
        <p:spPr>
          <a:xfrm>
            <a:off x="5303520" y="1874520"/>
            <a:ext cx="1920240" cy="566928"/>
          </a:xfrm>
          <a:prstGeom prst="rect">
            <a:avLst/>
          </a:prstGeom>
          <a:solidFill>
            <a:schemeClr val="bg1"/>
          </a:solidFill>
          <a:ln w="12700">
            <a:solidFill>
              <a:schemeClr val="accent2"/>
            </a:solidFill>
          </a:ln>
        </p:spPr>
        <p:txBody>
          <a:bodyPr wrap="square" lIns="73152" tIns="73152" rIns="73152" bIns="73152" rtlCol="0" anchor="ctr"/>
          <a:lstStyle/>
          <a:p>
            <a:pPr marL="0" indent="0" algn="ctr">
              <a:buNone/>
            </a:pPr>
            <a:r>
              <a:rPr lang="en-US" sz="1600" dirty="0">
                <a:solidFill>
                  <a:schemeClr val="tx1"/>
                </a:solidFill>
              </a:rPr>
              <a:t>Decision</a:t>
            </a:r>
            <a:endParaRPr lang="en-US" sz="1600" dirty="0"/>
          </a:p>
        </p:txBody>
      </p:sp>
      <p:sp>
        <p:nvSpPr>
          <p:cNvPr id="13" name="txt-155"/>
          <p:cNvSpPr txBox="1"/>
          <p:nvPr/>
        </p:nvSpPr>
        <p:spPr>
          <a:xfrm>
            <a:off x="548640" y="2697480"/>
            <a:ext cx="7132320" cy="256032"/>
          </a:xfrm>
          <a:prstGeom prst="rect">
            <a:avLst/>
          </a:prstGeom>
          <a:noFill/>
          <a:ln/>
        </p:spPr>
        <p:txBody>
          <a:bodyPr wrap="square" lIns="0" tIns="0" rIns="0" bIns="0" rtlCol="0" anchor="t"/>
          <a:lstStyle/>
          <a:p>
            <a:pPr marL="0" indent="0">
              <a:buNone/>
            </a:pPr>
            <a:r>
              <a:rPr lang="en-US" sz="1200" b="1" kern="0" spc="200" dirty="0">
                <a:solidFill>
                  <a:schemeClr val="tx2"/>
                </a:solidFill>
              </a:rPr>
              <a:t>DATA-ASSISTED DECISION</a:t>
            </a:r>
            <a:endParaRPr lang="en-US" sz="1200" dirty="0"/>
          </a:p>
        </p:txBody>
      </p:sp>
      <p:sp>
        <p:nvSpPr>
          <p:cNvPr id="14" name="box-156"/>
          <p:cNvSpPr txBox="1"/>
          <p:nvPr/>
        </p:nvSpPr>
        <p:spPr>
          <a:xfrm>
            <a:off x="548640" y="3017520"/>
            <a:ext cx="2651760" cy="1051560"/>
          </a:xfrm>
          <a:prstGeom prst="rect">
            <a:avLst/>
          </a:prstGeom>
          <a:solidFill>
            <a:schemeClr val="bg1"/>
          </a:solidFill>
          <a:ln w="12700">
            <a:solidFill>
              <a:schemeClr val="accent2"/>
            </a:solidFill>
          </a:ln>
        </p:spPr>
        <p:txBody>
          <a:bodyPr wrap="square" lIns="73152" tIns="73152" rIns="73152" bIns="73152" rtlCol="0" anchor="ctr"/>
          <a:lstStyle/>
          <a:p>
            <a:pPr marL="0" indent="0" algn="ctr">
              <a:buNone/>
            </a:pPr>
            <a:r>
              <a:rPr lang="en-US" sz="1600" dirty="0">
                <a:solidFill>
                  <a:schemeClr val="tx1"/>
                </a:solidFill>
              </a:rPr>
              <a:t>Weather + Soil + Crop + Market + Climate</a:t>
            </a:r>
            <a:endParaRPr lang="en-US" sz="1600" dirty="0"/>
          </a:p>
        </p:txBody>
      </p:sp>
      <p:sp>
        <p:nvSpPr>
          <p:cNvPr id="15" name="line-157"/>
          <p:cNvSpPr/>
          <p:nvPr/>
        </p:nvSpPr>
        <p:spPr>
          <a:xfrm>
            <a:off x="3200400" y="3543300"/>
            <a:ext cx="457200" cy="0"/>
          </a:xfrm>
          <a:prstGeom prst="line">
            <a:avLst/>
          </a:prstGeom>
          <a:noFill/>
          <a:ln w="19050">
            <a:solidFill>
              <a:schemeClr val="tx2"/>
            </a:solidFill>
            <a:prstDash val="solid"/>
            <a:tailEnd type="triangle"/>
          </a:ln>
        </p:spPr>
        <p:txBody>
          <a:bodyPr/>
          <a:lstStyle/>
          <a:p>
            <a:endParaRPr lang="ko-IN"/>
          </a:p>
        </p:txBody>
      </p:sp>
      <p:sp>
        <p:nvSpPr>
          <p:cNvPr id="16" name="box-158"/>
          <p:cNvSpPr txBox="1"/>
          <p:nvPr/>
        </p:nvSpPr>
        <p:spPr>
          <a:xfrm>
            <a:off x="3657600" y="3017520"/>
            <a:ext cx="1737360" cy="1051560"/>
          </a:xfrm>
          <a:prstGeom prst="rect">
            <a:avLst/>
          </a:prstGeom>
          <a:solidFill>
            <a:schemeClr val="tx2"/>
          </a:solidFill>
          <a:ln/>
        </p:spPr>
        <p:txBody>
          <a:bodyPr wrap="square" lIns="73152" tIns="73152" rIns="73152" bIns="73152" rtlCol="0" anchor="ctr"/>
          <a:lstStyle/>
          <a:p>
            <a:pPr marL="0" indent="0" algn="ctr">
              <a:buNone/>
            </a:pPr>
            <a:r>
              <a:rPr lang="en-US" sz="1600" b="1" dirty="0">
                <a:solidFill>
                  <a:schemeClr val="bg2"/>
                </a:solidFill>
              </a:rPr>
              <a:t>AI analysis</a:t>
            </a:r>
            <a:endParaRPr lang="en-US" sz="1600" dirty="0"/>
          </a:p>
        </p:txBody>
      </p:sp>
      <p:sp>
        <p:nvSpPr>
          <p:cNvPr id="17" name="line-159"/>
          <p:cNvSpPr/>
          <p:nvPr/>
        </p:nvSpPr>
        <p:spPr>
          <a:xfrm>
            <a:off x="5394960" y="3543300"/>
            <a:ext cx="457200" cy="0"/>
          </a:xfrm>
          <a:prstGeom prst="line">
            <a:avLst/>
          </a:prstGeom>
          <a:noFill/>
          <a:ln w="19050">
            <a:solidFill>
              <a:schemeClr val="tx2"/>
            </a:solidFill>
            <a:prstDash val="solid"/>
            <a:tailEnd type="triangle"/>
          </a:ln>
        </p:spPr>
        <p:txBody>
          <a:bodyPr/>
          <a:lstStyle/>
          <a:p>
            <a:endParaRPr lang="ko-IN"/>
          </a:p>
        </p:txBody>
      </p:sp>
      <p:sp>
        <p:nvSpPr>
          <p:cNvPr id="18" name="box-160"/>
          <p:cNvSpPr txBox="1"/>
          <p:nvPr/>
        </p:nvSpPr>
        <p:spPr>
          <a:xfrm>
            <a:off x="5852160" y="3017520"/>
            <a:ext cx="1371600" cy="1051560"/>
          </a:xfrm>
          <a:prstGeom prst="rect">
            <a:avLst/>
          </a:prstGeom>
          <a:solidFill>
            <a:schemeClr val="bg1"/>
          </a:solidFill>
          <a:ln w="25400">
            <a:solidFill>
              <a:schemeClr val="tx2"/>
            </a:solidFill>
          </a:ln>
        </p:spPr>
        <p:txBody>
          <a:bodyPr wrap="square" lIns="73152" tIns="73152" rIns="73152" bIns="73152" rtlCol="0" anchor="ctr"/>
          <a:lstStyle/>
          <a:p>
            <a:pPr marL="0" indent="0" algn="ctr">
              <a:buNone/>
            </a:pPr>
            <a:r>
              <a:rPr lang="en-US" sz="1600" b="1" dirty="0">
                <a:solidFill>
                  <a:schemeClr val="tx1"/>
                </a:solidFill>
              </a:rPr>
              <a:t>Decision</a:t>
            </a:r>
            <a:endParaRPr lang="en-US" sz="1600" dirty="0"/>
          </a:p>
        </p:txBody>
      </p:sp>
      <p:sp>
        <p:nvSpPr>
          <p:cNvPr id="19" name="txt-161"/>
          <p:cNvSpPr txBox="1"/>
          <p:nvPr/>
        </p:nvSpPr>
        <p:spPr>
          <a:xfrm>
            <a:off x="548640" y="4389120"/>
            <a:ext cx="7132320" cy="228600"/>
          </a:xfrm>
          <a:prstGeom prst="rect">
            <a:avLst/>
          </a:prstGeom>
          <a:noFill/>
          <a:ln/>
        </p:spPr>
        <p:txBody>
          <a:bodyPr wrap="square" lIns="0" tIns="0" rIns="0" bIns="0" rtlCol="0" anchor="t"/>
          <a:lstStyle/>
          <a:p>
            <a:pPr marL="0" indent="0">
              <a:buNone/>
            </a:pPr>
            <a:r>
              <a:rPr lang="en-US" sz="1200" b="1" kern="0" spc="200" dirty="0">
                <a:solidFill>
                  <a:schemeClr val="accent4"/>
                </a:solidFill>
              </a:rPr>
              <a:t>WHAT MAKES DECISIONS HARDER</a:t>
            </a:r>
            <a:endParaRPr lang="en-US" sz="1200" dirty="0"/>
          </a:p>
        </p:txBody>
      </p:sp>
      <p:sp>
        <p:nvSpPr>
          <p:cNvPr id="20" name="dot-162"/>
          <p:cNvSpPr/>
          <p:nvPr/>
        </p:nvSpPr>
        <p:spPr>
          <a:xfrm>
            <a:off x="548640" y="4773168"/>
            <a:ext cx="100584" cy="100584"/>
          </a:xfrm>
          <a:prstGeom prst="ellipse">
            <a:avLst/>
          </a:prstGeom>
          <a:solidFill>
            <a:schemeClr val="accent6"/>
          </a:solidFill>
          <a:ln/>
        </p:spPr>
        <p:txBody>
          <a:bodyPr/>
          <a:lstStyle/>
          <a:p>
            <a:endParaRPr lang="ko-IN"/>
          </a:p>
        </p:txBody>
      </p:sp>
      <p:sp>
        <p:nvSpPr>
          <p:cNvPr id="21" name="txt-163"/>
          <p:cNvSpPr txBox="1"/>
          <p:nvPr/>
        </p:nvSpPr>
        <p:spPr>
          <a:xfrm>
            <a:off x="768096" y="4709160"/>
            <a:ext cx="3200400" cy="274320"/>
          </a:xfrm>
          <a:prstGeom prst="rect">
            <a:avLst/>
          </a:prstGeom>
          <a:noFill/>
          <a:ln/>
        </p:spPr>
        <p:txBody>
          <a:bodyPr wrap="square" lIns="0" tIns="0" rIns="0" bIns="0" rtlCol="0" anchor="t"/>
          <a:lstStyle/>
          <a:p>
            <a:pPr marL="0" indent="0">
              <a:buNone/>
            </a:pPr>
            <a:r>
              <a:rPr lang="en-US" sz="1400" dirty="0">
                <a:solidFill>
                  <a:schemeClr val="tx1"/>
                </a:solidFill>
              </a:rPr>
              <a:t>Weather variability</a:t>
            </a:r>
            <a:endParaRPr lang="en-US" sz="1400" dirty="0"/>
          </a:p>
        </p:txBody>
      </p:sp>
      <p:sp>
        <p:nvSpPr>
          <p:cNvPr id="22" name="dot-164"/>
          <p:cNvSpPr/>
          <p:nvPr/>
        </p:nvSpPr>
        <p:spPr>
          <a:xfrm>
            <a:off x="4114800" y="4773168"/>
            <a:ext cx="100584" cy="100584"/>
          </a:xfrm>
          <a:prstGeom prst="ellipse">
            <a:avLst/>
          </a:prstGeom>
          <a:solidFill>
            <a:schemeClr val="accent6"/>
          </a:solidFill>
          <a:ln/>
        </p:spPr>
        <p:txBody>
          <a:bodyPr/>
          <a:lstStyle/>
          <a:p>
            <a:endParaRPr lang="ko-IN"/>
          </a:p>
        </p:txBody>
      </p:sp>
      <p:sp>
        <p:nvSpPr>
          <p:cNvPr id="23" name="txt-165"/>
          <p:cNvSpPr txBox="1"/>
          <p:nvPr/>
        </p:nvSpPr>
        <p:spPr>
          <a:xfrm>
            <a:off x="4334256" y="4709160"/>
            <a:ext cx="3200400" cy="274320"/>
          </a:xfrm>
          <a:prstGeom prst="rect">
            <a:avLst/>
          </a:prstGeom>
          <a:noFill/>
          <a:ln/>
        </p:spPr>
        <p:txBody>
          <a:bodyPr wrap="square" lIns="0" tIns="0" rIns="0" bIns="0" rtlCol="0" anchor="t"/>
          <a:lstStyle/>
          <a:p>
            <a:pPr marL="0" indent="0">
              <a:buNone/>
            </a:pPr>
            <a:r>
              <a:rPr lang="en-US" sz="1400" dirty="0">
                <a:solidFill>
                  <a:schemeClr val="tx1"/>
                </a:solidFill>
              </a:rPr>
              <a:t>Irregular rainfall</a:t>
            </a:r>
            <a:endParaRPr lang="en-US" sz="1400" dirty="0"/>
          </a:p>
        </p:txBody>
      </p:sp>
      <p:sp>
        <p:nvSpPr>
          <p:cNvPr id="24" name="dot-166"/>
          <p:cNvSpPr/>
          <p:nvPr/>
        </p:nvSpPr>
        <p:spPr>
          <a:xfrm>
            <a:off x="548640" y="5184648"/>
            <a:ext cx="100584" cy="100584"/>
          </a:xfrm>
          <a:prstGeom prst="ellipse">
            <a:avLst/>
          </a:prstGeom>
          <a:solidFill>
            <a:schemeClr val="accent6"/>
          </a:solidFill>
          <a:ln/>
        </p:spPr>
        <p:txBody>
          <a:bodyPr/>
          <a:lstStyle/>
          <a:p>
            <a:endParaRPr lang="ko-IN"/>
          </a:p>
        </p:txBody>
      </p:sp>
      <p:sp>
        <p:nvSpPr>
          <p:cNvPr id="25" name="txt-167"/>
          <p:cNvSpPr txBox="1"/>
          <p:nvPr/>
        </p:nvSpPr>
        <p:spPr>
          <a:xfrm>
            <a:off x="768096" y="5120640"/>
            <a:ext cx="3200400" cy="274320"/>
          </a:xfrm>
          <a:prstGeom prst="rect">
            <a:avLst/>
          </a:prstGeom>
          <a:noFill/>
          <a:ln/>
        </p:spPr>
        <p:txBody>
          <a:bodyPr wrap="square" lIns="0" tIns="0" rIns="0" bIns="0" rtlCol="0" anchor="t"/>
          <a:lstStyle/>
          <a:p>
            <a:pPr marL="0" indent="0">
              <a:buNone/>
            </a:pPr>
            <a:r>
              <a:rPr lang="en-US" sz="1400" dirty="0">
                <a:solidFill>
                  <a:schemeClr val="tx1"/>
                </a:solidFill>
              </a:rPr>
              <a:t>Extreme temperatures</a:t>
            </a:r>
            <a:endParaRPr lang="en-US" sz="1400" dirty="0"/>
          </a:p>
        </p:txBody>
      </p:sp>
      <p:sp>
        <p:nvSpPr>
          <p:cNvPr id="26" name="dot-168"/>
          <p:cNvSpPr/>
          <p:nvPr/>
        </p:nvSpPr>
        <p:spPr>
          <a:xfrm>
            <a:off x="4114800" y="5184648"/>
            <a:ext cx="100584" cy="100584"/>
          </a:xfrm>
          <a:prstGeom prst="ellipse">
            <a:avLst/>
          </a:prstGeom>
          <a:solidFill>
            <a:schemeClr val="accent6"/>
          </a:solidFill>
          <a:ln/>
        </p:spPr>
        <p:txBody>
          <a:bodyPr/>
          <a:lstStyle/>
          <a:p>
            <a:endParaRPr lang="ko-IN"/>
          </a:p>
        </p:txBody>
      </p:sp>
      <p:sp>
        <p:nvSpPr>
          <p:cNvPr id="27" name="txt-169"/>
          <p:cNvSpPr txBox="1"/>
          <p:nvPr/>
        </p:nvSpPr>
        <p:spPr>
          <a:xfrm>
            <a:off x="4334256" y="5120640"/>
            <a:ext cx="3200400" cy="274320"/>
          </a:xfrm>
          <a:prstGeom prst="rect">
            <a:avLst/>
          </a:prstGeom>
          <a:noFill/>
          <a:ln/>
        </p:spPr>
        <p:txBody>
          <a:bodyPr wrap="square" lIns="0" tIns="0" rIns="0" bIns="0" rtlCol="0" anchor="t"/>
          <a:lstStyle/>
          <a:p>
            <a:pPr marL="0" indent="0">
              <a:buNone/>
            </a:pPr>
            <a:r>
              <a:rPr lang="en-US" sz="1400" dirty="0">
                <a:solidFill>
                  <a:schemeClr val="tx1"/>
                </a:solidFill>
              </a:rPr>
              <a:t>Pest / disease uncertainty</a:t>
            </a:r>
            <a:endParaRPr lang="en-US" sz="1400" dirty="0"/>
          </a:p>
        </p:txBody>
      </p:sp>
      <p:sp>
        <p:nvSpPr>
          <p:cNvPr id="28" name="dot-170"/>
          <p:cNvSpPr/>
          <p:nvPr/>
        </p:nvSpPr>
        <p:spPr>
          <a:xfrm>
            <a:off x="548640" y="5596128"/>
            <a:ext cx="100584" cy="100584"/>
          </a:xfrm>
          <a:prstGeom prst="ellipse">
            <a:avLst/>
          </a:prstGeom>
          <a:solidFill>
            <a:schemeClr val="accent6"/>
          </a:solidFill>
          <a:ln/>
        </p:spPr>
        <p:txBody>
          <a:bodyPr/>
          <a:lstStyle/>
          <a:p>
            <a:endParaRPr lang="ko-IN"/>
          </a:p>
        </p:txBody>
      </p:sp>
      <p:sp>
        <p:nvSpPr>
          <p:cNvPr id="29" name="txt-171"/>
          <p:cNvSpPr txBox="1"/>
          <p:nvPr/>
        </p:nvSpPr>
        <p:spPr>
          <a:xfrm>
            <a:off x="768096" y="5532120"/>
            <a:ext cx="3200400" cy="274320"/>
          </a:xfrm>
          <a:prstGeom prst="rect">
            <a:avLst/>
          </a:prstGeom>
          <a:noFill/>
          <a:ln/>
        </p:spPr>
        <p:txBody>
          <a:bodyPr wrap="square" lIns="0" tIns="0" rIns="0" bIns="0" rtlCol="0" anchor="t"/>
          <a:lstStyle/>
          <a:p>
            <a:pPr marL="0" indent="0">
              <a:buNone/>
            </a:pPr>
            <a:r>
              <a:rPr lang="en-US" sz="1400" dirty="0">
                <a:solidFill>
                  <a:schemeClr val="tx1"/>
                </a:solidFill>
              </a:rPr>
              <a:t>Rising input costs</a:t>
            </a:r>
            <a:endParaRPr lang="en-US" sz="1400" dirty="0"/>
          </a:p>
        </p:txBody>
      </p:sp>
      <p:sp>
        <p:nvSpPr>
          <p:cNvPr id="30" name="dot-172"/>
          <p:cNvSpPr/>
          <p:nvPr/>
        </p:nvSpPr>
        <p:spPr>
          <a:xfrm>
            <a:off x="4114800" y="5596128"/>
            <a:ext cx="100584" cy="100584"/>
          </a:xfrm>
          <a:prstGeom prst="ellipse">
            <a:avLst/>
          </a:prstGeom>
          <a:solidFill>
            <a:schemeClr val="accent6"/>
          </a:solidFill>
          <a:ln/>
        </p:spPr>
        <p:txBody>
          <a:bodyPr/>
          <a:lstStyle/>
          <a:p>
            <a:endParaRPr lang="ko-IN"/>
          </a:p>
        </p:txBody>
      </p:sp>
      <p:sp>
        <p:nvSpPr>
          <p:cNvPr id="31" name="txt-173"/>
          <p:cNvSpPr txBox="1"/>
          <p:nvPr/>
        </p:nvSpPr>
        <p:spPr>
          <a:xfrm>
            <a:off x="4334256" y="5532120"/>
            <a:ext cx="3200400" cy="274320"/>
          </a:xfrm>
          <a:prstGeom prst="rect">
            <a:avLst/>
          </a:prstGeom>
          <a:noFill/>
          <a:ln/>
        </p:spPr>
        <p:txBody>
          <a:bodyPr wrap="square" lIns="0" tIns="0" rIns="0" bIns="0" rtlCol="0" anchor="t"/>
          <a:lstStyle/>
          <a:p>
            <a:pPr marL="0" indent="0">
              <a:buNone/>
            </a:pPr>
            <a:r>
              <a:rPr lang="en-US" sz="1400" dirty="0">
                <a:solidFill>
                  <a:schemeClr val="tx1"/>
                </a:solidFill>
              </a:rPr>
              <a:t>Market volatility</a:t>
            </a:r>
            <a:endParaRPr lang="en-US" sz="1400" dirty="0"/>
          </a:p>
        </p:txBody>
      </p:sp>
      <p:sp>
        <p:nvSpPr>
          <p:cNvPr id="32" name="shape-174"/>
          <p:cNvSpPr/>
          <p:nvPr/>
        </p:nvSpPr>
        <p:spPr>
          <a:xfrm>
            <a:off x="7955280" y="1554480"/>
            <a:ext cx="3685032" cy="4343400"/>
          </a:xfrm>
          <a:prstGeom prst="rect">
            <a:avLst/>
          </a:prstGeom>
          <a:solidFill>
            <a:schemeClr val="accent5"/>
          </a:solidFill>
          <a:ln/>
        </p:spPr>
        <p:txBody>
          <a:bodyPr/>
          <a:lstStyle/>
          <a:p>
            <a:endParaRPr lang="ko-IN"/>
          </a:p>
        </p:txBody>
      </p:sp>
      <p:sp>
        <p:nvSpPr>
          <p:cNvPr id="33" name="txt-175"/>
          <p:cNvSpPr txBox="1"/>
          <p:nvPr/>
        </p:nvSpPr>
        <p:spPr>
          <a:xfrm>
            <a:off x="8183880" y="1828800"/>
            <a:ext cx="3291840" cy="1005840"/>
          </a:xfrm>
          <a:prstGeom prst="rect">
            <a:avLst/>
          </a:prstGeom>
          <a:noFill/>
          <a:ln/>
        </p:spPr>
        <p:txBody>
          <a:bodyPr wrap="square" lIns="0" tIns="0" rIns="0" bIns="0" rtlCol="0" anchor="t"/>
          <a:lstStyle/>
          <a:p>
            <a:pPr marL="0" indent="0">
              <a:buNone/>
            </a:pPr>
            <a:r>
              <a:rPr lang="en-US" sz="5400" b="1" dirty="0">
                <a:solidFill>
                  <a:schemeClr val="tx2"/>
                </a:solidFill>
                <a:latin typeface="+mj-lt" pitchFamily="34" charset="0"/>
                <a:ea typeface="+mj-lt" pitchFamily="34" charset="-122"/>
                <a:cs typeface="+mj-lt" pitchFamily="34" charset="-120"/>
              </a:rPr>
              <a:t>15–18%</a:t>
            </a:r>
            <a:endParaRPr lang="en-US" sz="5400" dirty="0"/>
          </a:p>
        </p:txBody>
      </p:sp>
      <p:sp>
        <p:nvSpPr>
          <p:cNvPr id="34" name="txt-176"/>
          <p:cNvSpPr txBox="1"/>
          <p:nvPr/>
        </p:nvSpPr>
        <p:spPr>
          <a:xfrm>
            <a:off x="8183880" y="2926080"/>
            <a:ext cx="3246120" cy="1371600"/>
          </a:xfrm>
          <a:prstGeom prst="rect">
            <a:avLst/>
          </a:prstGeom>
          <a:noFill/>
          <a:ln/>
        </p:spPr>
        <p:txBody>
          <a:bodyPr wrap="square" lIns="0" tIns="0" rIns="0" bIns="0" rtlCol="0" anchor="t"/>
          <a:lstStyle/>
          <a:p>
            <a:pPr marL="0" indent="0">
              <a:buNone/>
            </a:pPr>
            <a:r>
              <a:rPr lang="en-US" sz="1600" dirty="0">
                <a:solidFill>
                  <a:schemeClr val="tx1"/>
                </a:solidFill>
              </a:rPr>
              <a:t>possible fall in average annual farm income due to climate change; 20 to 25% in unirrigated areas</a:t>
            </a:r>
            <a:endParaRPr lang="en-US" sz="1600" dirty="0"/>
          </a:p>
        </p:txBody>
      </p:sp>
      <p:sp>
        <p:nvSpPr>
          <p:cNvPr id="35" name="txt-177"/>
          <p:cNvSpPr txBox="1"/>
          <p:nvPr/>
        </p:nvSpPr>
        <p:spPr>
          <a:xfrm>
            <a:off x="8183880" y="4069080"/>
            <a:ext cx="3246120" cy="731520"/>
          </a:xfrm>
          <a:prstGeom prst="rect">
            <a:avLst/>
          </a:prstGeom>
          <a:noFill/>
          <a:ln/>
        </p:spPr>
        <p:txBody>
          <a:bodyPr wrap="square" lIns="0" tIns="0" rIns="0" bIns="0" rtlCol="0" anchor="t"/>
          <a:lstStyle/>
          <a:p>
            <a:pPr marL="0" indent="0">
              <a:buNone/>
            </a:pPr>
            <a:r>
              <a:rPr lang="en-US" sz="1300" i="1" dirty="0">
                <a:solidFill>
                  <a:schemeClr val="accent4"/>
                </a:solidFill>
              </a:rPr>
              <a:t>A modelled projection from the Economic Survey, not an observed loss.</a:t>
            </a:r>
            <a:endParaRPr lang="en-US" sz="1300" dirty="0"/>
          </a:p>
        </p:txBody>
      </p:sp>
      <p:sp>
        <p:nvSpPr>
          <p:cNvPr id="36" name="txt-178"/>
          <p:cNvSpPr txBox="1"/>
          <p:nvPr/>
        </p:nvSpPr>
        <p:spPr>
          <a:xfrm>
            <a:off x="548640" y="6053328"/>
            <a:ext cx="11091672" cy="329184"/>
          </a:xfrm>
          <a:prstGeom prst="rect">
            <a:avLst/>
          </a:prstGeom>
          <a:noFill/>
          <a:ln/>
        </p:spPr>
        <p:txBody>
          <a:bodyPr wrap="square" lIns="0" tIns="0" rIns="0" bIns="0" rtlCol="0" anchor="t"/>
          <a:lstStyle/>
          <a:p>
            <a:pPr marL="0" indent="0">
              <a:buNone/>
            </a:pPr>
            <a:r>
              <a:rPr lang="en-US" sz="1000" dirty="0">
                <a:solidFill>
                  <a:schemeClr val="accent4"/>
                </a:solidFill>
              </a:rPr>
              <a:t>Source: Economic Survey 2017–18, Ch. 6 “Climate, Climate Change, and Agriculture”, Ministry of Finance, Govt. of India (medium-term projection).</a:t>
            </a:r>
            <a:endParaRPr lang="en-US" sz="1000" dirty="0"/>
          </a:p>
        </p:txBody>
      </p:sp>
      <p:sp>
        <p:nvSpPr>
          <p:cNvPr id="6" name="Slide Number Placeholder 0"/>
          <p:cNvSpPr>
            <a:spLocks noGrp="1"/>
          </p:cNvSpPr>
          <p:nvPr>
            <p:ph type="sldNum" sz="quarter" idx="4294967295"/>
          </p:nvPr>
        </p:nvSpPr>
        <p:spPr>
          <a:xfrm>
            <a:off x="11064240" y="6446520"/>
            <a:ext cx="576072"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dot-179"/>
          <p:cNvSpPr/>
          <p:nvPr/>
        </p:nvSpPr>
        <p:spPr>
          <a:xfrm>
            <a:off x="548640" y="429768"/>
            <a:ext cx="118872" cy="118872"/>
          </a:xfrm>
          <a:prstGeom prst="ellipse">
            <a:avLst/>
          </a:prstGeom>
          <a:solidFill>
            <a:schemeClr val="accent3"/>
          </a:solidFill>
          <a:ln/>
        </p:spPr>
        <p:txBody>
          <a:bodyPr/>
          <a:lstStyle/>
          <a:p>
            <a:endParaRPr lang="ko-IN"/>
          </a:p>
        </p:txBody>
      </p:sp>
      <p:sp>
        <p:nvSpPr>
          <p:cNvPr id="3" name="txt-180"/>
          <p:cNvSpPr txBox="1"/>
          <p:nvPr/>
        </p:nvSpPr>
        <p:spPr>
          <a:xfrm>
            <a:off x="768096" y="384048"/>
            <a:ext cx="6400800" cy="256032"/>
          </a:xfrm>
          <a:prstGeom prst="rect">
            <a:avLst/>
          </a:prstGeom>
          <a:noFill/>
          <a:ln/>
        </p:spPr>
        <p:txBody>
          <a:bodyPr wrap="square" lIns="0" tIns="0" rIns="0" bIns="0" rtlCol="0" anchor="t"/>
          <a:lstStyle/>
          <a:p>
            <a:pPr marL="0" indent="0">
              <a:buNone/>
            </a:pPr>
            <a:r>
              <a:rPr lang="en-US" sz="1200" b="1" kern="0" spc="200" dirty="0">
                <a:solidFill>
                  <a:schemeClr val="accent4"/>
                </a:solidFill>
              </a:rPr>
              <a:t>03  ·  EXISTING SYSTEMS</a:t>
            </a:r>
            <a:endParaRPr lang="en-US" sz="1200" dirty="0"/>
          </a:p>
        </p:txBody>
      </p:sp>
      <p:sp>
        <p:nvSpPr>
          <p:cNvPr id="4" name="box-181"/>
          <p:cNvSpPr txBox="1"/>
          <p:nvPr/>
        </p:nvSpPr>
        <p:spPr>
          <a:xfrm>
            <a:off x="9537192" y="365760"/>
            <a:ext cx="2103120" cy="274320"/>
          </a:xfrm>
          <a:prstGeom prst="rect">
            <a:avLst/>
          </a:prstGeom>
          <a:ln w="12700">
            <a:solidFill>
              <a:schemeClr val="accent4"/>
            </a:solidFill>
          </a:ln>
        </p:spPr>
        <p:txBody>
          <a:bodyPr wrap="square" lIns="0" tIns="0" rIns="0" bIns="0" rtlCol="0" anchor="ctr"/>
          <a:lstStyle/>
          <a:p>
            <a:pPr marL="0" indent="0" algn="ctr">
              <a:buNone/>
            </a:pPr>
            <a:r>
              <a:rPr lang="en-US" sz="1000" b="1" dirty="0">
                <a:solidFill>
                  <a:schemeClr val="accent4"/>
                </a:solidFill>
              </a:rPr>
              <a:t>WHAT ALREADY EXISTS</a:t>
            </a:r>
            <a:endParaRPr lang="en-US" sz="1000" dirty="0"/>
          </a:p>
        </p:txBody>
      </p:sp>
      <p:sp>
        <p:nvSpPr>
          <p:cNvPr id="5" name="Text 1"/>
          <p:cNvSpPr>
            <a:spLocks noGrp="1"/>
          </p:cNvSpPr>
          <p:nvPr>
            <p:ph type="title" idx="101" hasCustomPrompt="1"/>
          </p:nvPr>
        </p:nvSpPr>
        <p:spPr>
          <a:xfrm>
            <a:off x="548640" y="658368"/>
            <a:ext cx="11091672" cy="731520"/>
          </a:xfrm>
          <a:prstGeom prst="rect">
            <a:avLst/>
          </a:prstGeom>
          <a:noFill/>
          <a:ln/>
        </p:spPr>
        <p:txBody>
          <a:bodyPr wrap="square" lIns="0" tIns="0" rIns="0" bIns="0" rtlCol="0" anchor="t"/>
          <a:lstStyle/>
          <a:p>
            <a:pPr marL="0" indent="0" algn="l">
              <a:buNone/>
            </a:pPr>
            <a:r>
              <a:rPr lang="en-US" sz="3600" b="1" dirty="0">
                <a:solidFill>
                  <a:schemeClr val="tx2"/>
                </a:solidFill>
              </a:rPr>
              <a:t>Information exists — but it is fragmented</a:t>
            </a:r>
            <a:endParaRPr lang="en-US" sz="3600" dirty="0"/>
          </a:p>
        </p:txBody>
      </p:sp>
      <p:graphicFrame>
        <p:nvGraphicFramePr>
          <p:cNvPr id="6" name="systems-table"/>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3364992"/>
        </p:xfrm>
        <a:graphic>
          <a:graphicData uri="http://schemas.openxmlformats.org/drawingml/2006/table">
            <a:tbl>
              <a:tblPr/>
              <a:tblGrid>
                <a:gridCol w="2651760">
                  <a:extLst>
                    <a:ext uri="{9D8B030D-6E8A-4147-A177-3AD203B41FA5}">
                      <a16:colId xmlns:a16="http://schemas.microsoft.com/office/drawing/2014/main" val="20000"/>
                    </a:ext>
                  </a:extLst>
                </a:gridCol>
                <a:gridCol w="5760720">
                  <a:extLst>
                    <a:ext uri="{9D8B030D-6E8A-4147-A177-3AD203B41FA5}">
                      <a16:colId xmlns:a16="http://schemas.microsoft.com/office/drawing/2014/main" val="20001"/>
                    </a:ext>
                  </a:extLst>
                </a:gridCol>
                <a:gridCol w="2679192">
                  <a:extLst>
                    <a:ext uri="{9D8B030D-6E8A-4147-A177-3AD203B41FA5}">
                      <a16:colId xmlns:a16="http://schemas.microsoft.com/office/drawing/2014/main" val="20002"/>
                    </a:ext>
                  </a:extLst>
                </a:gridCol>
              </a:tblGrid>
              <a:tr h="420624">
                <a:tc>
                  <a:txBody>
                    <a:bodyPr/>
                    <a:lstStyle/>
                    <a:p>
                      <a:pPr marL="0" indent="0">
                        <a:buNone/>
                      </a:pPr>
                      <a:r>
                        <a:rPr lang="en-US" sz="1400" b="1" dirty="0">
                          <a:solidFill>
                            <a:srgbClr val="F4F1E8"/>
                          </a:solidFill>
                        </a:rPr>
                        <a:t>System</a:t>
                      </a:r>
                      <a:endParaRPr lang="en-US" sz="1400" dirty="0"/>
                    </a:p>
                  </a:txBody>
                  <a:tcPr marL="73152" marR="73152" marT="73152" marB="73152" anchor="ctr">
                    <a:lnL w="9525" cap="flat" cmpd="sng" algn="ctr">
                      <a:solidFill>
                        <a:srgbClr val="C9D3C0"/>
                      </a:solidFill>
                      <a:prstDash val="solid"/>
                      <a:round/>
                      <a:headEnd type="none" w="med" len="med"/>
                      <a:tailEnd type="none" w="med" len="med"/>
                    </a:lnL>
                    <a:lnR w="9525" cap="flat" cmpd="sng" algn="ctr">
                      <a:solidFill>
                        <a:srgbClr val="C9D3C0"/>
                      </a:solidFill>
                      <a:prstDash val="solid"/>
                      <a:round/>
                      <a:headEnd type="none" w="med" len="med"/>
                      <a:tailEnd type="none" w="med" len="med"/>
                    </a:lnR>
                    <a:lnT w="9525" cap="flat" cmpd="sng" algn="ctr">
                      <a:solidFill>
                        <a:srgbClr val="C9D3C0"/>
                      </a:solidFill>
                      <a:prstDash val="solid"/>
                      <a:round/>
                      <a:headEnd type="none" w="med" len="med"/>
                      <a:tailEnd type="none" w="med" len="med"/>
                    </a:lnT>
                    <a:lnB w="9525" cap="flat" cmpd="sng" algn="ctr">
                      <a:solidFill>
                        <a:srgbClr val="C9D3C0"/>
                      </a:solidFill>
                      <a:prstDash val="solid"/>
                      <a:round/>
                      <a:headEnd type="none" w="med" len="med"/>
                      <a:tailEnd type="none" w="med" len="med"/>
                    </a:lnB>
                    <a:solidFill>
                      <a:srgbClr val="1F3D2B"/>
                    </a:solidFill>
                  </a:tcPr>
                </a:tc>
                <a:tc>
                  <a:txBody>
                    <a:bodyPr/>
                    <a:lstStyle/>
                    <a:p>
                      <a:pPr marL="0" indent="0">
                        <a:buNone/>
                      </a:pPr>
                      <a:r>
                        <a:rPr lang="en-US" sz="1400" b="1" dirty="0">
                          <a:solidFill>
                            <a:srgbClr val="F4F1E8"/>
                          </a:solidFill>
                        </a:rPr>
                        <a:t>What it provides</a:t>
                      </a:r>
                      <a:endParaRPr lang="en-US" sz="1400" dirty="0"/>
                    </a:p>
                  </a:txBody>
                  <a:tcPr marL="73152" marR="73152" marT="73152" marB="73152" anchor="ctr">
                    <a:lnL w="9525" cap="flat" cmpd="sng" algn="ctr">
                      <a:solidFill>
                        <a:srgbClr val="C9D3C0"/>
                      </a:solidFill>
                      <a:prstDash val="solid"/>
                      <a:round/>
                      <a:headEnd type="none" w="med" len="med"/>
                      <a:tailEnd type="none" w="med" len="med"/>
                    </a:lnL>
                    <a:lnR w="9525" cap="flat" cmpd="sng" algn="ctr">
                      <a:solidFill>
                        <a:srgbClr val="C9D3C0"/>
                      </a:solidFill>
                      <a:prstDash val="solid"/>
                      <a:round/>
                      <a:headEnd type="none" w="med" len="med"/>
                      <a:tailEnd type="none" w="med" len="med"/>
                    </a:lnR>
                    <a:lnT w="9525" cap="flat" cmpd="sng" algn="ctr">
                      <a:solidFill>
                        <a:srgbClr val="C9D3C0"/>
                      </a:solidFill>
                      <a:prstDash val="solid"/>
                      <a:round/>
                      <a:headEnd type="none" w="med" len="med"/>
                      <a:tailEnd type="none" w="med" len="med"/>
                    </a:lnT>
                    <a:lnB w="9525" cap="flat" cmpd="sng" algn="ctr">
                      <a:solidFill>
                        <a:srgbClr val="C9D3C0"/>
                      </a:solidFill>
                      <a:prstDash val="solid"/>
                      <a:round/>
                      <a:headEnd type="none" w="med" len="med"/>
                      <a:tailEnd type="none" w="med" len="med"/>
                    </a:lnB>
                    <a:solidFill>
                      <a:srgbClr val="1F3D2B"/>
                    </a:solidFill>
                  </a:tcPr>
                </a:tc>
                <a:tc>
                  <a:txBody>
                    <a:bodyPr/>
                    <a:lstStyle/>
                    <a:p>
                      <a:pPr marL="0" indent="0">
                        <a:buNone/>
                      </a:pPr>
                      <a:r>
                        <a:rPr lang="en-US" sz="1400" b="1" dirty="0">
                          <a:solidFill>
                            <a:srgbClr val="F4F1E8"/>
                          </a:solidFill>
                        </a:rPr>
                        <a:t>Operated by</a:t>
                      </a:r>
                      <a:endParaRPr lang="en-US" sz="1400" dirty="0"/>
                    </a:p>
                  </a:txBody>
                  <a:tcPr marL="73152" marR="73152" marT="73152" marB="73152" anchor="ctr">
                    <a:lnL w="9525" cap="flat" cmpd="sng" algn="ctr">
                      <a:solidFill>
                        <a:srgbClr val="C9D3C0"/>
                      </a:solidFill>
                      <a:prstDash val="solid"/>
                      <a:round/>
                      <a:headEnd type="none" w="med" len="med"/>
                      <a:tailEnd type="none" w="med" len="med"/>
                    </a:lnL>
                    <a:lnR w="9525" cap="flat" cmpd="sng" algn="ctr">
                      <a:solidFill>
                        <a:srgbClr val="C9D3C0"/>
                      </a:solidFill>
                      <a:prstDash val="solid"/>
                      <a:round/>
                      <a:headEnd type="none" w="med" len="med"/>
                      <a:tailEnd type="none" w="med" len="med"/>
                    </a:lnR>
                    <a:lnT w="9525" cap="flat" cmpd="sng" algn="ctr">
                      <a:solidFill>
                        <a:srgbClr val="C9D3C0"/>
                      </a:solidFill>
                      <a:prstDash val="solid"/>
                      <a:round/>
                      <a:headEnd type="none" w="med" len="med"/>
                      <a:tailEnd type="none" w="med" len="med"/>
                    </a:lnT>
                    <a:lnB w="9525" cap="flat" cmpd="sng" algn="ctr">
                      <a:solidFill>
                        <a:srgbClr val="C9D3C0"/>
                      </a:solidFill>
                      <a:prstDash val="solid"/>
                      <a:round/>
                      <a:headEnd type="none" w="med" len="med"/>
                      <a:tailEnd type="none" w="med" len="med"/>
                    </a:lnB>
                    <a:solidFill>
                      <a:srgbClr val="1F3D2B"/>
                    </a:solidFill>
                  </a:tcPr>
                </a:tc>
                <a:extLst>
                  <a:ext uri="{0D108BD9-81ED-4DB2-BD59-A6C34878D82A}">
                    <a16:rowId xmlns:a16="http://schemas.microsoft.com/office/drawing/2014/main" val="10000"/>
                  </a:ext>
                </a:extLst>
              </a:tr>
              <a:tr h="420624">
                <a:tc>
                  <a:txBody>
                    <a:bodyPr/>
                    <a:lstStyle/>
                    <a:p>
                      <a:pPr marL="0" indent="0">
                        <a:buNone/>
                      </a:pPr>
                      <a:r>
                        <a:rPr lang="en-US" sz="1400" b="1" dirty="0">
                          <a:solidFill>
                            <a:srgbClr val="1F3D2B"/>
                          </a:solidFill>
                        </a:rPr>
                        <a:t>Soil Health Card</a:t>
                      </a:r>
                      <a:endParaRPr lang="en-US" sz="1400" dirty="0"/>
                    </a:p>
                  </a:txBody>
                  <a:tcPr marL="73152" marR="73152" marT="73152" marB="73152" anchor="ctr">
                    <a:lnL w="9525" cap="flat" cmpd="sng" algn="ctr">
                      <a:solidFill>
                        <a:srgbClr val="C9D3C0"/>
                      </a:solidFill>
                      <a:prstDash val="solid"/>
                      <a:round/>
                      <a:headEnd type="none" w="med" len="med"/>
                      <a:tailEnd type="none" w="med" len="med"/>
                    </a:lnL>
                    <a:lnR w="9525" cap="flat" cmpd="sng" algn="ctr">
                      <a:solidFill>
                        <a:srgbClr val="C9D3C0"/>
                      </a:solidFill>
                      <a:prstDash val="solid"/>
                      <a:round/>
                      <a:headEnd type="none" w="med" len="med"/>
                      <a:tailEnd type="none" w="med" len="med"/>
                    </a:lnR>
                    <a:lnT w="9525" cap="flat" cmpd="sng" algn="ctr">
                      <a:solidFill>
                        <a:srgbClr val="C9D3C0"/>
                      </a:solidFill>
                      <a:prstDash val="solid"/>
                      <a:round/>
                      <a:headEnd type="none" w="med" len="med"/>
                      <a:tailEnd type="none" w="med" len="med"/>
                    </a:lnT>
                    <a:lnB w="9525" cap="flat" cmpd="sng" algn="ctr">
                      <a:solidFill>
                        <a:srgbClr val="C9D3C0"/>
                      </a:solidFill>
                      <a:prstDash val="solid"/>
                      <a:round/>
                      <a:headEnd type="none" w="med" len="med"/>
                      <a:tailEnd type="none" w="med" len="med"/>
                    </a:lnB>
                    <a:solidFill>
                      <a:srgbClr val="FFFFFF"/>
                    </a:solidFill>
                  </a:tcPr>
                </a:tc>
                <a:tc>
                  <a:txBody>
                    <a:bodyPr/>
                    <a:lstStyle/>
                    <a:p>
                      <a:pPr marL="0" indent="0">
                        <a:buNone/>
                      </a:pPr>
                      <a:r>
                        <a:rPr lang="en-US" sz="1400" dirty="0">
                          <a:solidFill>
                            <a:srgbClr val="26302B"/>
                          </a:solidFill>
                        </a:rPr>
                        <a:t>Farm-level soil nutrient status and fertiliser guidance</a:t>
                      </a:r>
                      <a:endParaRPr lang="en-US" sz="1400" dirty="0"/>
                    </a:p>
                  </a:txBody>
                  <a:tcPr marL="73152" marR="73152" marT="73152" marB="73152" anchor="ctr">
                    <a:lnL w="9525" cap="flat" cmpd="sng" algn="ctr">
                      <a:solidFill>
                        <a:srgbClr val="C9D3C0"/>
                      </a:solidFill>
                      <a:prstDash val="solid"/>
                      <a:round/>
                      <a:headEnd type="none" w="med" len="med"/>
                      <a:tailEnd type="none" w="med" len="med"/>
                    </a:lnL>
                    <a:lnR w="9525" cap="flat" cmpd="sng" algn="ctr">
                      <a:solidFill>
                        <a:srgbClr val="C9D3C0"/>
                      </a:solidFill>
                      <a:prstDash val="solid"/>
                      <a:round/>
                      <a:headEnd type="none" w="med" len="med"/>
                      <a:tailEnd type="none" w="med" len="med"/>
                    </a:lnR>
                    <a:lnT w="9525" cap="flat" cmpd="sng" algn="ctr">
                      <a:solidFill>
                        <a:srgbClr val="C9D3C0"/>
                      </a:solidFill>
                      <a:prstDash val="solid"/>
                      <a:round/>
                      <a:headEnd type="none" w="med" len="med"/>
                      <a:tailEnd type="none" w="med" len="med"/>
                    </a:lnT>
                    <a:lnB w="9525" cap="flat" cmpd="sng" algn="ctr">
                      <a:solidFill>
                        <a:srgbClr val="C9D3C0"/>
                      </a:solidFill>
                      <a:prstDash val="solid"/>
                      <a:round/>
                      <a:headEnd type="none" w="med" len="med"/>
                      <a:tailEnd type="none" w="med" len="med"/>
                    </a:lnB>
                    <a:solidFill>
                      <a:srgbClr val="FFFFFF"/>
                    </a:solidFill>
                  </a:tcPr>
                </a:tc>
                <a:tc>
                  <a:txBody>
                    <a:bodyPr/>
                    <a:lstStyle/>
                    <a:p>
                      <a:pPr marL="0" indent="0">
                        <a:buNone/>
                      </a:pPr>
                      <a:r>
                        <a:rPr lang="en-US" sz="1400" dirty="0">
                          <a:solidFill>
                            <a:srgbClr val="5C6B62"/>
                          </a:solidFill>
                        </a:rPr>
                        <a:t>Dept. of Agriculture &amp; FW</a:t>
                      </a:r>
                      <a:endParaRPr lang="en-US" sz="1400" dirty="0"/>
                    </a:p>
                  </a:txBody>
                  <a:tcPr marL="73152" marR="73152" marT="73152" marB="73152" anchor="ctr">
                    <a:lnL w="9525" cap="flat" cmpd="sng" algn="ctr">
                      <a:solidFill>
                        <a:srgbClr val="C9D3C0"/>
                      </a:solidFill>
                      <a:prstDash val="solid"/>
                      <a:round/>
                      <a:headEnd type="none" w="med" len="med"/>
                      <a:tailEnd type="none" w="med" len="med"/>
                    </a:lnL>
                    <a:lnR w="9525" cap="flat" cmpd="sng" algn="ctr">
                      <a:solidFill>
                        <a:srgbClr val="C9D3C0"/>
                      </a:solidFill>
                      <a:prstDash val="solid"/>
                      <a:round/>
                      <a:headEnd type="none" w="med" len="med"/>
                      <a:tailEnd type="none" w="med" len="med"/>
                    </a:lnR>
                    <a:lnT w="9525" cap="flat" cmpd="sng" algn="ctr">
                      <a:solidFill>
                        <a:srgbClr val="C9D3C0"/>
                      </a:solidFill>
                      <a:prstDash val="solid"/>
                      <a:round/>
                      <a:headEnd type="none" w="med" len="med"/>
                      <a:tailEnd type="none" w="med" len="med"/>
                    </a:lnT>
                    <a:lnB w="9525" cap="flat" cmpd="sng" algn="ctr">
                      <a:solidFill>
                        <a:srgbClr val="C9D3C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1400" b="1" dirty="0">
                          <a:solidFill>
                            <a:srgbClr val="1F3D2B"/>
                          </a:solidFill>
                        </a:rPr>
                        <a:t>Weather services</a:t>
                      </a:r>
                      <a:endParaRPr lang="en-US" sz="1400" dirty="0"/>
                    </a:p>
                  </a:txBody>
                  <a:tcPr marL="73152" marR="73152" marT="73152" marB="73152" anchor="ctr">
                    <a:lnL w="9525" cap="flat" cmpd="sng" algn="ctr">
                      <a:solidFill>
                        <a:srgbClr val="C9D3C0"/>
                      </a:solidFill>
                      <a:prstDash val="solid"/>
                      <a:round/>
                      <a:headEnd type="none" w="med" len="med"/>
                      <a:tailEnd type="none" w="med" len="med"/>
                    </a:lnL>
                    <a:lnR w="9525" cap="flat" cmpd="sng" algn="ctr">
                      <a:solidFill>
                        <a:srgbClr val="C9D3C0"/>
                      </a:solidFill>
                      <a:prstDash val="solid"/>
                      <a:round/>
                      <a:headEnd type="none" w="med" len="med"/>
                      <a:tailEnd type="none" w="med" len="med"/>
                    </a:lnR>
                    <a:lnT w="9525" cap="flat" cmpd="sng" algn="ctr">
                      <a:solidFill>
                        <a:srgbClr val="C9D3C0"/>
                      </a:solidFill>
                      <a:prstDash val="solid"/>
                      <a:round/>
                      <a:headEnd type="none" w="med" len="med"/>
                      <a:tailEnd type="none" w="med" len="med"/>
                    </a:lnT>
                    <a:lnB w="9525" cap="flat" cmpd="sng" algn="ctr">
                      <a:solidFill>
                        <a:srgbClr val="C9D3C0"/>
                      </a:solidFill>
                      <a:prstDash val="solid"/>
                      <a:round/>
                      <a:headEnd type="none" w="med" len="med"/>
                      <a:tailEnd type="none" w="med" len="med"/>
                    </a:lnB>
                    <a:solidFill>
                      <a:srgbClr val="FFFFFF"/>
                    </a:solidFill>
                  </a:tcPr>
                </a:tc>
                <a:tc>
                  <a:txBody>
                    <a:bodyPr/>
                    <a:lstStyle/>
                    <a:p>
                      <a:pPr marL="0" indent="0">
                        <a:buNone/>
                      </a:pPr>
                      <a:r>
                        <a:rPr lang="en-US" sz="1400" dirty="0">
                          <a:solidFill>
                            <a:srgbClr val="26302B"/>
                          </a:solidFill>
                        </a:rPr>
                        <a:t>Forecasts and district-level agromet advisories</a:t>
                      </a:r>
                      <a:endParaRPr lang="en-US" sz="1400" dirty="0"/>
                    </a:p>
                  </a:txBody>
                  <a:tcPr marL="73152" marR="73152" marT="73152" marB="73152" anchor="ctr">
                    <a:lnL w="9525" cap="flat" cmpd="sng" algn="ctr">
                      <a:solidFill>
                        <a:srgbClr val="C9D3C0"/>
                      </a:solidFill>
                      <a:prstDash val="solid"/>
                      <a:round/>
                      <a:headEnd type="none" w="med" len="med"/>
                      <a:tailEnd type="none" w="med" len="med"/>
                    </a:lnL>
                    <a:lnR w="9525" cap="flat" cmpd="sng" algn="ctr">
                      <a:solidFill>
                        <a:srgbClr val="C9D3C0"/>
                      </a:solidFill>
                      <a:prstDash val="solid"/>
                      <a:round/>
                      <a:headEnd type="none" w="med" len="med"/>
                      <a:tailEnd type="none" w="med" len="med"/>
                    </a:lnR>
                    <a:lnT w="9525" cap="flat" cmpd="sng" algn="ctr">
                      <a:solidFill>
                        <a:srgbClr val="C9D3C0"/>
                      </a:solidFill>
                      <a:prstDash val="solid"/>
                      <a:round/>
                      <a:headEnd type="none" w="med" len="med"/>
                      <a:tailEnd type="none" w="med" len="med"/>
                    </a:lnT>
                    <a:lnB w="9525" cap="flat" cmpd="sng" algn="ctr">
                      <a:solidFill>
                        <a:srgbClr val="C9D3C0"/>
                      </a:solidFill>
                      <a:prstDash val="solid"/>
                      <a:round/>
                      <a:headEnd type="none" w="med" len="med"/>
                      <a:tailEnd type="none" w="med" len="med"/>
                    </a:lnB>
                    <a:solidFill>
                      <a:srgbClr val="FFFFFF"/>
                    </a:solidFill>
                  </a:tcPr>
                </a:tc>
                <a:tc>
                  <a:txBody>
                    <a:bodyPr/>
                    <a:lstStyle/>
                    <a:p>
                      <a:pPr marL="0" indent="0">
                        <a:buNone/>
                      </a:pPr>
                      <a:r>
                        <a:rPr lang="en-US" sz="1400" dirty="0">
                          <a:solidFill>
                            <a:srgbClr val="5C6B62"/>
                          </a:solidFill>
                        </a:rPr>
                        <a:t>India Meteorological Dept.</a:t>
                      </a:r>
                      <a:endParaRPr lang="en-US" sz="1400" dirty="0"/>
                    </a:p>
                  </a:txBody>
                  <a:tcPr marL="73152" marR="73152" marT="73152" marB="73152" anchor="ctr">
                    <a:lnL w="9525" cap="flat" cmpd="sng" algn="ctr">
                      <a:solidFill>
                        <a:srgbClr val="C9D3C0"/>
                      </a:solidFill>
                      <a:prstDash val="solid"/>
                      <a:round/>
                      <a:headEnd type="none" w="med" len="med"/>
                      <a:tailEnd type="none" w="med" len="med"/>
                    </a:lnL>
                    <a:lnR w="9525" cap="flat" cmpd="sng" algn="ctr">
                      <a:solidFill>
                        <a:srgbClr val="C9D3C0"/>
                      </a:solidFill>
                      <a:prstDash val="solid"/>
                      <a:round/>
                      <a:headEnd type="none" w="med" len="med"/>
                      <a:tailEnd type="none" w="med" len="med"/>
                    </a:lnR>
                    <a:lnT w="9525" cap="flat" cmpd="sng" algn="ctr">
                      <a:solidFill>
                        <a:srgbClr val="C9D3C0"/>
                      </a:solidFill>
                      <a:prstDash val="solid"/>
                      <a:round/>
                      <a:headEnd type="none" w="med" len="med"/>
                      <a:tailEnd type="none" w="med" len="med"/>
                    </a:lnT>
                    <a:lnB w="9525" cap="flat" cmpd="sng" algn="ctr">
                      <a:solidFill>
                        <a:srgbClr val="C9D3C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buNone/>
                      </a:pPr>
                      <a:r>
                        <a:rPr lang="en-US" sz="1400" b="1" dirty="0">
                          <a:solidFill>
                            <a:srgbClr val="1F3D2B"/>
                          </a:solidFill>
                        </a:rPr>
                        <a:t>Extension / KVKs</a:t>
                      </a:r>
                      <a:endParaRPr lang="en-US" sz="1400" dirty="0"/>
                    </a:p>
                  </a:txBody>
                  <a:tcPr marL="73152" marR="73152" marT="73152" marB="73152" anchor="ctr">
                    <a:lnL w="9525" cap="flat" cmpd="sng" algn="ctr">
                      <a:solidFill>
                        <a:srgbClr val="C9D3C0"/>
                      </a:solidFill>
                      <a:prstDash val="solid"/>
                      <a:round/>
                      <a:headEnd type="none" w="med" len="med"/>
                      <a:tailEnd type="none" w="med" len="med"/>
                    </a:lnL>
                    <a:lnR w="9525" cap="flat" cmpd="sng" algn="ctr">
                      <a:solidFill>
                        <a:srgbClr val="C9D3C0"/>
                      </a:solidFill>
                      <a:prstDash val="solid"/>
                      <a:round/>
                      <a:headEnd type="none" w="med" len="med"/>
                      <a:tailEnd type="none" w="med" len="med"/>
                    </a:lnR>
                    <a:lnT w="9525" cap="flat" cmpd="sng" algn="ctr">
                      <a:solidFill>
                        <a:srgbClr val="C9D3C0"/>
                      </a:solidFill>
                      <a:prstDash val="solid"/>
                      <a:round/>
                      <a:headEnd type="none" w="med" len="med"/>
                      <a:tailEnd type="none" w="med" len="med"/>
                    </a:lnT>
                    <a:lnB w="9525" cap="flat" cmpd="sng" algn="ctr">
                      <a:solidFill>
                        <a:srgbClr val="C9D3C0"/>
                      </a:solidFill>
                      <a:prstDash val="solid"/>
                      <a:round/>
                      <a:headEnd type="none" w="med" len="med"/>
                      <a:tailEnd type="none" w="med" len="med"/>
                    </a:lnB>
                    <a:solidFill>
                      <a:srgbClr val="FFFFFF"/>
                    </a:solidFill>
                  </a:tcPr>
                </a:tc>
                <a:tc>
                  <a:txBody>
                    <a:bodyPr/>
                    <a:lstStyle/>
                    <a:p>
                      <a:pPr marL="0" indent="0">
                        <a:buNone/>
                      </a:pPr>
                      <a:r>
                        <a:rPr lang="en-US" sz="1400" dirty="0">
                          <a:solidFill>
                            <a:srgbClr val="26302B"/>
                          </a:solidFill>
                        </a:rPr>
                        <a:t>Local advisory, demonstrations and farmer training</a:t>
                      </a:r>
                      <a:endParaRPr lang="en-US" sz="1400" dirty="0"/>
                    </a:p>
                  </a:txBody>
                  <a:tcPr marL="73152" marR="73152" marT="73152" marB="73152" anchor="ctr">
                    <a:lnL w="9525" cap="flat" cmpd="sng" algn="ctr">
                      <a:solidFill>
                        <a:srgbClr val="C9D3C0"/>
                      </a:solidFill>
                      <a:prstDash val="solid"/>
                      <a:round/>
                      <a:headEnd type="none" w="med" len="med"/>
                      <a:tailEnd type="none" w="med" len="med"/>
                    </a:lnL>
                    <a:lnR w="9525" cap="flat" cmpd="sng" algn="ctr">
                      <a:solidFill>
                        <a:srgbClr val="C9D3C0"/>
                      </a:solidFill>
                      <a:prstDash val="solid"/>
                      <a:round/>
                      <a:headEnd type="none" w="med" len="med"/>
                      <a:tailEnd type="none" w="med" len="med"/>
                    </a:lnR>
                    <a:lnT w="9525" cap="flat" cmpd="sng" algn="ctr">
                      <a:solidFill>
                        <a:srgbClr val="C9D3C0"/>
                      </a:solidFill>
                      <a:prstDash val="solid"/>
                      <a:round/>
                      <a:headEnd type="none" w="med" len="med"/>
                      <a:tailEnd type="none" w="med" len="med"/>
                    </a:lnT>
                    <a:lnB w="9525" cap="flat" cmpd="sng" algn="ctr">
                      <a:solidFill>
                        <a:srgbClr val="C9D3C0"/>
                      </a:solidFill>
                      <a:prstDash val="solid"/>
                      <a:round/>
                      <a:headEnd type="none" w="med" len="med"/>
                      <a:tailEnd type="none" w="med" len="med"/>
                    </a:lnB>
                    <a:solidFill>
                      <a:srgbClr val="FFFFFF"/>
                    </a:solidFill>
                  </a:tcPr>
                </a:tc>
                <a:tc>
                  <a:txBody>
                    <a:bodyPr/>
                    <a:lstStyle/>
                    <a:p>
                      <a:pPr marL="0" indent="0">
                        <a:buNone/>
                      </a:pPr>
                      <a:r>
                        <a:rPr lang="en-US" sz="1400" dirty="0">
                          <a:solidFill>
                            <a:srgbClr val="5C6B62"/>
                          </a:solidFill>
                        </a:rPr>
                        <a:t>ICAR</a:t>
                      </a:r>
                      <a:endParaRPr lang="en-US" sz="1400" dirty="0"/>
                    </a:p>
                  </a:txBody>
                  <a:tcPr marL="73152" marR="73152" marT="73152" marB="73152" anchor="ctr">
                    <a:lnL w="9525" cap="flat" cmpd="sng" algn="ctr">
                      <a:solidFill>
                        <a:srgbClr val="C9D3C0"/>
                      </a:solidFill>
                      <a:prstDash val="solid"/>
                      <a:round/>
                      <a:headEnd type="none" w="med" len="med"/>
                      <a:tailEnd type="none" w="med" len="med"/>
                    </a:lnL>
                    <a:lnR w="9525" cap="flat" cmpd="sng" algn="ctr">
                      <a:solidFill>
                        <a:srgbClr val="C9D3C0"/>
                      </a:solidFill>
                      <a:prstDash val="solid"/>
                      <a:round/>
                      <a:headEnd type="none" w="med" len="med"/>
                      <a:tailEnd type="none" w="med" len="med"/>
                    </a:lnR>
                    <a:lnT w="9525" cap="flat" cmpd="sng" algn="ctr">
                      <a:solidFill>
                        <a:srgbClr val="C9D3C0"/>
                      </a:solidFill>
                      <a:prstDash val="solid"/>
                      <a:round/>
                      <a:headEnd type="none" w="med" len="med"/>
                      <a:tailEnd type="none" w="med" len="med"/>
                    </a:lnT>
                    <a:lnB w="9525" cap="flat" cmpd="sng" algn="ctr">
                      <a:solidFill>
                        <a:srgbClr val="C9D3C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buNone/>
                      </a:pPr>
                      <a:r>
                        <a:rPr lang="en-US" sz="1400" b="1" dirty="0">
                          <a:solidFill>
                            <a:srgbClr val="1F3D2B"/>
                          </a:solidFill>
                        </a:rPr>
                        <a:t>Market / mandi information</a:t>
                      </a:r>
                      <a:endParaRPr lang="en-US" sz="1400" dirty="0"/>
                    </a:p>
                  </a:txBody>
                  <a:tcPr marL="73152" marR="73152" marT="73152" marB="73152" anchor="ctr">
                    <a:lnL w="9525" cap="flat" cmpd="sng" algn="ctr">
                      <a:solidFill>
                        <a:srgbClr val="C9D3C0"/>
                      </a:solidFill>
                      <a:prstDash val="solid"/>
                      <a:round/>
                      <a:headEnd type="none" w="med" len="med"/>
                      <a:tailEnd type="none" w="med" len="med"/>
                    </a:lnL>
                    <a:lnR w="9525" cap="flat" cmpd="sng" algn="ctr">
                      <a:solidFill>
                        <a:srgbClr val="C9D3C0"/>
                      </a:solidFill>
                      <a:prstDash val="solid"/>
                      <a:round/>
                      <a:headEnd type="none" w="med" len="med"/>
                      <a:tailEnd type="none" w="med" len="med"/>
                    </a:lnR>
                    <a:lnT w="9525" cap="flat" cmpd="sng" algn="ctr">
                      <a:solidFill>
                        <a:srgbClr val="C9D3C0"/>
                      </a:solidFill>
                      <a:prstDash val="solid"/>
                      <a:round/>
                      <a:headEnd type="none" w="med" len="med"/>
                      <a:tailEnd type="none" w="med" len="med"/>
                    </a:lnT>
                    <a:lnB w="9525" cap="flat" cmpd="sng" algn="ctr">
                      <a:solidFill>
                        <a:srgbClr val="C9D3C0"/>
                      </a:solidFill>
                      <a:prstDash val="solid"/>
                      <a:round/>
                      <a:headEnd type="none" w="med" len="med"/>
                      <a:tailEnd type="none" w="med" len="med"/>
                    </a:lnB>
                    <a:solidFill>
                      <a:srgbClr val="FFFFFF"/>
                    </a:solidFill>
                  </a:tcPr>
                </a:tc>
                <a:tc>
                  <a:txBody>
                    <a:bodyPr/>
                    <a:lstStyle/>
                    <a:p>
                      <a:pPr marL="0" indent="0">
                        <a:buNone/>
                      </a:pPr>
                      <a:r>
                        <a:rPr lang="en-US" sz="1400" dirty="0">
                          <a:solidFill>
                            <a:srgbClr val="26302B"/>
                          </a:solidFill>
                        </a:rPr>
                        <a:t>Mandi arrivals and prices; e-NAM online trading</a:t>
                      </a:r>
                      <a:endParaRPr lang="en-US" sz="1400" dirty="0"/>
                    </a:p>
                  </a:txBody>
                  <a:tcPr marL="73152" marR="73152" marT="73152" marB="73152" anchor="ctr">
                    <a:lnL w="9525" cap="flat" cmpd="sng" algn="ctr">
                      <a:solidFill>
                        <a:srgbClr val="C9D3C0"/>
                      </a:solidFill>
                      <a:prstDash val="solid"/>
                      <a:round/>
                      <a:headEnd type="none" w="med" len="med"/>
                      <a:tailEnd type="none" w="med" len="med"/>
                    </a:lnL>
                    <a:lnR w="9525" cap="flat" cmpd="sng" algn="ctr">
                      <a:solidFill>
                        <a:srgbClr val="C9D3C0"/>
                      </a:solidFill>
                      <a:prstDash val="solid"/>
                      <a:round/>
                      <a:headEnd type="none" w="med" len="med"/>
                      <a:tailEnd type="none" w="med" len="med"/>
                    </a:lnR>
                    <a:lnT w="9525" cap="flat" cmpd="sng" algn="ctr">
                      <a:solidFill>
                        <a:srgbClr val="C9D3C0"/>
                      </a:solidFill>
                      <a:prstDash val="solid"/>
                      <a:round/>
                      <a:headEnd type="none" w="med" len="med"/>
                      <a:tailEnd type="none" w="med" len="med"/>
                    </a:lnT>
                    <a:lnB w="9525" cap="flat" cmpd="sng" algn="ctr">
                      <a:solidFill>
                        <a:srgbClr val="C9D3C0"/>
                      </a:solidFill>
                      <a:prstDash val="solid"/>
                      <a:round/>
                      <a:headEnd type="none" w="med" len="med"/>
                      <a:tailEnd type="none" w="med" len="med"/>
                    </a:lnB>
                    <a:solidFill>
                      <a:srgbClr val="FFFFFF"/>
                    </a:solidFill>
                  </a:tcPr>
                </a:tc>
                <a:tc>
                  <a:txBody>
                    <a:bodyPr/>
                    <a:lstStyle/>
                    <a:p>
                      <a:pPr marL="0" indent="0">
                        <a:buNone/>
                      </a:pPr>
                      <a:r>
                        <a:rPr lang="en-US" sz="1400" dirty="0">
                          <a:solidFill>
                            <a:srgbClr val="5C6B62"/>
                          </a:solidFill>
                        </a:rPr>
                        <a:t>Agmarknet, e-NAM (DA&amp;FW)</a:t>
                      </a:r>
                      <a:endParaRPr lang="en-US" sz="1400" dirty="0"/>
                    </a:p>
                  </a:txBody>
                  <a:tcPr marL="73152" marR="73152" marT="73152" marB="73152" anchor="ctr">
                    <a:lnL w="9525" cap="flat" cmpd="sng" algn="ctr">
                      <a:solidFill>
                        <a:srgbClr val="C9D3C0"/>
                      </a:solidFill>
                      <a:prstDash val="solid"/>
                      <a:round/>
                      <a:headEnd type="none" w="med" len="med"/>
                      <a:tailEnd type="none" w="med" len="med"/>
                    </a:lnL>
                    <a:lnR w="9525" cap="flat" cmpd="sng" algn="ctr">
                      <a:solidFill>
                        <a:srgbClr val="C9D3C0"/>
                      </a:solidFill>
                      <a:prstDash val="solid"/>
                      <a:round/>
                      <a:headEnd type="none" w="med" len="med"/>
                      <a:tailEnd type="none" w="med" len="med"/>
                    </a:lnR>
                    <a:lnT w="9525" cap="flat" cmpd="sng" algn="ctr">
                      <a:solidFill>
                        <a:srgbClr val="C9D3C0"/>
                      </a:solidFill>
                      <a:prstDash val="solid"/>
                      <a:round/>
                      <a:headEnd type="none" w="med" len="med"/>
                      <a:tailEnd type="none" w="med" len="med"/>
                    </a:lnT>
                    <a:lnB w="9525" cap="flat" cmpd="sng" algn="ctr">
                      <a:solidFill>
                        <a:srgbClr val="C9D3C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624">
                <a:tc>
                  <a:txBody>
                    <a:bodyPr/>
                    <a:lstStyle/>
                    <a:p>
                      <a:pPr marL="0" indent="0">
                        <a:buNone/>
                      </a:pPr>
                      <a:r>
                        <a:rPr lang="en-US" sz="1400" b="1" dirty="0">
                          <a:solidFill>
                            <a:srgbClr val="1F3D2B"/>
                          </a:solidFill>
                        </a:rPr>
                        <a:t>Satellite / remote sensing</a:t>
                      </a:r>
                      <a:endParaRPr lang="en-US" sz="1400" dirty="0"/>
                    </a:p>
                  </a:txBody>
                  <a:tcPr marL="73152" marR="73152" marT="73152" marB="73152" anchor="ctr">
                    <a:lnL w="9525" cap="flat" cmpd="sng" algn="ctr">
                      <a:solidFill>
                        <a:srgbClr val="C9D3C0"/>
                      </a:solidFill>
                      <a:prstDash val="solid"/>
                      <a:round/>
                      <a:headEnd type="none" w="med" len="med"/>
                      <a:tailEnd type="none" w="med" len="med"/>
                    </a:lnL>
                    <a:lnR w="9525" cap="flat" cmpd="sng" algn="ctr">
                      <a:solidFill>
                        <a:srgbClr val="C9D3C0"/>
                      </a:solidFill>
                      <a:prstDash val="solid"/>
                      <a:round/>
                      <a:headEnd type="none" w="med" len="med"/>
                      <a:tailEnd type="none" w="med" len="med"/>
                    </a:lnR>
                    <a:lnT w="9525" cap="flat" cmpd="sng" algn="ctr">
                      <a:solidFill>
                        <a:srgbClr val="C9D3C0"/>
                      </a:solidFill>
                      <a:prstDash val="solid"/>
                      <a:round/>
                      <a:headEnd type="none" w="med" len="med"/>
                      <a:tailEnd type="none" w="med" len="med"/>
                    </a:lnT>
                    <a:lnB w="9525" cap="flat" cmpd="sng" algn="ctr">
                      <a:solidFill>
                        <a:srgbClr val="C9D3C0"/>
                      </a:solidFill>
                      <a:prstDash val="solid"/>
                      <a:round/>
                      <a:headEnd type="none" w="med" len="med"/>
                      <a:tailEnd type="none" w="med" len="med"/>
                    </a:lnB>
                    <a:solidFill>
                      <a:srgbClr val="FFFFFF"/>
                    </a:solidFill>
                  </a:tcPr>
                </a:tc>
                <a:tc>
                  <a:txBody>
                    <a:bodyPr/>
                    <a:lstStyle/>
                    <a:p>
                      <a:pPr marL="0" indent="0">
                        <a:buNone/>
                      </a:pPr>
                      <a:r>
                        <a:rPr lang="en-US" sz="1400" dirty="0">
                          <a:solidFill>
                            <a:srgbClr val="26302B"/>
                          </a:solidFill>
                        </a:rPr>
                        <a:t>Crop area, condition and production forecasting</a:t>
                      </a:r>
                      <a:endParaRPr lang="en-US" sz="1400" dirty="0"/>
                    </a:p>
                  </a:txBody>
                  <a:tcPr marL="73152" marR="73152" marT="73152" marB="73152" anchor="ctr">
                    <a:lnL w="9525" cap="flat" cmpd="sng" algn="ctr">
                      <a:solidFill>
                        <a:srgbClr val="C9D3C0"/>
                      </a:solidFill>
                      <a:prstDash val="solid"/>
                      <a:round/>
                      <a:headEnd type="none" w="med" len="med"/>
                      <a:tailEnd type="none" w="med" len="med"/>
                    </a:lnL>
                    <a:lnR w="9525" cap="flat" cmpd="sng" algn="ctr">
                      <a:solidFill>
                        <a:srgbClr val="C9D3C0"/>
                      </a:solidFill>
                      <a:prstDash val="solid"/>
                      <a:round/>
                      <a:headEnd type="none" w="med" len="med"/>
                      <a:tailEnd type="none" w="med" len="med"/>
                    </a:lnR>
                    <a:lnT w="9525" cap="flat" cmpd="sng" algn="ctr">
                      <a:solidFill>
                        <a:srgbClr val="C9D3C0"/>
                      </a:solidFill>
                      <a:prstDash val="solid"/>
                      <a:round/>
                      <a:headEnd type="none" w="med" len="med"/>
                      <a:tailEnd type="none" w="med" len="med"/>
                    </a:lnT>
                    <a:lnB w="9525" cap="flat" cmpd="sng" algn="ctr">
                      <a:solidFill>
                        <a:srgbClr val="C9D3C0"/>
                      </a:solidFill>
                      <a:prstDash val="solid"/>
                      <a:round/>
                      <a:headEnd type="none" w="med" len="med"/>
                      <a:tailEnd type="none" w="med" len="med"/>
                    </a:lnB>
                    <a:solidFill>
                      <a:srgbClr val="FFFFFF"/>
                    </a:solidFill>
                  </a:tcPr>
                </a:tc>
                <a:tc>
                  <a:txBody>
                    <a:bodyPr/>
                    <a:lstStyle/>
                    <a:p>
                      <a:pPr marL="0" indent="0">
                        <a:buNone/>
                      </a:pPr>
                      <a:r>
                        <a:rPr lang="en-US" sz="1400" dirty="0">
                          <a:solidFill>
                            <a:srgbClr val="5C6B62"/>
                          </a:solidFill>
                        </a:rPr>
                        <a:t>MNCFC (FASAL), ISRO</a:t>
                      </a:r>
                      <a:endParaRPr lang="en-US" sz="1400" dirty="0"/>
                    </a:p>
                  </a:txBody>
                  <a:tcPr marL="73152" marR="73152" marT="73152" marB="73152" anchor="ctr">
                    <a:lnL w="9525" cap="flat" cmpd="sng" algn="ctr">
                      <a:solidFill>
                        <a:srgbClr val="C9D3C0"/>
                      </a:solidFill>
                      <a:prstDash val="solid"/>
                      <a:round/>
                      <a:headEnd type="none" w="med" len="med"/>
                      <a:tailEnd type="none" w="med" len="med"/>
                    </a:lnL>
                    <a:lnR w="9525" cap="flat" cmpd="sng" algn="ctr">
                      <a:solidFill>
                        <a:srgbClr val="C9D3C0"/>
                      </a:solidFill>
                      <a:prstDash val="solid"/>
                      <a:round/>
                      <a:headEnd type="none" w="med" len="med"/>
                      <a:tailEnd type="none" w="med" len="med"/>
                    </a:lnR>
                    <a:lnT w="9525" cap="flat" cmpd="sng" algn="ctr">
                      <a:solidFill>
                        <a:srgbClr val="C9D3C0"/>
                      </a:solidFill>
                      <a:prstDash val="solid"/>
                      <a:round/>
                      <a:headEnd type="none" w="med" len="med"/>
                      <a:tailEnd type="none" w="med" len="med"/>
                    </a:lnT>
                    <a:lnB w="9525" cap="flat" cmpd="sng" algn="ctr">
                      <a:solidFill>
                        <a:srgbClr val="C9D3C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0624">
                <a:tc>
                  <a:txBody>
                    <a:bodyPr/>
                    <a:lstStyle/>
                    <a:p>
                      <a:pPr marL="0" indent="0">
                        <a:buNone/>
                      </a:pPr>
                      <a:r>
                        <a:rPr lang="en-US" sz="1400" b="1" dirty="0">
                          <a:solidFill>
                            <a:srgbClr val="1F3D2B"/>
                          </a:solidFill>
                        </a:rPr>
                        <a:t>AI agricultural advisory</a:t>
                      </a:r>
                      <a:endParaRPr lang="en-US" sz="1400" dirty="0"/>
                    </a:p>
                  </a:txBody>
                  <a:tcPr marL="73152" marR="73152" marT="73152" marB="73152" anchor="ctr">
                    <a:lnL w="9525" cap="flat" cmpd="sng" algn="ctr">
                      <a:solidFill>
                        <a:srgbClr val="C9D3C0"/>
                      </a:solidFill>
                      <a:prstDash val="solid"/>
                      <a:round/>
                      <a:headEnd type="none" w="med" len="med"/>
                      <a:tailEnd type="none" w="med" len="med"/>
                    </a:lnL>
                    <a:lnR w="9525" cap="flat" cmpd="sng" algn="ctr">
                      <a:solidFill>
                        <a:srgbClr val="C9D3C0"/>
                      </a:solidFill>
                      <a:prstDash val="solid"/>
                      <a:round/>
                      <a:headEnd type="none" w="med" len="med"/>
                      <a:tailEnd type="none" w="med" len="med"/>
                    </a:lnR>
                    <a:lnT w="9525" cap="flat" cmpd="sng" algn="ctr">
                      <a:solidFill>
                        <a:srgbClr val="C9D3C0"/>
                      </a:solidFill>
                      <a:prstDash val="solid"/>
                      <a:round/>
                      <a:headEnd type="none" w="med" len="med"/>
                      <a:tailEnd type="none" w="med" len="med"/>
                    </a:lnT>
                    <a:lnB w="9525" cap="flat" cmpd="sng" algn="ctr">
                      <a:solidFill>
                        <a:srgbClr val="C9D3C0"/>
                      </a:solidFill>
                      <a:prstDash val="solid"/>
                      <a:round/>
                      <a:headEnd type="none" w="med" len="med"/>
                      <a:tailEnd type="none" w="med" len="med"/>
                    </a:lnB>
                    <a:solidFill>
                      <a:srgbClr val="FFFFFF"/>
                    </a:solidFill>
                  </a:tcPr>
                </a:tc>
                <a:tc>
                  <a:txBody>
                    <a:bodyPr/>
                    <a:lstStyle/>
                    <a:p>
                      <a:pPr marL="0" indent="0">
                        <a:buNone/>
                      </a:pPr>
                      <a:r>
                        <a:rPr lang="en-US" sz="1400" dirty="0">
                          <a:solidFill>
                            <a:srgbClr val="26302B"/>
                          </a:solidFill>
                        </a:rPr>
                        <a:t>Conversational, ML / LLM-based crop advice</a:t>
                      </a:r>
                      <a:endParaRPr lang="en-US" sz="1400" dirty="0"/>
                    </a:p>
                  </a:txBody>
                  <a:tcPr marL="73152" marR="73152" marT="73152" marB="73152" anchor="ctr">
                    <a:lnL w="9525" cap="flat" cmpd="sng" algn="ctr">
                      <a:solidFill>
                        <a:srgbClr val="C9D3C0"/>
                      </a:solidFill>
                      <a:prstDash val="solid"/>
                      <a:round/>
                      <a:headEnd type="none" w="med" len="med"/>
                      <a:tailEnd type="none" w="med" len="med"/>
                    </a:lnL>
                    <a:lnR w="9525" cap="flat" cmpd="sng" algn="ctr">
                      <a:solidFill>
                        <a:srgbClr val="C9D3C0"/>
                      </a:solidFill>
                      <a:prstDash val="solid"/>
                      <a:round/>
                      <a:headEnd type="none" w="med" len="med"/>
                      <a:tailEnd type="none" w="med" len="med"/>
                    </a:lnR>
                    <a:lnT w="9525" cap="flat" cmpd="sng" algn="ctr">
                      <a:solidFill>
                        <a:srgbClr val="C9D3C0"/>
                      </a:solidFill>
                      <a:prstDash val="solid"/>
                      <a:round/>
                      <a:headEnd type="none" w="med" len="med"/>
                      <a:tailEnd type="none" w="med" len="med"/>
                    </a:lnT>
                    <a:lnB w="9525" cap="flat" cmpd="sng" algn="ctr">
                      <a:solidFill>
                        <a:srgbClr val="C9D3C0"/>
                      </a:solidFill>
                      <a:prstDash val="solid"/>
                      <a:round/>
                      <a:headEnd type="none" w="med" len="med"/>
                      <a:tailEnd type="none" w="med" len="med"/>
                    </a:lnB>
                    <a:solidFill>
                      <a:srgbClr val="FFFFFF"/>
                    </a:solidFill>
                  </a:tcPr>
                </a:tc>
                <a:tc>
                  <a:txBody>
                    <a:bodyPr/>
                    <a:lstStyle/>
                    <a:p>
                      <a:pPr marL="0" indent="0">
                        <a:buNone/>
                      </a:pPr>
                      <a:r>
                        <a:rPr lang="en-US" sz="1400" dirty="0">
                          <a:solidFill>
                            <a:srgbClr val="5C6B62"/>
                          </a:solidFill>
                        </a:rPr>
                        <a:t>Public and private</a:t>
                      </a:r>
                      <a:endParaRPr lang="en-US" sz="1400" dirty="0"/>
                    </a:p>
                  </a:txBody>
                  <a:tcPr marL="73152" marR="73152" marT="73152" marB="73152" anchor="ctr">
                    <a:lnL w="9525" cap="flat" cmpd="sng" algn="ctr">
                      <a:solidFill>
                        <a:srgbClr val="C9D3C0"/>
                      </a:solidFill>
                      <a:prstDash val="solid"/>
                      <a:round/>
                      <a:headEnd type="none" w="med" len="med"/>
                      <a:tailEnd type="none" w="med" len="med"/>
                    </a:lnL>
                    <a:lnR w="9525" cap="flat" cmpd="sng" algn="ctr">
                      <a:solidFill>
                        <a:srgbClr val="C9D3C0"/>
                      </a:solidFill>
                      <a:prstDash val="solid"/>
                      <a:round/>
                      <a:headEnd type="none" w="med" len="med"/>
                      <a:tailEnd type="none" w="med" len="med"/>
                    </a:lnR>
                    <a:lnT w="9525" cap="flat" cmpd="sng" algn="ctr">
                      <a:solidFill>
                        <a:srgbClr val="C9D3C0"/>
                      </a:solidFill>
                      <a:prstDash val="solid"/>
                      <a:round/>
                      <a:headEnd type="none" w="med" len="med"/>
                      <a:tailEnd type="none" w="med" len="med"/>
                    </a:lnT>
                    <a:lnB w="9525" cap="flat" cmpd="sng" algn="ctr">
                      <a:solidFill>
                        <a:srgbClr val="C9D3C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20624">
                <a:tc>
                  <a:txBody>
                    <a:bodyPr/>
                    <a:lstStyle/>
                    <a:p>
                      <a:pPr marL="0" indent="0">
                        <a:buNone/>
                      </a:pPr>
                      <a:r>
                        <a:rPr lang="en-US" sz="1400" b="1" dirty="0">
                          <a:solidFill>
                            <a:srgbClr val="1F3D2B"/>
                          </a:solidFill>
                        </a:rPr>
                        <a:t>Bharat-VISTAAR (2026)</a:t>
                      </a:r>
                      <a:endParaRPr lang="en-US" sz="1400" dirty="0"/>
                    </a:p>
                  </a:txBody>
                  <a:tcPr marL="73152" marR="73152" marT="73152" marB="73152" anchor="ctr">
                    <a:lnL w="9525" cap="flat" cmpd="sng" algn="ctr">
                      <a:solidFill>
                        <a:srgbClr val="C9D3C0"/>
                      </a:solidFill>
                      <a:prstDash val="solid"/>
                      <a:round/>
                      <a:headEnd type="none" w="med" len="med"/>
                      <a:tailEnd type="none" w="med" len="med"/>
                    </a:lnL>
                    <a:lnR w="9525" cap="flat" cmpd="sng" algn="ctr">
                      <a:solidFill>
                        <a:srgbClr val="C9D3C0"/>
                      </a:solidFill>
                      <a:prstDash val="solid"/>
                      <a:round/>
                      <a:headEnd type="none" w="med" len="med"/>
                      <a:tailEnd type="none" w="med" len="med"/>
                    </a:lnR>
                    <a:lnT w="9525" cap="flat" cmpd="sng" algn="ctr">
                      <a:solidFill>
                        <a:srgbClr val="C9D3C0"/>
                      </a:solidFill>
                      <a:prstDash val="solid"/>
                      <a:round/>
                      <a:headEnd type="none" w="med" len="med"/>
                      <a:tailEnd type="none" w="med" len="med"/>
                    </a:lnT>
                    <a:lnB w="9525" cap="flat" cmpd="sng" algn="ctr">
                      <a:solidFill>
                        <a:srgbClr val="C9D3C0"/>
                      </a:solidFill>
                      <a:prstDash val="solid"/>
                      <a:round/>
                      <a:headEnd type="none" w="med" len="med"/>
                      <a:tailEnd type="none" w="med" len="med"/>
                    </a:lnB>
                    <a:solidFill>
                      <a:srgbClr val="DDE5D5"/>
                    </a:solidFill>
                  </a:tcPr>
                </a:tc>
                <a:tc>
                  <a:txBody>
                    <a:bodyPr/>
                    <a:lstStyle/>
                    <a:p>
                      <a:pPr marL="0" indent="0">
                        <a:buNone/>
                      </a:pPr>
                      <a:r>
                        <a:rPr lang="en-US" sz="1400" dirty="0">
                          <a:solidFill>
                            <a:srgbClr val="26302B"/>
                          </a:solidFill>
                        </a:rPr>
                        <a:t>AI advisory combining AgriStack, ICAR, IMD weather, prices</a:t>
                      </a:r>
                      <a:endParaRPr lang="en-US" sz="1400" dirty="0"/>
                    </a:p>
                  </a:txBody>
                  <a:tcPr marL="73152" marR="73152" marT="73152" marB="73152" anchor="ctr">
                    <a:lnL w="9525" cap="flat" cmpd="sng" algn="ctr">
                      <a:solidFill>
                        <a:srgbClr val="C9D3C0"/>
                      </a:solidFill>
                      <a:prstDash val="solid"/>
                      <a:round/>
                      <a:headEnd type="none" w="med" len="med"/>
                      <a:tailEnd type="none" w="med" len="med"/>
                    </a:lnL>
                    <a:lnR w="9525" cap="flat" cmpd="sng" algn="ctr">
                      <a:solidFill>
                        <a:srgbClr val="C9D3C0"/>
                      </a:solidFill>
                      <a:prstDash val="solid"/>
                      <a:round/>
                      <a:headEnd type="none" w="med" len="med"/>
                      <a:tailEnd type="none" w="med" len="med"/>
                    </a:lnR>
                    <a:lnT w="9525" cap="flat" cmpd="sng" algn="ctr">
                      <a:solidFill>
                        <a:srgbClr val="C9D3C0"/>
                      </a:solidFill>
                      <a:prstDash val="solid"/>
                      <a:round/>
                      <a:headEnd type="none" w="med" len="med"/>
                      <a:tailEnd type="none" w="med" len="med"/>
                    </a:lnT>
                    <a:lnB w="9525" cap="flat" cmpd="sng" algn="ctr">
                      <a:solidFill>
                        <a:srgbClr val="C9D3C0"/>
                      </a:solidFill>
                      <a:prstDash val="solid"/>
                      <a:round/>
                      <a:headEnd type="none" w="med" len="med"/>
                      <a:tailEnd type="none" w="med" len="med"/>
                    </a:lnB>
                    <a:solidFill>
                      <a:srgbClr val="DDE5D5"/>
                    </a:solidFill>
                  </a:tcPr>
                </a:tc>
                <a:tc>
                  <a:txBody>
                    <a:bodyPr/>
                    <a:lstStyle/>
                    <a:p>
                      <a:pPr marL="0" indent="0">
                        <a:buNone/>
                      </a:pPr>
                      <a:r>
                        <a:rPr lang="en-US" sz="1400" dirty="0">
                          <a:solidFill>
                            <a:srgbClr val="5C6B62"/>
                          </a:solidFill>
                        </a:rPr>
                        <a:t>Ministry of Agriculture &amp; FW</a:t>
                      </a:r>
                      <a:endParaRPr lang="en-US" sz="1400" dirty="0"/>
                    </a:p>
                  </a:txBody>
                  <a:tcPr marL="73152" marR="73152" marT="73152" marB="73152" anchor="ctr">
                    <a:lnL w="9525" cap="flat" cmpd="sng" algn="ctr">
                      <a:solidFill>
                        <a:srgbClr val="C9D3C0"/>
                      </a:solidFill>
                      <a:prstDash val="solid"/>
                      <a:round/>
                      <a:headEnd type="none" w="med" len="med"/>
                      <a:tailEnd type="none" w="med" len="med"/>
                    </a:lnL>
                    <a:lnR w="9525" cap="flat" cmpd="sng" algn="ctr">
                      <a:solidFill>
                        <a:srgbClr val="C9D3C0"/>
                      </a:solidFill>
                      <a:prstDash val="solid"/>
                      <a:round/>
                      <a:headEnd type="none" w="med" len="med"/>
                      <a:tailEnd type="none" w="med" len="med"/>
                    </a:lnR>
                    <a:lnT w="9525" cap="flat" cmpd="sng" algn="ctr">
                      <a:solidFill>
                        <a:srgbClr val="C9D3C0"/>
                      </a:solidFill>
                      <a:prstDash val="solid"/>
                      <a:round/>
                      <a:headEnd type="none" w="med" len="med"/>
                      <a:tailEnd type="none" w="med" len="med"/>
                    </a:lnT>
                    <a:lnB w="9525" cap="flat" cmpd="sng" algn="ctr">
                      <a:solidFill>
                        <a:srgbClr val="C9D3C0"/>
                      </a:solidFill>
                      <a:prstDash val="solid"/>
                      <a:round/>
                      <a:headEnd type="none" w="med" len="med"/>
                      <a:tailEnd type="none" w="med" len="med"/>
                    </a:lnB>
                    <a:solidFill>
                      <a:srgbClr val="DDE5D5"/>
                    </a:solidFill>
                  </a:tcPr>
                </a:tc>
                <a:extLst>
                  <a:ext uri="{0D108BD9-81ED-4DB2-BD59-A6C34878D82A}">
                    <a16:rowId xmlns:a16="http://schemas.microsoft.com/office/drawing/2014/main" val="10007"/>
                  </a:ext>
                </a:extLst>
              </a:tr>
            </a:tbl>
          </a:graphicData>
        </a:graphic>
      </p:graphicFrame>
      <p:sp>
        <p:nvSpPr>
          <p:cNvPr id="8" name="box-182"/>
          <p:cNvSpPr txBox="1"/>
          <p:nvPr/>
        </p:nvSpPr>
        <p:spPr>
          <a:xfrm>
            <a:off x="548640" y="5120640"/>
            <a:ext cx="11091672" cy="731520"/>
          </a:xfrm>
          <a:prstGeom prst="rect">
            <a:avLst/>
          </a:prstGeom>
          <a:solidFill>
            <a:schemeClr val="tx2"/>
          </a:solidFill>
          <a:ln/>
        </p:spPr>
        <p:txBody>
          <a:bodyPr wrap="square" lIns="182880" tIns="182880" rIns="182880" bIns="182880" rtlCol="0" anchor="ctr"/>
          <a:lstStyle/>
          <a:p>
            <a:pPr marL="0" indent="0" algn="l">
              <a:buNone/>
            </a:pPr>
            <a:r>
              <a:rPr lang="en-US" sz="1600" i="1" dirty="0">
                <a:solidFill>
                  <a:schemeClr val="bg2"/>
                </a:solidFill>
              </a:rPr>
              <a:t>India already has multiple agricultural information systems. Agrisathi explores how their signals can be combined into a unified decision-support layer.</a:t>
            </a:r>
            <a:endParaRPr lang="en-US" sz="1600" dirty="0"/>
          </a:p>
        </p:txBody>
      </p:sp>
      <p:sp>
        <p:nvSpPr>
          <p:cNvPr id="9" name="txt-183"/>
          <p:cNvSpPr txBox="1"/>
          <p:nvPr/>
        </p:nvSpPr>
        <p:spPr>
          <a:xfrm>
            <a:off x="548640" y="6053328"/>
            <a:ext cx="11091672" cy="329184"/>
          </a:xfrm>
          <a:prstGeom prst="rect">
            <a:avLst/>
          </a:prstGeom>
          <a:noFill/>
          <a:ln/>
        </p:spPr>
        <p:txBody>
          <a:bodyPr wrap="square" lIns="0" tIns="0" rIns="0" bIns="0" rtlCol="0" anchor="t"/>
          <a:lstStyle/>
          <a:p>
            <a:pPr marL="0" indent="0">
              <a:buNone/>
            </a:pPr>
            <a:r>
              <a:rPr lang="en-US" sz="1000" dirty="0">
                <a:solidFill>
                  <a:schemeClr val="accent4"/>
                </a:solidFill>
              </a:rPr>
              <a:t>Sources: Official portals and releases — DA&amp;FW (Soil Health Card, Agmarknet, e-NAM), IMD (agromet advisories), ICAR (KVK network), MNCFC (FASAL), PIB (Bharat-VISTAAR launch, Feb 2026).</a:t>
            </a:r>
            <a:endParaRPr lang="en-US" sz="1000" dirty="0"/>
          </a:p>
        </p:txBody>
      </p:sp>
      <p:sp>
        <p:nvSpPr>
          <p:cNvPr id="25" name="Slide Number Placeholder 0"/>
          <p:cNvSpPr>
            <a:spLocks noGrp="1"/>
          </p:cNvSpPr>
          <p:nvPr>
            <p:ph type="sldNum" sz="quarter" idx="4294967295"/>
          </p:nvPr>
        </p:nvSpPr>
        <p:spPr>
          <a:xfrm>
            <a:off x="11064240" y="6446520"/>
            <a:ext cx="576072"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dot-184"/>
          <p:cNvSpPr/>
          <p:nvPr/>
        </p:nvSpPr>
        <p:spPr>
          <a:xfrm>
            <a:off x="548640" y="429768"/>
            <a:ext cx="118872" cy="118872"/>
          </a:xfrm>
          <a:prstGeom prst="ellipse">
            <a:avLst/>
          </a:prstGeom>
          <a:solidFill>
            <a:schemeClr val="accent3"/>
          </a:solidFill>
          <a:ln/>
        </p:spPr>
        <p:txBody>
          <a:bodyPr/>
          <a:lstStyle/>
          <a:p>
            <a:endParaRPr lang="ko-IN"/>
          </a:p>
        </p:txBody>
      </p:sp>
      <p:sp>
        <p:nvSpPr>
          <p:cNvPr id="3" name="txt-185"/>
          <p:cNvSpPr txBox="1"/>
          <p:nvPr/>
        </p:nvSpPr>
        <p:spPr>
          <a:xfrm>
            <a:off x="768096" y="384048"/>
            <a:ext cx="6400800" cy="256032"/>
          </a:xfrm>
          <a:prstGeom prst="rect">
            <a:avLst/>
          </a:prstGeom>
          <a:noFill/>
          <a:ln/>
        </p:spPr>
        <p:txBody>
          <a:bodyPr wrap="square" lIns="0" tIns="0" rIns="0" bIns="0" rtlCol="0" anchor="t"/>
          <a:lstStyle/>
          <a:p>
            <a:pPr marL="0" indent="0">
              <a:buNone/>
            </a:pPr>
            <a:r>
              <a:rPr lang="en-US" sz="1200" b="1" kern="0" spc="200" dirty="0">
                <a:solidFill>
                  <a:schemeClr val="accent4"/>
                </a:solidFill>
              </a:rPr>
              <a:t>04  ·  THE GAP</a:t>
            </a:r>
            <a:endParaRPr lang="en-US" sz="1200" dirty="0"/>
          </a:p>
        </p:txBody>
      </p:sp>
      <p:sp>
        <p:nvSpPr>
          <p:cNvPr id="4" name="box-186"/>
          <p:cNvSpPr txBox="1"/>
          <p:nvPr/>
        </p:nvSpPr>
        <p:spPr>
          <a:xfrm>
            <a:off x="9537192" y="365760"/>
            <a:ext cx="2103120" cy="274320"/>
          </a:xfrm>
          <a:prstGeom prst="rect">
            <a:avLst/>
          </a:prstGeom>
          <a:ln w="12700">
            <a:solidFill>
              <a:schemeClr val="accent4"/>
            </a:solidFill>
          </a:ln>
        </p:spPr>
        <p:txBody>
          <a:bodyPr wrap="square" lIns="0" tIns="0" rIns="0" bIns="0" rtlCol="0" anchor="ctr"/>
          <a:lstStyle/>
          <a:p>
            <a:pPr marL="0" indent="0" algn="ctr">
              <a:buNone/>
            </a:pPr>
            <a:r>
              <a:rPr lang="en-US" sz="1000" b="1" dirty="0">
                <a:solidFill>
                  <a:schemeClr val="accent4"/>
                </a:solidFill>
              </a:rPr>
              <a:t>THE GAP</a:t>
            </a:r>
            <a:endParaRPr lang="en-US" sz="1000" dirty="0"/>
          </a:p>
        </p:txBody>
      </p:sp>
      <p:sp>
        <p:nvSpPr>
          <p:cNvPr id="5" name="Text 1"/>
          <p:cNvSpPr>
            <a:spLocks noGrp="1"/>
          </p:cNvSpPr>
          <p:nvPr>
            <p:ph type="title" idx="101" hasCustomPrompt="1"/>
          </p:nvPr>
        </p:nvSpPr>
        <p:spPr>
          <a:xfrm>
            <a:off x="548640" y="658368"/>
            <a:ext cx="11091672" cy="731520"/>
          </a:xfrm>
          <a:prstGeom prst="rect">
            <a:avLst/>
          </a:prstGeom>
          <a:noFill/>
          <a:ln/>
        </p:spPr>
        <p:txBody>
          <a:bodyPr wrap="square" lIns="0" tIns="0" rIns="0" bIns="0" rtlCol="0" anchor="t"/>
          <a:lstStyle/>
          <a:p>
            <a:pPr marL="0" indent="0" algn="l">
              <a:buNone/>
            </a:pPr>
            <a:r>
              <a:rPr lang="en-US" sz="3600" b="1" dirty="0">
                <a:solidFill>
                  <a:schemeClr val="tx2"/>
                </a:solidFill>
              </a:rPr>
              <a:t>What does the farmer actually need?</a:t>
            </a:r>
            <a:endParaRPr lang="en-US" sz="3600" dirty="0"/>
          </a:p>
        </p:txBody>
      </p:sp>
      <p:sp>
        <p:nvSpPr>
          <p:cNvPr id="7" name="shape-187"/>
          <p:cNvSpPr/>
          <p:nvPr/>
        </p:nvSpPr>
        <p:spPr>
          <a:xfrm>
            <a:off x="548640" y="1554480"/>
            <a:ext cx="3840480" cy="676656"/>
          </a:xfrm>
          <a:prstGeom prst="rect">
            <a:avLst/>
          </a:prstGeom>
          <a:solidFill>
            <a:schemeClr val="bg1"/>
          </a:solidFill>
          <a:ln w="12700">
            <a:solidFill>
              <a:schemeClr val="accent2"/>
            </a:solidFill>
            <a:prstDash val="solid"/>
          </a:ln>
        </p:spPr>
        <p:txBody>
          <a:bodyPr/>
          <a:lstStyle/>
          <a:p>
            <a:endParaRPr lang="ko-IN"/>
          </a:p>
        </p:txBody>
      </p:sp>
      <p:sp>
        <p:nvSpPr>
          <p:cNvPr id="8" name="txt-188"/>
          <p:cNvSpPr txBox="1"/>
          <p:nvPr/>
        </p:nvSpPr>
        <p:spPr>
          <a:xfrm>
            <a:off x="731520" y="1636776"/>
            <a:ext cx="3474720" cy="182880"/>
          </a:xfrm>
          <a:prstGeom prst="rect">
            <a:avLst/>
          </a:prstGeom>
          <a:noFill/>
          <a:ln/>
        </p:spPr>
        <p:txBody>
          <a:bodyPr wrap="square" lIns="0" tIns="0" rIns="0" bIns="0" rtlCol="0" anchor="t"/>
          <a:lstStyle/>
          <a:p>
            <a:pPr marL="0" indent="0">
              <a:buNone/>
            </a:pPr>
            <a:r>
              <a:rPr lang="en-US" sz="1100" b="1" kern="0" spc="200" dirty="0">
                <a:solidFill>
                  <a:schemeClr val="accent4"/>
                </a:solidFill>
              </a:rPr>
              <a:t>WEATHER</a:t>
            </a:r>
            <a:endParaRPr lang="en-US" sz="1100" dirty="0"/>
          </a:p>
        </p:txBody>
      </p:sp>
      <p:sp>
        <p:nvSpPr>
          <p:cNvPr id="9" name="txt-189"/>
          <p:cNvSpPr txBox="1"/>
          <p:nvPr/>
        </p:nvSpPr>
        <p:spPr>
          <a:xfrm>
            <a:off x="731520" y="1865376"/>
            <a:ext cx="3474720" cy="292608"/>
          </a:xfrm>
          <a:prstGeom prst="rect">
            <a:avLst/>
          </a:prstGeom>
          <a:noFill/>
          <a:ln/>
        </p:spPr>
        <p:txBody>
          <a:bodyPr wrap="square" lIns="0" tIns="0" rIns="0" bIns="0" rtlCol="0" anchor="t"/>
          <a:lstStyle/>
          <a:p>
            <a:pPr marL="0" indent="0">
              <a:buNone/>
            </a:pPr>
            <a:r>
              <a:rPr lang="en-US" sz="1600" i="1" dirty="0">
                <a:solidFill>
                  <a:schemeClr val="tx1"/>
                </a:solidFill>
              </a:rPr>
              <a:t>“80% chance of rain tomorrow”</a:t>
            </a:r>
            <a:endParaRPr lang="en-US" sz="1600" dirty="0"/>
          </a:p>
        </p:txBody>
      </p:sp>
      <p:sp>
        <p:nvSpPr>
          <p:cNvPr id="10" name="line-190"/>
          <p:cNvSpPr/>
          <p:nvPr/>
        </p:nvSpPr>
        <p:spPr>
          <a:xfrm>
            <a:off x="4389120" y="1892808"/>
            <a:ext cx="1188720" cy="1627632"/>
          </a:xfrm>
          <a:prstGeom prst="line">
            <a:avLst/>
          </a:prstGeom>
          <a:noFill/>
          <a:ln w="15875">
            <a:solidFill>
              <a:schemeClr val="accent6"/>
            </a:solidFill>
            <a:prstDash val="solid"/>
          </a:ln>
        </p:spPr>
        <p:txBody>
          <a:bodyPr/>
          <a:lstStyle/>
          <a:p>
            <a:endParaRPr lang="ko-IN"/>
          </a:p>
        </p:txBody>
      </p:sp>
      <p:sp>
        <p:nvSpPr>
          <p:cNvPr id="11" name="shape-191"/>
          <p:cNvSpPr/>
          <p:nvPr/>
        </p:nvSpPr>
        <p:spPr>
          <a:xfrm>
            <a:off x="548640" y="2340864"/>
            <a:ext cx="3840480" cy="676656"/>
          </a:xfrm>
          <a:prstGeom prst="rect">
            <a:avLst/>
          </a:prstGeom>
          <a:solidFill>
            <a:schemeClr val="bg1"/>
          </a:solidFill>
          <a:ln w="12700">
            <a:solidFill>
              <a:schemeClr val="accent2"/>
            </a:solidFill>
            <a:prstDash val="solid"/>
          </a:ln>
        </p:spPr>
        <p:txBody>
          <a:bodyPr/>
          <a:lstStyle/>
          <a:p>
            <a:endParaRPr lang="ko-IN"/>
          </a:p>
        </p:txBody>
      </p:sp>
      <p:sp>
        <p:nvSpPr>
          <p:cNvPr id="12" name="txt-192"/>
          <p:cNvSpPr txBox="1"/>
          <p:nvPr/>
        </p:nvSpPr>
        <p:spPr>
          <a:xfrm>
            <a:off x="731520" y="2423160"/>
            <a:ext cx="3474720" cy="182880"/>
          </a:xfrm>
          <a:prstGeom prst="rect">
            <a:avLst/>
          </a:prstGeom>
          <a:noFill/>
          <a:ln/>
        </p:spPr>
        <p:txBody>
          <a:bodyPr wrap="square" lIns="0" tIns="0" rIns="0" bIns="0" rtlCol="0" anchor="t"/>
          <a:lstStyle/>
          <a:p>
            <a:pPr marL="0" indent="0">
              <a:buNone/>
            </a:pPr>
            <a:r>
              <a:rPr lang="en-US" sz="1100" b="1" kern="0" spc="200" dirty="0">
                <a:solidFill>
                  <a:schemeClr val="accent4"/>
                </a:solidFill>
              </a:rPr>
              <a:t>SOIL</a:t>
            </a:r>
            <a:endParaRPr lang="en-US" sz="1100" dirty="0"/>
          </a:p>
        </p:txBody>
      </p:sp>
      <p:sp>
        <p:nvSpPr>
          <p:cNvPr id="13" name="txt-193"/>
          <p:cNvSpPr txBox="1"/>
          <p:nvPr/>
        </p:nvSpPr>
        <p:spPr>
          <a:xfrm>
            <a:off x="731520" y="2651760"/>
            <a:ext cx="3474720" cy="292608"/>
          </a:xfrm>
          <a:prstGeom prst="rect">
            <a:avLst/>
          </a:prstGeom>
          <a:noFill/>
          <a:ln/>
        </p:spPr>
        <p:txBody>
          <a:bodyPr wrap="square" lIns="0" tIns="0" rIns="0" bIns="0" rtlCol="0" anchor="t"/>
          <a:lstStyle/>
          <a:p>
            <a:pPr marL="0" indent="0">
              <a:buNone/>
            </a:pPr>
            <a:r>
              <a:rPr lang="en-US" sz="1600" i="1" dirty="0">
                <a:solidFill>
                  <a:schemeClr val="tx1"/>
                </a:solidFill>
              </a:rPr>
              <a:t>“Low nitrogen”</a:t>
            </a:r>
            <a:endParaRPr lang="en-US" sz="1600" dirty="0"/>
          </a:p>
        </p:txBody>
      </p:sp>
      <p:sp>
        <p:nvSpPr>
          <p:cNvPr id="14" name="line-194"/>
          <p:cNvSpPr/>
          <p:nvPr/>
        </p:nvSpPr>
        <p:spPr>
          <a:xfrm>
            <a:off x="4389120" y="2679192"/>
            <a:ext cx="1188720" cy="841248"/>
          </a:xfrm>
          <a:prstGeom prst="line">
            <a:avLst/>
          </a:prstGeom>
          <a:noFill/>
          <a:ln w="15875">
            <a:solidFill>
              <a:schemeClr val="accent6"/>
            </a:solidFill>
            <a:prstDash val="solid"/>
          </a:ln>
        </p:spPr>
        <p:txBody>
          <a:bodyPr/>
          <a:lstStyle/>
          <a:p>
            <a:endParaRPr lang="ko-IN"/>
          </a:p>
        </p:txBody>
      </p:sp>
      <p:sp>
        <p:nvSpPr>
          <p:cNvPr id="15" name="shape-195"/>
          <p:cNvSpPr/>
          <p:nvPr/>
        </p:nvSpPr>
        <p:spPr>
          <a:xfrm>
            <a:off x="548640" y="3127248"/>
            <a:ext cx="3840480" cy="676656"/>
          </a:xfrm>
          <a:prstGeom prst="rect">
            <a:avLst/>
          </a:prstGeom>
          <a:solidFill>
            <a:schemeClr val="bg1"/>
          </a:solidFill>
          <a:ln w="12700">
            <a:solidFill>
              <a:schemeClr val="accent2"/>
            </a:solidFill>
            <a:prstDash val="solid"/>
          </a:ln>
        </p:spPr>
        <p:txBody>
          <a:bodyPr/>
          <a:lstStyle/>
          <a:p>
            <a:endParaRPr lang="ko-IN"/>
          </a:p>
        </p:txBody>
      </p:sp>
      <p:sp>
        <p:nvSpPr>
          <p:cNvPr id="16" name="txt-196"/>
          <p:cNvSpPr txBox="1"/>
          <p:nvPr/>
        </p:nvSpPr>
        <p:spPr>
          <a:xfrm>
            <a:off x="731520" y="3209544"/>
            <a:ext cx="3474720" cy="182880"/>
          </a:xfrm>
          <a:prstGeom prst="rect">
            <a:avLst/>
          </a:prstGeom>
          <a:noFill/>
          <a:ln/>
        </p:spPr>
        <p:txBody>
          <a:bodyPr wrap="square" lIns="0" tIns="0" rIns="0" bIns="0" rtlCol="0" anchor="t"/>
          <a:lstStyle/>
          <a:p>
            <a:pPr marL="0" indent="0">
              <a:buNone/>
            </a:pPr>
            <a:r>
              <a:rPr lang="en-US" sz="1100" b="1" kern="0" spc="200" dirty="0">
                <a:solidFill>
                  <a:schemeClr val="accent4"/>
                </a:solidFill>
              </a:rPr>
              <a:t>CROP</a:t>
            </a:r>
            <a:endParaRPr lang="en-US" sz="1100" dirty="0"/>
          </a:p>
        </p:txBody>
      </p:sp>
      <p:sp>
        <p:nvSpPr>
          <p:cNvPr id="17" name="txt-197"/>
          <p:cNvSpPr txBox="1"/>
          <p:nvPr/>
        </p:nvSpPr>
        <p:spPr>
          <a:xfrm>
            <a:off x="731520" y="3438144"/>
            <a:ext cx="3474720" cy="292608"/>
          </a:xfrm>
          <a:prstGeom prst="rect">
            <a:avLst/>
          </a:prstGeom>
          <a:noFill/>
          <a:ln/>
        </p:spPr>
        <p:txBody>
          <a:bodyPr wrap="square" lIns="0" tIns="0" rIns="0" bIns="0" rtlCol="0" anchor="t"/>
          <a:lstStyle/>
          <a:p>
            <a:pPr marL="0" indent="0">
              <a:buNone/>
            </a:pPr>
            <a:r>
              <a:rPr lang="en-US" sz="1600" i="1" dirty="0">
                <a:solidFill>
                  <a:schemeClr val="tx1"/>
                </a:solidFill>
              </a:rPr>
              <a:t>“Flowering stage”</a:t>
            </a:r>
            <a:endParaRPr lang="en-US" sz="1600" dirty="0"/>
          </a:p>
        </p:txBody>
      </p:sp>
      <p:sp>
        <p:nvSpPr>
          <p:cNvPr id="18" name="line-198"/>
          <p:cNvSpPr/>
          <p:nvPr/>
        </p:nvSpPr>
        <p:spPr>
          <a:xfrm>
            <a:off x="4389120" y="3465576"/>
            <a:ext cx="1188720" cy="54864"/>
          </a:xfrm>
          <a:prstGeom prst="line">
            <a:avLst/>
          </a:prstGeom>
          <a:noFill/>
          <a:ln w="15875">
            <a:solidFill>
              <a:schemeClr val="accent6"/>
            </a:solidFill>
            <a:prstDash val="solid"/>
          </a:ln>
        </p:spPr>
        <p:txBody>
          <a:bodyPr/>
          <a:lstStyle/>
          <a:p>
            <a:endParaRPr lang="ko-IN"/>
          </a:p>
        </p:txBody>
      </p:sp>
      <p:sp>
        <p:nvSpPr>
          <p:cNvPr id="19" name="shape-199"/>
          <p:cNvSpPr/>
          <p:nvPr/>
        </p:nvSpPr>
        <p:spPr>
          <a:xfrm>
            <a:off x="548640" y="3913632"/>
            <a:ext cx="3840480" cy="676656"/>
          </a:xfrm>
          <a:prstGeom prst="rect">
            <a:avLst/>
          </a:prstGeom>
          <a:solidFill>
            <a:schemeClr val="bg1"/>
          </a:solidFill>
          <a:ln w="12700">
            <a:solidFill>
              <a:schemeClr val="accent2"/>
            </a:solidFill>
            <a:prstDash val="solid"/>
          </a:ln>
        </p:spPr>
        <p:txBody>
          <a:bodyPr/>
          <a:lstStyle/>
          <a:p>
            <a:endParaRPr lang="ko-IN"/>
          </a:p>
        </p:txBody>
      </p:sp>
      <p:sp>
        <p:nvSpPr>
          <p:cNvPr id="20" name="txt-200"/>
          <p:cNvSpPr txBox="1"/>
          <p:nvPr/>
        </p:nvSpPr>
        <p:spPr>
          <a:xfrm>
            <a:off x="731520" y="3995928"/>
            <a:ext cx="3474720" cy="182880"/>
          </a:xfrm>
          <a:prstGeom prst="rect">
            <a:avLst/>
          </a:prstGeom>
          <a:noFill/>
          <a:ln/>
        </p:spPr>
        <p:txBody>
          <a:bodyPr wrap="square" lIns="0" tIns="0" rIns="0" bIns="0" rtlCol="0" anchor="t"/>
          <a:lstStyle/>
          <a:p>
            <a:pPr marL="0" indent="0">
              <a:buNone/>
            </a:pPr>
            <a:r>
              <a:rPr lang="en-US" sz="1100" b="1" kern="0" spc="200" dirty="0">
                <a:solidFill>
                  <a:schemeClr val="accent4"/>
                </a:solidFill>
              </a:rPr>
              <a:t>PEST</a:t>
            </a:r>
            <a:endParaRPr lang="en-US" sz="1100" dirty="0"/>
          </a:p>
        </p:txBody>
      </p:sp>
      <p:sp>
        <p:nvSpPr>
          <p:cNvPr id="21" name="txt-201"/>
          <p:cNvSpPr txBox="1"/>
          <p:nvPr/>
        </p:nvSpPr>
        <p:spPr>
          <a:xfrm>
            <a:off x="731520" y="4224528"/>
            <a:ext cx="3474720" cy="292608"/>
          </a:xfrm>
          <a:prstGeom prst="rect">
            <a:avLst/>
          </a:prstGeom>
          <a:noFill/>
          <a:ln/>
        </p:spPr>
        <p:txBody>
          <a:bodyPr wrap="square" lIns="0" tIns="0" rIns="0" bIns="0" rtlCol="0" anchor="t"/>
          <a:lstStyle/>
          <a:p>
            <a:pPr marL="0" indent="0">
              <a:buNone/>
            </a:pPr>
            <a:r>
              <a:rPr lang="en-US" sz="1600" i="1" dirty="0">
                <a:solidFill>
                  <a:schemeClr val="tx1"/>
                </a:solidFill>
              </a:rPr>
              <a:t>“Moderate disease risk”</a:t>
            </a:r>
            <a:endParaRPr lang="en-US" sz="1600" dirty="0"/>
          </a:p>
        </p:txBody>
      </p:sp>
      <p:sp>
        <p:nvSpPr>
          <p:cNvPr id="22" name="line-202"/>
          <p:cNvSpPr/>
          <p:nvPr/>
        </p:nvSpPr>
        <p:spPr>
          <a:xfrm flipV="1">
            <a:off x="4389120" y="3520440"/>
            <a:ext cx="1188720" cy="731520"/>
          </a:xfrm>
          <a:prstGeom prst="line">
            <a:avLst/>
          </a:prstGeom>
          <a:noFill/>
          <a:ln w="15875">
            <a:solidFill>
              <a:schemeClr val="accent6"/>
            </a:solidFill>
            <a:prstDash val="solid"/>
          </a:ln>
        </p:spPr>
        <p:txBody>
          <a:bodyPr/>
          <a:lstStyle/>
          <a:p>
            <a:endParaRPr lang="ko-IN"/>
          </a:p>
        </p:txBody>
      </p:sp>
      <p:sp>
        <p:nvSpPr>
          <p:cNvPr id="23" name="shape-203"/>
          <p:cNvSpPr/>
          <p:nvPr/>
        </p:nvSpPr>
        <p:spPr>
          <a:xfrm>
            <a:off x="548640" y="4700016"/>
            <a:ext cx="3840480" cy="676656"/>
          </a:xfrm>
          <a:prstGeom prst="rect">
            <a:avLst/>
          </a:prstGeom>
          <a:solidFill>
            <a:schemeClr val="bg1"/>
          </a:solidFill>
          <a:ln w="12700">
            <a:solidFill>
              <a:schemeClr val="accent2"/>
            </a:solidFill>
            <a:prstDash val="solid"/>
          </a:ln>
        </p:spPr>
        <p:txBody>
          <a:bodyPr/>
          <a:lstStyle/>
          <a:p>
            <a:endParaRPr lang="ko-IN"/>
          </a:p>
        </p:txBody>
      </p:sp>
      <p:sp>
        <p:nvSpPr>
          <p:cNvPr id="24" name="txt-204"/>
          <p:cNvSpPr txBox="1"/>
          <p:nvPr/>
        </p:nvSpPr>
        <p:spPr>
          <a:xfrm>
            <a:off x="731520" y="4782312"/>
            <a:ext cx="3474720" cy="182880"/>
          </a:xfrm>
          <a:prstGeom prst="rect">
            <a:avLst/>
          </a:prstGeom>
          <a:noFill/>
          <a:ln/>
        </p:spPr>
        <p:txBody>
          <a:bodyPr wrap="square" lIns="0" tIns="0" rIns="0" bIns="0" rtlCol="0" anchor="t"/>
          <a:lstStyle/>
          <a:p>
            <a:pPr marL="0" indent="0">
              <a:buNone/>
            </a:pPr>
            <a:r>
              <a:rPr lang="en-US" sz="1100" b="1" kern="0" spc="200" dirty="0">
                <a:solidFill>
                  <a:schemeClr val="accent4"/>
                </a:solidFill>
              </a:rPr>
              <a:t>MARKET</a:t>
            </a:r>
            <a:endParaRPr lang="en-US" sz="1100" dirty="0"/>
          </a:p>
        </p:txBody>
      </p:sp>
      <p:sp>
        <p:nvSpPr>
          <p:cNvPr id="25" name="txt-205"/>
          <p:cNvSpPr txBox="1"/>
          <p:nvPr/>
        </p:nvSpPr>
        <p:spPr>
          <a:xfrm>
            <a:off x="731520" y="5010912"/>
            <a:ext cx="3474720" cy="292608"/>
          </a:xfrm>
          <a:prstGeom prst="rect">
            <a:avLst/>
          </a:prstGeom>
          <a:noFill/>
          <a:ln/>
        </p:spPr>
        <p:txBody>
          <a:bodyPr wrap="square" lIns="0" tIns="0" rIns="0" bIns="0" rtlCol="0" anchor="t"/>
          <a:lstStyle/>
          <a:p>
            <a:pPr marL="0" indent="0">
              <a:buNone/>
            </a:pPr>
            <a:r>
              <a:rPr lang="en-US" sz="1600" i="1" dirty="0">
                <a:solidFill>
                  <a:schemeClr val="tx1"/>
                </a:solidFill>
              </a:rPr>
              <a:t>“Price trending upward”</a:t>
            </a:r>
            <a:endParaRPr lang="en-US" sz="1600" dirty="0"/>
          </a:p>
        </p:txBody>
      </p:sp>
      <p:sp>
        <p:nvSpPr>
          <p:cNvPr id="26" name="line-206"/>
          <p:cNvSpPr/>
          <p:nvPr/>
        </p:nvSpPr>
        <p:spPr>
          <a:xfrm flipV="1">
            <a:off x="4389120" y="3520440"/>
            <a:ext cx="1188720" cy="1517904"/>
          </a:xfrm>
          <a:prstGeom prst="line">
            <a:avLst/>
          </a:prstGeom>
          <a:noFill/>
          <a:ln w="15875">
            <a:solidFill>
              <a:schemeClr val="accent6"/>
            </a:solidFill>
            <a:prstDash val="solid"/>
          </a:ln>
        </p:spPr>
        <p:txBody>
          <a:bodyPr/>
          <a:lstStyle/>
          <a:p>
            <a:endParaRPr lang="ko-IN"/>
          </a:p>
        </p:txBody>
      </p:sp>
      <p:sp>
        <p:nvSpPr>
          <p:cNvPr id="27" name="shape-207"/>
          <p:cNvSpPr/>
          <p:nvPr/>
        </p:nvSpPr>
        <p:spPr>
          <a:xfrm>
            <a:off x="5577840" y="2514600"/>
            <a:ext cx="2651760" cy="2011680"/>
          </a:xfrm>
          <a:prstGeom prst="rect">
            <a:avLst/>
          </a:prstGeom>
          <a:solidFill>
            <a:schemeClr val="tx2"/>
          </a:solidFill>
          <a:ln/>
        </p:spPr>
        <p:txBody>
          <a:bodyPr/>
          <a:lstStyle/>
          <a:p>
            <a:endParaRPr lang="ko-IN"/>
          </a:p>
        </p:txBody>
      </p:sp>
      <p:sp>
        <p:nvSpPr>
          <p:cNvPr id="28" name="txt-208"/>
          <p:cNvSpPr txBox="1"/>
          <p:nvPr/>
        </p:nvSpPr>
        <p:spPr>
          <a:xfrm>
            <a:off x="5577840" y="2697480"/>
            <a:ext cx="2651760" cy="1188720"/>
          </a:xfrm>
          <a:prstGeom prst="rect">
            <a:avLst/>
          </a:prstGeom>
          <a:noFill/>
          <a:ln/>
        </p:spPr>
        <p:txBody>
          <a:bodyPr wrap="square" lIns="0" tIns="0" rIns="0" bIns="0" rtlCol="0" anchor="ctr"/>
          <a:lstStyle/>
          <a:p>
            <a:pPr marL="0" indent="0" algn="ctr">
              <a:buNone/>
            </a:pPr>
            <a:r>
              <a:rPr lang="en-US" sz="2400" b="1" dirty="0">
                <a:solidFill>
                  <a:schemeClr val="bg2"/>
                </a:solidFill>
                <a:latin typeface="+mj-lt" pitchFamily="34" charset="0"/>
                <a:ea typeface="+mj-lt" pitchFamily="34" charset="-122"/>
                <a:cs typeface="+mj-lt" pitchFamily="34" charset="-120"/>
              </a:rPr>
              <a:t>DECISION</a:t>
            </a:r>
            <a:endParaRPr lang="en-US" sz="2400" dirty="0"/>
          </a:p>
          <a:p>
            <a:pPr marL="0" indent="0" algn="ctr">
              <a:buNone/>
            </a:pPr>
            <a:r>
              <a:rPr lang="en-US" sz="2400" b="1" dirty="0">
                <a:solidFill>
                  <a:schemeClr val="bg2"/>
                </a:solidFill>
                <a:latin typeface="+mj-lt" pitchFamily="34" charset="0"/>
                <a:ea typeface="+mj-lt" pitchFamily="34" charset="-122"/>
                <a:cs typeface="+mj-lt" pitchFamily="34" charset="-120"/>
              </a:rPr>
              <a:t>FUSION</a:t>
            </a:r>
            <a:endParaRPr lang="en-US" sz="2400" dirty="0"/>
          </a:p>
          <a:p>
            <a:pPr marL="0" indent="0" algn="ctr">
              <a:buNone/>
            </a:pPr>
            <a:r>
              <a:rPr lang="en-US" sz="2400" b="1" dirty="0">
                <a:solidFill>
                  <a:schemeClr val="bg2"/>
                </a:solidFill>
                <a:latin typeface="+mj-lt" pitchFamily="34" charset="0"/>
                <a:ea typeface="+mj-lt" pitchFamily="34" charset="-122"/>
                <a:cs typeface="+mj-lt" pitchFamily="34" charset="-120"/>
              </a:rPr>
              <a:t>ENGINE</a:t>
            </a:r>
            <a:endParaRPr lang="en-US" sz="2400" dirty="0"/>
          </a:p>
        </p:txBody>
      </p:sp>
      <p:sp>
        <p:nvSpPr>
          <p:cNvPr id="29" name="txt-209"/>
          <p:cNvSpPr txBox="1"/>
          <p:nvPr/>
        </p:nvSpPr>
        <p:spPr>
          <a:xfrm>
            <a:off x="5577840" y="4023360"/>
            <a:ext cx="2651760" cy="274320"/>
          </a:xfrm>
          <a:prstGeom prst="rect">
            <a:avLst/>
          </a:prstGeom>
          <a:noFill/>
          <a:ln/>
        </p:spPr>
        <p:txBody>
          <a:bodyPr wrap="square" lIns="0" tIns="0" rIns="0" bIns="0" rtlCol="0" anchor="t"/>
          <a:lstStyle/>
          <a:p>
            <a:pPr marL="0" indent="0" algn="ctr">
              <a:buNone/>
            </a:pPr>
            <a:r>
              <a:rPr lang="en-US" sz="1200" i="1" dirty="0">
                <a:solidFill>
                  <a:schemeClr val="accent2"/>
                </a:solidFill>
              </a:rPr>
              <a:t>all signals in one context</a:t>
            </a:r>
            <a:endParaRPr lang="en-US" sz="1200" dirty="0"/>
          </a:p>
        </p:txBody>
      </p:sp>
      <p:sp>
        <p:nvSpPr>
          <p:cNvPr id="30" name="line-210"/>
          <p:cNvSpPr/>
          <p:nvPr/>
        </p:nvSpPr>
        <p:spPr>
          <a:xfrm>
            <a:off x="8229600" y="3520440"/>
            <a:ext cx="640080" cy="0"/>
          </a:xfrm>
          <a:prstGeom prst="line">
            <a:avLst/>
          </a:prstGeom>
          <a:noFill/>
          <a:ln w="25400">
            <a:solidFill>
              <a:schemeClr val="tx2"/>
            </a:solidFill>
            <a:prstDash val="solid"/>
            <a:tailEnd type="triangle"/>
          </a:ln>
        </p:spPr>
        <p:txBody>
          <a:bodyPr/>
          <a:lstStyle/>
          <a:p>
            <a:endParaRPr lang="ko-IN"/>
          </a:p>
        </p:txBody>
      </p:sp>
      <p:sp>
        <p:nvSpPr>
          <p:cNvPr id="31" name="box-211"/>
          <p:cNvSpPr txBox="1"/>
          <p:nvPr/>
        </p:nvSpPr>
        <p:spPr>
          <a:xfrm>
            <a:off x="8869680" y="2697480"/>
            <a:ext cx="2770632" cy="1645920"/>
          </a:xfrm>
          <a:prstGeom prst="rect">
            <a:avLst/>
          </a:prstGeom>
          <a:solidFill>
            <a:schemeClr val="bg1"/>
          </a:solidFill>
          <a:ln w="31750">
            <a:solidFill>
              <a:schemeClr val="accent3"/>
            </a:solidFill>
          </a:ln>
        </p:spPr>
        <p:txBody>
          <a:bodyPr wrap="square" lIns="182880" tIns="182880" rIns="182880" bIns="182880" rtlCol="0" anchor="ctr"/>
          <a:lstStyle/>
          <a:p>
            <a:pPr marL="0" indent="0" algn="ctr">
              <a:buNone/>
            </a:pPr>
            <a:r>
              <a:rPr lang="en-US" sz="2400" b="1" dirty="0">
                <a:solidFill>
                  <a:schemeClr val="tx2"/>
                </a:solidFill>
              </a:rPr>
              <a:t>WHAT SHOULD I DO NEXT?</a:t>
            </a:r>
            <a:endParaRPr lang="en-US" sz="2400" dirty="0"/>
          </a:p>
        </p:txBody>
      </p:sp>
      <p:sp>
        <p:nvSpPr>
          <p:cNvPr id="32" name="txt-212"/>
          <p:cNvSpPr txBox="1"/>
          <p:nvPr/>
        </p:nvSpPr>
        <p:spPr>
          <a:xfrm>
            <a:off x="548640" y="5577840"/>
            <a:ext cx="11091672" cy="411480"/>
          </a:xfrm>
          <a:prstGeom prst="rect">
            <a:avLst/>
          </a:prstGeom>
          <a:noFill/>
          <a:ln/>
        </p:spPr>
        <p:txBody>
          <a:bodyPr wrap="square" lIns="0" tIns="0" rIns="0" bIns="0" rtlCol="0" anchor="t"/>
          <a:lstStyle/>
          <a:p>
            <a:pPr marL="0" indent="0">
              <a:buNone/>
            </a:pPr>
            <a:r>
              <a:rPr lang="en-US" sz="1800" i="1" dirty="0">
                <a:solidFill>
                  <a:schemeClr val="accent1"/>
                </a:solidFill>
              </a:rPr>
              <a:t>Farmers do not only need information. They need contextual interpretation of information.</a:t>
            </a:r>
            <a:endParaRPr lang="en-US" sz="1800" dirty="0"/>
          </a:p>
        </p:txBody>
      </p:sp>
      <p:sp>
        <p:nvSpPr>
          <p:cNvPr id="33" name="txt-213"/>
          <p:cNvSpPr txBox="1"/>
          <p:nvPr/>
        </p:nvSpPr>
        <p:spPr>
          <a:xfrm>
            <a:off x="548640" y="6053328"/>
            <a:ext cx="11091672" cy="329184"/>
          </a:xfrm>
          <a:prstGeom prst="rect">
            <a:avLst/>
          </a:prstGeom>
          <a:noFill/>
          <a:ln/>
        </p:spPr>
        <p:txBody>
          <a:bodyPr wrap="square" lIns="0" tIns="0" rIns="0" bIns="0" rtlCol="0" anchor="t"/>
          <a:lstStyle/>
          <a:p>
            <a:pPr marL="0" indent="0">
              <a:buNone/>
            </a:pPr>
            <a:r>
              <a:rPr lang="en-US" sz="1000" dirty="0">
                <a:solidFill>
                  <a:schemeClr val="accent4"/>
                </a:solidFill>
              </a:rPr>
              <a:t>Illustrative inputs for explanation only — not real farm data.</a:t>
            </a:r>
            <a:endParaRPr lang="en-US" sz="1000" dirty="0"/>
          </a:p>
        </p:txBody>
      </p:sp>
      <p:sp>
        <p:nvSpPr>
          <p:cNvPr id="6" name="Slide Number Placeholder 0"/>
          <p:cNvSpPr>
            <a:spLocks noGrp="1"/>
          </p:cNvSpPr>
          <p:nvPr>
            <p:ph type="sldNum" sz="quarter" idx="4294967295"/>
          </p:nvPr>
        </p:nvSpPr>
        <p:spPr>
          <a:xfrm>
            <a:off x="11064240" y="6446520"/>
            <a:ext cx="576072"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dot-214"/>
          <p:cNvSpPr/>
          <p:nvPr/>
        </p:nvSpPr>
        <p:spPr>
          <a:xfrm>
            <a:off x="548640" y="429768"/>
            <a:ext cx="118872" cy="118872"/>
          </a:xfrm>
          <a:prstGeom prst="ellipse">
            <a:avLst/>
          </a:prstGeom>
          <a:solidFill>
            <a:schemeClr val="accent3"/>
          </a:solidFill>
          <a:ln/>
        </p:spPr>
        <p:txBody>
          <a:bodyPr/>
          <a:lstStyle/>
          <a:p>
            <a:endParaRPr lang="ko-IN"/>
          </a:p>
        </p:txBody>
      </p:sp>
      <p:sp>
        <p:nvSpPr>
          <p:cNvPr id="3" name="txt-215"/>
          <p:cNvSpPr txBox="1"/>
          <p:nvPr/>
        </p:nvSpPr>
        <p:spPr>
          <a:xfrm>
            <a:off x="768096" y="384048"/>
            <a:ext cx="6400800" cy="256032"/>
          </a:xfrm>
          <a:prstGeom prst="rect">
            <a:avLst/>
          </a:prstGeom>
          <a:noFill/>
          <a:ln/>
        </p:spPr>
        <p:txBody>
          <a:bodyPr wrap="square" lIns="0" tIns="0" rIns="0" bIns="0" rtlCol="0" anchor="t"/>
          <a:lstStyle/>
          <a:p>
            <a:pPr marL="0" indent="0">
              <a:buNone/>
            </a:pPr>
            <a:r>
              <a:rPr lang="en-US" sz="1200" b="1" kern="0" spc="200" dirty="0">
                <a:solidFill>
                  <a:schemeClr val="accent4"/>
                </a:solidFill>
              </a:rPr>
              <a:t>05  ·  OUR SOLUTION</a:t>
            </a:r>
            <a:endParaRPr lang="en-US" sz="1200" dirty="0"/>
          </a:p>
        </p:txBody>
      </p:sp>
      <p:sp>
        <p:nvSpPr>
          <p:cNvPr id="4" name="box-216"/>
          <p:cNvSpPr txBox="1"/>
          <p:nvPr/>
        </p:nvSpPr>
        <p:spPr>
          <a:xfrm>
            <a:off x="9537192" y="365760"/>
            <a:ext cx="2103120" cy="274320"/>
          </a:xfrm>
          <a:prstGeom prst="rect">
            <a:avLst/>
          </a:prstGeom>
          <a:ln w="12700">
            <a:solidFill>
              <a:schemeClr val="accent4"/>
            </a:solidFill>
          </a:ln>
        </p:spPr>
        <p:txBody>
          <a:bodyPr wrap="square" lIns="0" tIns="0" rIns="0" bIns="0" rtlCol="0" anchor="ctr"/>
          <a:lstStyle/>
          <a:p>
            <a:pPr marL="0" indent="0" algn="ctr">
              <a:buNone/>
            </a:pPr>
            <a:r>
              <a:rPr lang="en-US" sz="1000" b="1" dirty="0">
                <a:solidFill>
                  <a:schemeClr val="accent4"/>
                </a:solidFill>
              </a:rPr>
              <a:t>PROPOSED</a:t>
            </a:r>
            <a:endParaRPr lang="en-US" sz="1000" dirty="0"/>
          </a:p>
        </p:txBody>
      </p:sp>
      <p:sp>
        <p:nvSpPr>
          <p:cNvPr id="5" name="Text 1"/>
          <p:cNvSpPr>
            <a:spLocks noGrp="1"/>
          </p:cNvSpPr>
          <p:nvPr>
            <p:ph type="title" idx="101" hasCustomPrompt="1"/>
          </p:nvPr>
        </p:nvSpPr>
        <p:spPr>
          <a:xfrm>
            <a:off x="548640" y="658368"/>
            <a:ext cx="11091672" cy="731520"/>
          </a:xfrm>
          <a:prstGeom prst="rect">
            <a:avLst/>
          </a:prstGeom>
          <a:noFill/>
          <a:ln/>
        </p:spPr>
        <p:txBody>
          <a:bodyPr wrap="square" lIns="0" tIns="0" rIns="0" bIns="0" rtlCol="0" anchor="t"/>
          <a:lstStyle/>
          <a:p>
            <a:pPr marL="0" indent="0" algn="l">
              <a:buNone/>
            </a:pPr>
            <a:r>
              <a:rPr lang="en-US" sz="3600" b="1" dirty="0">
                <a:solidFill>
                  <a:schemeClr val="tx2"/>
                </a:solidFill>
              </a:rPr>
              <a:t>Agrisathi: from data to decisions</a:t>
            </a:r>
            <a:endParaRPr lang="en-US" sz="3600" dirty="0"/>
          </a:p>
        </p:txBody>
      </p:sp>
      <p:sp>
        <p:nvSpPr>
          <p:cNvPr id="7" name="shape-217"/>
          <p:cNvSpPr/>
          <p:nvPr/>
        </p:nvSpPr>
        <p:spPr>
          <a:xfrm>
            <a:off x="548640" y="1554480"/>
            <a:ext cx="3410712" cy="3520440"/>
          </a:xfrm>
          <a:prstGeom prst="rect">
            <a:avLst/>
          </a:prstGeom>
          <a:solidFill>
            <a:schemeClr val="bg1"/>
          </a:solidFill>
          <a:ln w="12700">
            <a:solidFill>
              <a:schemeClr val="accent2"/>
            </a:solidFill>
            <a:prstDash val="solid"/>
          </a:ln>
        </p:spPr>
        <p:txBody>
          <a:bodyPr/>
          <a:lstStyle/>
          <a:p>
            <a:endParaRPr lang="ko-IN"/>
          </a:p>
        </p:txBody>
      </p:sp>
      <p:sp>
        <p:nvSpPr>
          <p:cNvPr id="8" name="shape-218"/>
          <p:cNvSpPr/>
          <p:nvPr/>
        </p:nvSpPr>
        <p:spPr>
          <a:xfrm>
            <a:off x="548640" y="1554480"/>
            <a:ext cx="3410712" cy="777240"/>
          </a:xfrm>
          <a:prstGeom prst="rect">
            <a:avLst/>
          </a:prstGeom>
          <a:solidFill>
            <a:schemeClr val="tx2"/>
          </a:solidFill>
          <a:ln/>
        </p:spPr>
        <p:txBody>
          <a:bodyPr/>
          <a:lstStyle/>
          <a:p>
            <a:endParaRPr lang="ko-IN"/>
          </a:p>
        </p:txBody>
      </p:sp>
      <p:sp>
        <p:nvSpPr>
          <p:cNvPr id="9" name="txt-219"/>
          <p:cNvSpPr txBox="1"/>
          <p:nvPr/>
        </p:nvSpPr>
        <p:spPr>
          <a:xfrm>
            <a:off x="777240" y="1664208"/>
            <a:ext cx="731520" cy="274320"/>
          </a:xfrm>
          <a:prstGeom prst="rect">
            <a:avLst/>
          </a:prstGeom>
          <a:noFill/>
          <a:ln/>
        </p:spPr>
        <p:txBody>
          <a:bodyPr wrap="square" lIns="0" tIns="0" rIns="0" bIns="0" rtlCol="0" anchor="t"/>
          <a:lstStyle/>
          <a:p>
            <a:pPr marL="0" indent="0">
              <a:buNone/>
            </a:pPr>
            <a:r>
              <a:rPr lang="en-US" sz="1400" b="1" dirty="0">
                <a:solidFill>
                  <a:schemeClr val="accent3"/>
                </a:solidFill>
              </a:rPr>
              <a:t>01</a:t>
            </a:r>
            <a:endParaRPr lang="en-US" sz="1400" dirty="0"/>
          </a:p>
        </p:txBody>
      </p:sp>
      <p:sp>
        <p:nvSpPr>
          <p:cNvPr id="10" name="txt-220"/>
          <p:cNvSpPr txBox="1"/>
          <p:nvPr/>
        </p:nvSpPr>
        <p:spPr>
          <a:xfrm>
            <a:off x="777240" y="1920240"/>
            <a:ext cx="3017520" cy="320040"/>
          </a:xfrm>
          <a:prstGeom prst="rect">
            <a:avLst/>
          </a:prstGeom>
          <a:noFill/>
          <a:ln/>
        </p:spPr>
        <p:txBody>
          <a:bodyPr wrap="square" lIns="0" tIns="0" rIns="0" bIns="0" rtlCol="0" anchor="t"/>
          <a:lstStyle/>
          <a:p>
            <a:pPr marL="0" indent="0">
              <a:buNone/>
            </a:pPr>
            <a:r>
              <a:rPr lang="en-US" sz="1800" b="1" dirty="0">
                <a:solidFill>
                  <a:schemeClr val="bg2"/>
                </a:solidFill>
                <a:latin typeface="+mj-lt" pitchFamily="34" charset="0"/>
                <a:ea typeface="+mj-lt" pitchFamily="34" charset="-122"/>
                <a:cs typeface="+mj-lt" pitchFamily="34" charset="-120"/>
              </a:rPr>
              <a:t>DATA INGESTION</a:t>
            </a:r>
            <a:endParaRPr lang="en-US" sz="1800" dirty="0"/>
          </a:p>
        </p:txBody>
      </p:sp>
      <p:sp>
        <p:nvSpPr>
          <p:cNvPr id="11" name="txt-221"/>
          <p:cNvSpPr txBox="1"/>
          <p:nvPr/>
        </p:nvSpPr>
        <p:spPr>
          <a:xfrm>
            <a:off x="777240" y="2441448"/>
            <a:ext cx="3017520" cy="274320"/>
          </a:xfrm>
          <a:prstGeom prst="rect">
            <a:avLst/>
          </a:prstGeom>
          <a:noFill/>
          <a:ln/>
        </p:spPr>
        <p:txBody>
          <a:bodyPr wrap="square" lIns="0" tIns="0" rIns="0" bIns="0" rtlCol="0" anchor="t"/>
          <a:lstStyle/>
          <a:p>
            <a:pPr marL="0" indent="0">
              <a:buNone/>
            </a:pPr>
            <a:r>
              <a:rPr lang="en-US" sz="1400" dirty="0">
                <a:solidFill>
                  <a:schemeClr val="tx1"/>
                </a:solidFill>
              </a:rPr>
              <a:t>Weather</a:t>
            </a:r>
            <a:endParaRPr lang="en-US" sz="1400" dirty="0"/>
          </a:p>
        </p:txBody>
      </p:sp>
      <p:sp>
        <p:nvSpPr>
          <p:cNvPr id="12" name="line-222"/>
          <p:cNvSpPr/>
          <p:nvPr/>
        </p:nvSpPr>
        <p:spPr>
          <a:xfrm>
            <a:off x="777240" y="2788920"/>
            <a:ext cx="2953512" cy="0"/>
          </a:xfrm>
          <a:prstGeom prst="line">
            <a:avLst/>
          </a:prstGeom>
          <a:noFill/>
          <a:ln w="9525">
            <a:solidFill>
              <a:schemeClr val="accent5"/>
            </a:solidFill>
            <a:prstDash val="solid"/>
          </a:ln>
        </p:spPr>
        <p:txBody>
          <a:bodyPr/>
          <a:lstStyle/>
          <a:p>
            <a:endParaRPr lang="ko-IN"/>
          </a:p>
        </p:txBody>
      </p:sp>
      <p:sp>
        <p:nvSpPr>
          <p:cNvPr id="13" name="txt-223"/>
          <p:cNvSpPr txBox="1"/>
          <p:nvPr/>
        </p:nvSpPr>
        <p:spPr>
          <a:xfrm>
            <a:off x="777240" y="2898648"/>
            <a:ext cx="3017520" cy="274320"/>
          </a:xfrm>
          <a:prstGeom prst="rect">
            <a:avLst/>
          </a:prstGeom>
          <a:noFill/>
          <a:ln/>
        </p:spPr>
        <p:txBody>
          <a:bodyPr wrap="square" lIns="0" tIns="0" rIns="0" bIns="0" rtlCol="0" anchor="t"/>
          <a:lstStyle/>
          <a:p>
            <a:pPr marL="0" indent="0">
              <a:buNone/>
            </a:pPr>
            <a:r>
              <a:rPr lang="en-US" sz="1400" dirty="0">
                <a:solidFill>
                  <a:schemeClr val="tx1"/>
                </a:solidFill>
              </a:rPr>
              <a:t>Soil</a:t>
            </a:r>
            <a:endParaRPr lang="en-US" sz="1400" dirty="0"/>
          </a:p>
        </p:txBody>
      </p:sp>
      <p:sp>
        <p:nvSpPr>
          <p:cNvPr id="14" name="line-224"/>
          <p:cNvSpPr/>
          <p:nvPr/>
        </p:nvSpPr>
        <p:spPr>
          <a:xfrm>
            <a:off x="777240" y="3246120"/>
            <a:ext cx="2953512" cy="0"/>
          </a:xfrm>
          <a:prstGeom prst="line">
            <a:avLst/>
          </a:prstGeom>
          <a:noFill/>
          <a:ln w="9525">
            <a:solidFill>
              <a:schemeClr val="accent5"/>
            </a:solidFill>
            <a:prstDash val="solid"/>
          </a:ln>
        </p:spPr>
        <p:txBody>
          <a:bodyPr/>
          <a:lstStyle/>
          <a:p>
            <a:endParaRPr lang="ko-IN"/>
          </a:p>
        </p:txBody>
      </p:sp>
      <p:sp>
        <p:nvSpPr>
          <p:cNvPr id="15" name="txt-225"/>
          <p:cNvSpPr txBox="1"/>
          <p:nvPr/>
        </p:nvSpPr>
        <p:spPr>
          <a:xfrm>
            <a:off x="777240" y="3355848"/>
            <a:ext cx="3017520" cy="274320"/>
          </a:xfrm>
          <a:prstGeom prst="rect">
            <a:avLst/>
          </a:prstGeom>
          <a:noFill/>
          <a:ln/>
        </p:spPr>
        <p:txBody>
          <a:bodyPr wrap="square" lIns="0" tIns="0" rIns="0" bIns="0" rtlCol="0" anchor="t"/>
          <a:lstStyle/>
          <a:p>
            <a:pPr marL="0" indent="0">
              <a:buNone/>
            </a:pPr>
            <a:r>
              <a:rPr lang="en-US" sz="1400" dirty="0">
                <a:solidFill>
                  <a:schemeClr val="tx1"/>
                </a:solidFill>
              </a:rPr>
              <a:t>Satellite</a:t>
            </a:r>
            <a:endParaRPr lang="en-US" sz="1400" dirty="0"/>
          </a:p>
        </p:txBody>
      </p:sp>
      <p:sp>
        <p:nvSpPr>
          <p:cNvPr id="16" name="line-226"/>
          <p:cNvSpPr/>
          <p:nvPr/>
        </p:nvSpPr>
        <p:spPr>
          <a:xfrm>
            <a:off x="777240" y="3703320"/>
            <a:ext cx="2953512" cy="0"/>
          </a:xfrm>
          <a:prstGeom prst="line">
            <a:avLst/>
          </a:prstGeom>
          <a:noFill/>
          <a:ln w="9525">
            <a:solidFill>
              <a:schemeClr val="accent5"/>
            </a:solidFill>
            <a:prstDash val="solid"/>
          </a:ln>
        </p:spPr>
        <p:txBody>
          <a:bodyPr/>
          <a:lstStyle/>
          <a:p>
            <a:endParaRPr lang="ko-IN"/>
          </a:p>
        </p:txBody>
      </p:sp>
      <p:sp>
        <p:nvSpPr>
          <p:cNvPr id="17" name="txt-227"/>
          <p:cNvSpPr txBox="1"/>
          <p:nvPr/>
        </p:nvSpPr>
        <p:spPr>
          <a:xfrm>
            <a:off x="777240" y="3813048"/>
            <a:ext cx="3017520" cy="274320"/>
          </a:xfrm>
          <a:prstGeom prst="rect">
            <a:avLst/>
          </a:prstGeom>
          <a:noFill/>
          <a:ln/>
        </p:spPr>
        <p:txBody>
          <a:bodyPr wrap="square" lIns="0" tIns="0" rIns="0" bIns="0" rtlCol="0" anchor="t"/>
          <a:lstStyle/>
          <a:p>
            <a:pPr marL="0" indent="0">
              <a:buNone/>
            </a:pPr>
            <a:r>
              <a:rPr lang="en-US" sz="1400" dirty="0">
                <a:solidFill>
                  <a:schemeClr val="tx1"/>
                </a:solidFill>
              </a:rPr>
              <a:t>Market</a:t>
            </a:r>
            <a:endParaRPr lang="en-US" sz="1400" dirty="0"/>
          </a:p>
        </p:txBody>
      </p:sp>
      <p:sp>
        <p:nvSpPr>
          <p:cNvPr id="18" name="line-228"/>
          <p:cNvSpPr/>
          <p:nvPr/>
        </p:nvSpPr>
        <p:spPr>
          <a:xfrm>
            <a:off x="777240" y="4160520"/>
            <a:ext cx="2953512" cy="0"/>
          </a:xfrm>
          <a:prstGeom prst="line">
            <a:avLst/>
          </a:prstGeom>
          <a:noFill/>
          <a:ln w="9525">
            <a:solidFill>
              <a:schemeClr val="accent5"/>
            </a:solidFill>
            <a:prstDash val="solid"/>
          </a:ln>
        </p:spPr>
        <p:txBody>
          <a:bodyPr/>
          <a:lstStyle/>
          <a:p>
            <a:endParaRPr lang="ko-IN"/>
          </a:p>
        </p:txBody>
      </p:sp>
      <p:sp>
        <p:nvSpPr>
          <p:cNvPr id="19" name="txt-229"/>
          <p:cNvSpPr txBox="1"/>
          <p:nvPr/>
        </p:nvSpPr>
        <p:spPr>
          <a:xfrm>
            <a:off x="777240" y="4270248"/>
            <a:ext cx="3017520" cy="274320"/>
          </a:xfrm>
          <a:prstGeom prst="rect">
            <a:avLst/>
          </a:prstGeom>
          <a:noFill/>
          <a:ln/>
        </p:spPr>
        <p:txBody>
          <a:bodyPr wrap="square" lIns="0" tIns="0" rIns="0" bIns="0" rtlCol="0" anchor="t"/>
          <a:lstStyle/>
          <a:p>
            <a:pPr marL="0" indent="0">
              <a:buNone/>
            </a:pPr>
            <a:r>
              <a:rPr lang="en-US" sz="1400" dirty="0">
                <a:solidFill>
                  <a:schemeClr val="tx1"/>
                </a:solidFill>
              </a:rPr>
              <a:t>Crop / farm data</a:t>
            </a:r>
            <a:endParaRPr lang="en-US" sz="1400" dirty="0"/>
          </a:p>
        </p:txBody>
      </p:sp>
      <p:sp>
        <p:nvSpPr>
          <p:cNvPr id="20" name="line-230"/>
          <p:cNvSpPr/>
          <p:nvPr/>
        </p:nvSpPr>
        <p:spPr>
          <a:xfrm>
            <a:off x="777240" y="4617720"/>
            <a:ext cx="2953512" cy="0"/>
          </a:xfrm>
          <a:prstGeom prst="line">
            <a:avLst/>
          </a:prstGeom>
          <a:noFill/>
          <a:ln w="9525">
            <a:solidFill>
              <a:schemeClr val="accent5"/>
            </a:solidFill>
            <a:prstDash val="solid"/>
          </a:ln>
        </p:spPr>
        <p:txBody>
          <a:bodyPr/>
          <a:lstStyle/>
          <a:p>
            <a:endParaRPr lang="ko-IN"/>
          </a:p>
        </p:txBody>
      </p:sp>
      <p:sp>
        <p:nvSpPr>
          <p:cNvPr id="21" name="txt-231"/>
          <p:cNvSpPr txBox="1"/>
          <p:nvPr/>
        </p:nvSpPr>
        <p:spPr>
          <a:xfrm>
            <a:off x="777240" y="4727448"/>
            <a:ext cx="3017520" cy="274320"/>
          </a:xfrm>
          <a:prstGeom prst="rect">
            <a:avLst/>
          </a:prstGeom>
          <a:noFill/>
          <a:ln/>
        </p:spPr>
        <p:txBody>
          <a:bodyPr wrap="square" lIns="0" tIns="0" rIns="0" bIns="0" rtlCol="0" anchor="t"/>
          <a:lstStyle/>
          <a:p>
            <a:pPr marL="0" indent="0">
              <a:buNone/>
            </a:pPr>
            <a:r>
              <a:rPr lang="en-US" sz="1400" dirty="0">
                <a:solidFill>
                  <a:schemeClr val="tx1"/>
                </a:solidFill>
              </a:rPr>
              <a:t>Pest / disease data</a:t>
            </a:r>
            <a:endParaRPr lang="en-US" sz="1400" dirty="0"/>
          </a:p>
        </p:txBody>
      </p:sp>
      <p:sp>
        <p:nvSpPr>
          <p:cNvPr id="22" name="line-232"/>
          <p:cNvSpPr/>
          <p:nvPr/>
        </p:nvSpPr>
        <p:spPr>
          <a:xfrm>
            <a:off x="3959352" y="1938528"/>
            <a:ext cx="429768" cy="0"/>
          </a:xfrm>
          <a:prstGeom prst="line">
            <a:avLst/>
          </a:prstGeom>
          <a:noFill/>
          <a:ln w="25400">
            <a:solidFill>
              <a:schemeClr val="tx2"/>
            </a:solidFill>
            <a:prstDash val="solid"/>
            <a:tailEnd type="triangle"/>
          </a:ln>
        </p:spPr>
        <p:txBody>
          <a:bodyPr/>
          <a:lstStyle/>
          <a:p>
            <a:endParaRPr lang="ko-IN"/>
          </a:p>
        </p:txBody>
      </p:sp>
      <p:sp>
        <p:nvSpPr>
          <p:cNvPr id="23" name="shape-233"/>
          <p:cNvSpPr/>
          <p:nvPr/>
        </p:nvSpPr>
        <p:spPr>
          <a:xfrm>
            <a:off x="4389120" y="1554480"/>
            <a:ext cx="3410712" cy="3520440"/>
          </a:xfrm>
          <a:prstGeom prst="rect">
            <a:avLst/>
          </a:prstGeom>
          <a:solidFill>
            <a:schemeClr val="bg1"/>
          </a:solidFill>
          <a:ln w="12700">
            <a:solidFill>
              <a:schemeClr val="accent2"/>
            </a:solidFill>
            <a:prstDash val="solid"/>
          </a:ln>
        </p:spPr>
        <p:txBody>
          <a:bodyPr/>
          <a:lstStyle/>
          <a:p>
            <a:endParaRPr lang="ko-IN"/>
          </a:p>
        </p:txBody>
      </p:sp>
      <p:sp>
        <p:nvSpPr>
          <p:cNvPr id="24" name="shape-234"/>
          <p:cNvSpPr/>
          <p:nvPr/>
        </p:nvSpPr>
        <p:spPr>
          <a:xfrm>
            <a:off x="4389120" y="1554480"/>
            <a:ext cx="3410712" cy="777240"/>
          </a:xfrm>
          <a:prstGeom prst="rect">
            <a:avLst/>
          </a:prstGeom>
          <a:solidFill>
            <a:schemeClr val="tx2"/>
          </a:solidFill>
          <a:ln/>
        </p:spPr>
        <p:txBody>
          <a:bodyPr/>
          <a:lstStyle/>
          <a:p>
            <a:endParaRPr lang="ko-IN"/>
          </a:p>
        </p:txBody>
      </p:sp>
      <p:sp>
        <p:nvSpPr>
          <p:cNvPr id="25" name="txt-235"/>
          <p:cNvSpPr txBox="1"/>
          <p:nvPr/>
        </p:nvSpPr>
        <p:spPr>
          <a:xfrm>
            <a:off x="4617720" y="1664208"/>
            <a:ext cx="731520" cy="274320"/>
          </a:xfrm>
          <a:prstGeom prst="rect">
            <a:avLst/>
          </a:prstGeom>
          <a:noFill/>
          <a:ln/>
        </p:spPr>
        <p:txBody>
          <a:bodyPr wrap="square" lIns="0" tIns="0" rIns="0" bIns="0" rtlCol="0" anchor="t"/>
          <a:lstStyle/>
          <a:p>
            <a:pPr marL="0" indent="0">
              <a:buNone/>
            </a:pPr>
            <a:r>
              <a:rPr lang="en-US" sz="1400" b="1" dirty="0">
                <a:solidFill>
                  <a:schemeClr val="accent3"/>
                </a:solidFill>
              </a:rPr>
              <a:t>02</a:t>
            </a:r>
            <a:endParaRPr lang="en-US" sz="1400" dirty="0"/>
          </a:p>
        </p:txBody>
      </p:sp>
      <p:sp>
        <p:nvSpPr>
          <p:cNvPr id="26" name="txt-236"/>
          <p:cNvSpPr txBox="1"/>
          <p:nvPr/>
        </p:nvSpPr>
        <p:spPr>
          <a:xfrm>
            <a:off x="4617720" y="1920240"/>
            <a:ext cx="3017520" cy="320040"/>
          </a:xfrm>
          <a:prstGeom prst="rect">
            <a:avLst/>
          </a:prstGeom>
          <a:noFill/>
          <a:ln/>
        </p:spPr>
        <p:txBody>
          <a:bodyPr wrap="square" lIns="0" tIns="0" rIns="0" bIns="0" rtlCol="0" anchor="t"/>
          <a:lstStyle/>
          <a:p>
            <a:pPr marL="0" indent="0">
              <a:buNone/>
            </a:pPr>
            <a:r>
              <a:rPr lang="en-US" sz="1800" b="1" dirty="0">
                <a:solidFill>
                  <a:schemeClr val="bg2"/>
                </a:solidFill>
                <a:latin typeface="+mj-lt" pitchFamily="34" charset="0"/>
                <a:ea typeface="+mj-lt" pitchFamily="34" charset="-122"/>
                <a:cs typeface="+mj-lt" pitchFamily="34" charset="-120"/>
              </a:rPr>
              <a:t>AI / ML ANALYSIS</a:t>
            </a:r>
            <a:endParaRPr lang="en-US" sz="1800" dirty="0"/>
          </a:p>
        </p:txBody>
      </p:sp>
      <p:sp>
        <p:nvSpPr>
          <p:cNvPr id="27" name="txt-237"/>
          <p:cNvSpPr txBox="1"/>
          <p:nvPr/>
        </p:nvSpPr>
        <p:spPr>
          <a:xfrm>
            <a:off x="4617720" y="2441448"/>
            <a:ext cx="3017520" cy="274320"/>
          </a:xfrm>
          <a:prstGeom prst="rect">
            <a:avLst/>
          </a:prstGeom>
          <a:noFill/>
          <a:ln/>
        </p:spPr>
        <p:txBody>
          <a:bodyPr wrap="square" lIns="0" tIns="0" rIns="0" bIns="0" rtlCol="0" anchor="t"/>
          <a:lstStyle/>
          <a:p>
            <a:pPr marL="0" indent="0">
              <a:buNone/>
            </a:pPr>
            <a:r>
              <a:rPr lang="en-US" sz="1400" dirty="0">
                <a:solidFill>
                  <a:schemeClr val="tx1"/>
                </a:solidFill>
              </a:rPr>
              <a:t>Prediction</a:t>
            </a:r>
            <a:endParaRPr lang="en-US" sz="1400" dirty="0"/>
          </a:p>
        </p:txBody>
      </p:sp>
      <p:sp>
        <p:nvSpPr>
          <p:cNvPr id="28" name="line-238"/>
          <p:cNvSpPr/>
          <p:nvPr/>
        </p:nvSpPr>
        <p:spPr>
          <a:xfrm>
            <a:off x="4617720" y="2788920"/>
            <a:ext cx="2953512" cy="0"/>
          </a:xfrm>
          <a:prstGeom prst="line">
            <a:avLst/>
          </a:prstGeom>
          <a:noFill/>
          <a:ln w="9525">
            <a:solidFill>
              <a:schemeClr val="accent5"/>
            </a:solidFill>
            <a:prstDash val="solid"/>
          </a:ln>
        </p:spPr>
        <p:txBody>
          <a:bodyPr/>
          <a:lstStyle/>
          <a:p>
            <a:endParaRPr lang="ko-IN"/>
          </a:p>
        </p:txBody>
      </p:sp>
      <p:sp>
        <p:nvSpPr>
          <p:cNvPr id="29" name="txt-239"/>
          <p:cNvSpPr txBox="1"/>
          <p:nvPr/>
        </p:nvSpPr>
        <p:spPr>
          <a:xfrm>
            <a:off x="4617720" y="2898648"/>
            <a:ext cx="3017520" cy="274320"/>
          </a:xfrm>
          <a:prstGeom prst="rect">
            <a:avLst/>
          </a:prstGeom>
          <a:noFill/>
          <a:ln/>
        </p:spPr>
        <p:txBody>
          <a:bodyPr wrap="square" lIns="0" tIns="0" rIns="0" bIns="0" rtlCol="0" anchor="t"/>
          <a:lstStyle/>
          <a:p>
            <a:pPr marL="0" indent="0">
              <a:buNone/>
            </a:pPr>
            <a:r>
              <a:rPr lang="en-US" sz="1400" dirty="0">
                <a:solidFill>
                  <a:schemeClr val="tx1"/>
                </a:solidFill>
              </a:rPr>
              <a:t>Risk scoring</a:t>
            </a:r>
            <a:endParaRPr lang="en-US" sz="1400" dirty="0"/>
          </a:p>
        </p:txBody>
      </p:sp>
      <p:sp>
        <p:nvSpPr>
          <p:cNvPr id="30" name="line-240"/>
          <p:cNvSpPr/>
          <p:nvPr/>
        </p:nvSpPr>
        <p:spPr>
          <a:xfrm>
            <a:off x="4617720" y="3246120"/>
            <a:ext cx="2953512" cy="0"/>
          </a:xfrm>
          <a:prstGeom prst="line">
            <a:avLst/>
          </a:prstGeom>
          <a:noFill/>
          <a:ln w="9525">
            <a:solidFill>
              <a:schemeClr val="accent5"/>
            </a:solidFill>
            <a:prstDash val="solid"/>
          </a:ln>
        </p:spPr>
        <p:txBody>
          <a:bodyPr/>
          <a:lstStyle/>
          <a:p>
            <a:endParaRPr lang="ko-IN"/>
          </a:p>
        </p:txBody>
      </p:sp>
      <p:sp>
        <p:nvSpPr>
          <p:cNvPr id="31" name="txt-241"/>
          <p:cNvSpPr txBox="1"/>
          <p:nvPr/>
        </p:nvSpPr>
        <p:spPr>
          <a:xfrm>
            <a:off x="4617720" y="3355848"/>
            <a:ext cx="3017520" cy="274320"/>
          </a:xfrm>
          <a:prstGeom prst="rect">
            <a:avLst/>
          </a:prstGeom>
          <a:noFill/>
          <a:ln/>
        </p:spPr>
        <p:txBody>
          <a:bodyPr wrap="square" lIns="0" tIns="0" rIns="0" bIns="0" rtlCol="0" anchor="t"/>
          <a:lstStyle/>
          <a:p>
            <a:pPr marL="0" indent="0">
              <a:buNone/>
            </a:pPr>
            <a:r>
              <a:rPr lang="en-US" sz="1400" dirty="0">
                <a:solidFill>
                  <a:schemeClr val="tx1"/>
                </a:solidFill>
              </a:rPr>
              <a:t>Pattern recognition</a:t>
            </a:r>
            <a:endParaRPr lang="en-US" sz="1400" dirty="0"/>
          </a:p>
        </p:txBody>
      </p:sp>
      <p:sp>
        <p:nvSpPr>
          <p:cNvPr id="32" name="line-242"/>
          <p:cNvSpPr/>
          <p:nvPr/>
        </p:nvSpPr>
        <p:spPr>
          <a:xfrm>
            <a:off x="4617720" y="3703320"/>
            <a:ext cx="2953512" cy="0"/>
          </a:xfrm>
          <a:prstGeom prst="line">
            <a:avLst/>
          </a:prstGeom>
          <a:noFill/>
          <a:ln w="9525">
            <a:solidFill>
              <a:schemeClr val="accent5"/>
            </a:solidFill>
            <a:prstDash val="solid"/>
          </a:ln>
        </p:spPr>
        <p:txBody>
          <a:bodyPr/>
          <a:lstStyle/>
          <a:p>
            <a:endParaRPr lang="ko-IN"/>
          </a:p>
        </p:txBody>
      </p:sp>
      <p:sp>
        <p:nvSpPr>
          <p:cNvPr id="33" name="txt-243"/>
          <p:cNvSpPr txBox="1"/>
          <p:nvPr/>
        </p:nvSpPr>
        <p:spPr>
          <a:xfrm>
            <a:off x="4617720" y="3813048"/>
            <a:ext cx="3017520" cy="274320"/>
          </a:xfrm>
          <a:prstGeom prst="rect">
            <a:avLst/>
          </a:prstGeom>
          <a:noFill/>
          <a:ln/>
        </p:spPr>
        <p:txBody>
          <a:bodyPr wrap="square" lIns="0" tIns="0" rIns="0" bIns="0" rtlCol="0" anchor="t"/>
          <a:lstStyle/>
          <a:p>
            <a:pPr marL="0" indent="0">
              <a:buNone/>
            </a:pPr>
            <a:r>
              <a:rPr lang="en-US" sz="1400" dirty="0">
                <a:solidFill>
                  <a:schemeClr val="tx1"/>
                </a:solidFill>
              </a:rPr>
              <a:t>Recommendation ranking</a:t>
            </a:r>
            <a:endParaRPr lang="en-US" sz="1400" dirty="0"/>
          </a:p>
        </p:txBody>
      </p:sp>
      <p:sp>
        <p:nvSpPr>
          <p:cNvPr id="34" name="line-244"/>
          <p:cNvSpPr/>
          <p:nvPr/>
        </p:nvSpPr>
        <p:spPr>
          <a:xfrm>
            <a:off x="7799832" y="1938528"/>
            <a:ext cx="429768" cy="0"/>
          </a:xfrm>
          <a:prstGeom prst="line">
            <a:avLst/>
          </a:prstGeom>
          <a:noFill/>
          <a:ln w="25400">
            <a:solidFill>
              <a:schemeClr val="tx2"/>
            </a:solidFill>
            <a:prstDash val="solid"/>
            <a:tailEnd type="triangle"/>
          </a:ln>
        </p:spPr>
        <p:txBody>
          <a:bodyPr/>
          <a:lstStyle/>
          <a:p>
            <a:endParaRPr lang="ko-IN"/>
          </a:p>
        </p:txBody>
      </p:sp>
      <p:sp>
        <p:nvSpPr>
          <p:cNvPr id="35" name="shape-245"/>
          <p:cNvSpPr/>
          <p:nvPr/>
        </p:nvSpPr>
        <p:spPr>
          <a:xfrm>
            <a:off x="8229600" y="1554480"/>
            <a:ext cx="3410712" cy="3520440"/>
          </a:xfrm>
          <a:prstGeom prst="rect">
            <a:avLst/>
          </a:prstGeom>
          <a:solidFill>
            <a:schemeClr val="bg1"/>
          </a:solidFill>
          <a:ln w="12700">
            <a:solidFill>
              <a:schemeClr val="accent2"/>
            </a:solidFill>
            <a:prstDash val="solid"/>
          </a:ln>
        </p:spPr>
        <p:txBody>
          <a:bodyPr/>
          <a:lstStyle/>
          <a:p>
            <a:endParaRPr lang="ko-IN"/>
          </a:p>
        </p:txBody>
      </p:sp>
      <p:sp>
        <p:nvSpPr>
          <p:cNvPr id="36" name="shape-246"/>
          <p:cNvSpPr/>
          <p:nvPr/>
        </p:nvSpPr>
        <p:spPr>
          <a:xfrm>
            <a:off x="8229600" y="1554480"/>
            <a:ext cx="3410712" cy="777240"/>
          </a:xfrm>
          <a:prstGeom prst="rect">
            <a:avLst/>
          </a:prstGeom>
          <a:solidFill>
            <a:schemeClr val="tx2"/>
          </a:solidFill>
          <a:ln/>
        </p:spPr>
        <p:txBody>
          <a:bodyPr/>
          <a:lstStyle/>
          <a:p>
            <a:endParaRPr lang="ko-IN"/>
          </a:p>
        </p:txBody>
      </p:sp>
      <p:sp>
        <p:nvSpPr>
          <p:cNvPr id="37" name="txt-247"/>
          <p:cNvSpPr txBox="1"/>
          <p:nvPr/>
        </p:nvSpPr>
        <p:spPr>
          <a:xfrm>
            <a:off x="8458200" y="1664208"/>
            <a:ext cx="731520" cy="274320"/>
          </a:xfrm>
          <a:prstGeom prst="rect">
            <a:avLst/>
          </a:prstGeom>
          <a:noFill/>
          <a:ln/>
        </p:spPr>
        <p:txBody>
          <a:bodyPr wrap="square" lIns="0" tIns="0" rIns="0" bIns="0" rtlCol="0" anchor="t"/>
          <a:lstStyle/>
          <a:p>
            <a:pPr marL="0" indent="0">
              <a:buNone/>
            </a:pPr>
            <a:r>
              <a:rPr lang="en-US" sz="1400" b="1" dirty="0">
                <a:solidFill>
                  <a:schemeClr val="accent3"/>
                </a:solidFill>
              </a:rPr>
              <a:t>03</a:t>
            </a:r>
            <a:endParaRPr lang="en-US" sz="1400" dirty="0"/>
          </a:p>
        </p:txBody>
      </p:sp>
      <p:sp>
        <p:nvSpPr>
          <p:cNvPr id="38" name="txt-248"/>
          <p:cNvSpPr txBox="1"/>
          <p:nvPr/>
        </p:nvSpPr>
        <p:spPr>
          <a:xfrm>
            <a:off x="8458200" y="1920240"/>
            <a:ext cx="3017520" cy="320040"/>
          </a:xfrm>
          <a:prstGeom prst="rect">
            <a:avLst/>
          </a:prstGeom>
          <a:noFill/>
          <a:ln/>
        </p:spPr>
        <p:txBody>
          <a:bodyPr wrap="square" lIns="0" tIns="0" rIns="0" bIns="0" rtlCol="0" anchor="t"/>
          <a:lstStyle/>
          <a:p>
            <a:pPr marL="0" indent="0">
              <a:buNone/>
            </a:pPr>
            <a:r>
              <a:rPr lang="en-US" sz="1800" b="1" dirty="0">
                <a:solidFill>
                  <a:schemeClr val="bg2"/>
                </a:solidFill>
                <a:latin typeface="+mj-lt" pitchFamily="34" charset="0"/>
                <a:ea typeface="+mj-lt" pitchFamily="34" charset="-122"/>
                <a:cs typeface="+mj-lt" pitchFamily="34" charset="-120"/>
              </a:rPr>
              <a:t>FARMER ACTION</a:t>
            </a:r>
            <a:endParaRPr lang="en-US" sz="1800" dirty="0"/>
          </a:p>
        </p:txBody>
      </p:sp>
      <p:sp>
        <p:nvSpPr>
          <p:cNvPr id="39" name="txt-249"/>
          <p:cNvSpPr txBox="1"/>
          <p:nvPr/>
        </p:nvSpPr>
        <p:spPr>
          <a:xfrm>
            <a:off x="8458200" y="2441448"/>
            <a:ext cx="3017520" cy="274320"/>
          </a:xfrm>
          <a:prstGeom prst="rect">
            <a:avLst/>
          </a:prstGeom>
          <a:noFill/>
          <a:ln/>
        </p:spPr>
        <p:txBody>
          <a:bodyPr wrap="square" lIns="0" tIns="0" rIns="0" bIns="0" rtlCol="0" anchor="t"/>
          <a:lstStyle/>
          <a:p>
            <a:pPr marL="0" indent="0">
              <a:buNone/>
            </a:pPr>
            <a:r>
              <a:rPr lang="en-US" sz="1400" dirty="0">
                <a:solidFill>
                  <a:schemeClr val="tx1"/>
                </a:solidFill>
              </a:rPr>
              <a:t>Irrigation recommendation</a:t>
            </a:r>
            <a:endParaRPr lang="en-US" sz="1400" dirty="0"/>
          </a:p>
        </p:txBody>
      </p:sp>
      <p:sp>
        <p:nvSpPr>
          <p:cNvPr id="40" name="line-250"/>
          <p:cNvSpPr/>
          <p:nvPr/>
        </p:nvSpPr>
        <p:spPr>
          <a:xfrm>
            <a:off x="8458200" y="2788920"/>
            <a:ext cx="2953512" cy="0"/>
          </a:xfrm>
          <a:prstGeom prst="line">
            <a:avLst/>
          </a:prstGeom>
          <a:noFill/>
          <a:ln w="9525">
            <a:solidFill>
              <a:schemeClr val="accent5"/>
            </a:solidFill>
            <a:prstDash val="solid"/>
          </a:ln>
        </p:spPr>
        <p:txBody>
          <a:bodyPr/>
          <a:lstStyle/>
          <a:p>
            <a:endParaRPr lang="ko-IN"/>
          </a:p>
        </p:txBody>
      </p:sp>
      <p:sp>
        <p:nvSpPr>
          <p:cNvPr id="41" name="txt-251"/>
          <p:cNvSpPr txBox="1"/>
          <p:nvPr/>
        </p:nvSpPr>
        <p:spPr>
          <a:xfrm>
            <a:off x="8458200" y="2898648"/>
            <a:ext cx="3017520" cy="274320"/>
          </a:xfrm>
          <a:prstGeom prst="rect">
            <a:avLst/>
          </a:prstGeom>
          <a:noFill/>
          <a:ln/>
        </p:spPr>
        <p:txBody>
          <a:bodyPr wrap="square" lIns="0" tIns="0" rIns="0" bIns="0" rtlCol="0" anchor="t"/>
          <a:lstStyle/>
          <a:p>
            <a:pPr marL="0" indent="0">
              <a:buNone/>
            </a:pPr>
            <a:r>
              <a:rPr lang="en-US" sz="1400" dirty="0">
                <a:solidFill>
                  <a:schemeClr val="tx1"/>
                </a:solidFill>
              </a:rPr>
              <a:t>Input recommendation</a:t>
            </a:r>
            <a:endParaRPr lang="en-US" sz="1400" dirty="0"/>
          </a:p>
        </p:txBody>
      </p:sp>
      <p:sp>
        <p:nvSpPr>
          <p:cNvPr id="42" name="line-252"/>
          <p:cNvSpPr/>
          <p:nvPr/>
        </p:nvSpPr>
        <p:spPr>
          <a:xfrm>
            <a:off x="8458200" y="3246120"/>
            <a:ext cx="2953512" cy="0"/>
          </a:xfrm>
          <a:prstGeom prst="line">
            <a:avLst/>
          </a:prstGeom>
          <a:noFill/>
          <a:ln w="9525">
            <a:solidFill>
              <a:schemeClr val="accent5"/>
            </a:solidFill>
            <a:prstDash val="solid"/>
          </a:ln>
        </p:spPr>
        <p:txBody>
          <a:bodyPr/>
          <a:lstStyle/>
          <a:p>
            <a:endParaRPr lang="ko-IN"/>
          </a:p>
        </p:txBody>
      </p:sp>
      <p:sp>
        <p:nvSpPr>
          <p:cNvPr id="43" name="txt-253"/>
          <p:cNvSpPr txBox="1"/>
          <p:nvPr/>
        </p:nvSpPr>
        <p:spPr>
          <a:xfrm>
            <a:off x="8458200" y="3355848"/>
            <a:ext cx="3017520" cy="274320"/>
          </a:xfrm>
          <a:prstGeom prst="rect">
            <a:avLst/>
          </a:prstGeom>
          <a:noFill/>
          <a:ln/>
        </p:spPr>
        <p:txBody>
          <a:bodyPr wrap="square" lIns="0" tIns="0" rIns="0" bIns="0" rtlCol="0" anchor="t"/>
          <a:lstStyle/>
          <a:p>
            <a:pPr marL="0" indent="0">
              <a:buNone/>
            </a:pPr>
            <a:r>
              <a:rPr lang="en-US" sz="1400" dirty="0">
                <a:solidFill>
                  <a:schemeClr val="tx1"/>
                </a:solidFill>
              </a:rPr>
              <a:t>Pest alert</a:t>
            </a:r>
            <a:endParaRPr lang="en-US" sz="1400" dirty="0"/>
          </a:p>
        </p:txBody>
      </p:sp>
      <p:sp>
        <p:nvSpPr>
          <p:cNvPr id="44" name="line-254"/>
          <p:cNvSpPr/>
          <p:nvPr/>
        </p:nvSpPr>
        <p:spPr>
          <a:xfrm>
            <a:off x="8458200" y="3703320"/>
            <a:ext cx="2953512" cy="0"/>
          </a:xfrm>
          <a:prstGeom prst="line">
            <a:avLst/>
          </a:prstGeom>
          <a:noFill/>
          <a:ln w="9525">
            <a:solidFill>
              <a:schemeClr val="accent5"/>
            </a:solidFill>
            <a:prstDash val="solid"/>
          </a:ln>
        </p:spPr>
        <p:txBody>
          <a:bodyPr/>
          <a:lstStyle/>
          <a:p>
            <a:endParaRPr lang="ko-IN"/>
          </a:p>
        </p:txBody>
      </p:sp>
      <p:sp>
        <p:nvSpPr>
          <p:cNvPr id="45" name="txt-255"/>
          <p:cNvSpPr txBox="1"/>
          <p:nvPr/>
        </p:nvSpPr>
        <p:spPr>
          <a:xfrm>
            <a:off x="8458200" y="3813048"/>
            <a:ext cx="3017520" cy="274320"/>
          </a:xfrm>
          <a:prstGeom prst="rect">
            <a:avLst/>
          </a:prstGeom>
          <a:noFill/>
          <a:ln/>
        </p:spPr>
        <p:txBody>
          <a:bodyPr wrap="square" lIns="0" tIns="0" rIns="0" bIns="0" rtlCol="0" anchor="t"/>
          <a:lstStyle/>
          <a:p>
            <a:pPr marL="0" indent="0">
              <a:buNone/>
            </a:pPr>
            <a:r>
              <a:rPr lang="en-US" sz="1400" dirty="0">
                <a:solidFill>
                  <a:schemeClr val="tx1"/>
                </a:solidFill>
              </a:rPr>
              <a:t>Crop-health alert</a:t>
            </a:r>
            <a:endParaRPr lang="en-US" sz="1400" dirty="0"/>
          </a:p>
        </p:txBody>
      </p:sp>
      <p:sp>
        <p:nvSpPr>
          <p:cNvPr id="46" name="line-256"/>
          <p:cNvSpPr/>
          <p:nvPr/>
        </p:nvSpPr>
        <p:spPr>
          <a:xfrm>
            <a:off x="8458200" y="4160520"/>
            <a:ext cx="2953512" cy="0"/>
          </a:xfrm>
          <a:prstGeom prst="line">
            <a:avLst/>
          </a:prstGeom>
          <a:noFill/>
          <a:ln w="9525">
            <a:solidFill>
              <a:schemeClr val="accent5"/>
            </a:solidFill>
            <a:prstDash val="solid"/>
          </a:ln>
        </p:spPr>
        <p:txBody>
          <a:bodyPr/>
          <a:lstStyle/>
          <a:p>
            <a:endParaRPr lang="ko-IN"/>
          </a:p>
        </p:txBody>
      </p:sp>
      <p:sp>
        <p:nvSpPr>
          <p:cNvPr id="47" name="txt-257"/>
          <p:cNvSpPr txBox="1"/>
          <p:nvPr/>
        </p:nvSpPr>
        <p:spPr>
          <a:xfrm>
            <a:off x="8458200" y="4270248"/>
            <a:ext cx="3017520" cy="274320"/>
          </a:xfrm>
          <a:prstGeom prst="rect">
            <a:avLst/>
          </a:prstGeom>
          <a:noFill/>
          <a:ln/>
        </p:spPr>
        <p:txBody>
          <a:bodyPr wrap="square" lIns="0" tIns="0" rIns="0" bIns="0" rtlCol="0" anchor="t"/>
          <a:lstStyle/>
          <a:p>
            <a:pPr marL="0" indent="0">
              <a:buNone/>
            </a:pPr>
            <a:r>
              <a:rPr lang="en-US" sz="1400" dirty="0">
                <a:solidFill>
                  <a:schemeClr val="tx1"/>
                </a:solidFill>
              </a:rPr>
              <a:t>Harvest timing</a:t>
            </a:r>
            <a:endParaRPr lang="en-US" sz="1400" dirty="0"/>
          </a:p>
        </p:txBody>
      </p:sp>
      <p:sp>
        <p:nvSpPr>
          <p:cNvPr id="48" name="line-258"/>
          <p:cNvSpPr/>
          <p:nvPr/>
        </p:nvSpPr>
        <p:spPr>
          <a:xfrm>
            <a:off x="8458200" y="4617720"/>
            <a:ext cx="2953512" cy="0"/>
          </a:xfrm>
          <a:prstGeom prst="line">
            <a:avLst/>
          </a:prstGeom>
          <a:noFill/>
          <a:ln w="9525">
            <a:solidFill>
              <a:schemeClr val="accent5"/>
            </a:solidFill>
            <a:prstDash val="solid"/>
          </a:ln>
        </p:spPr>
        <p:txBody>
          <a:bodyPr/>
          <a:lstStyle/>
          <a:p>
            <a:endParaRPr lang="ko-IN"/>
          </a:p>
        </p:txBody>
      </p:sp>
      <p:sp>
        <p:nvSpPr>
          <p:cNvPr id="49" name="txt-259"/>
          <p:cNvSpPr txBox="1"/>
          <p:nvPr/>
        </p:nvSpPr>
        <p:spPr>
          <a:xfrm>
            <a:off x="8458200" y="4727448"/>
            <a:ext cx="3017520" cy="274320"/>
          </a:xfrm>
          <a:prstGeom prst="rect">
            <a:avLst/>
          </a:prstGeom>
          <a:noFill/>
          <a:ln/>
        </p:spPr>
        <p:txBody>
          <a:bodyPr wrap="square" lIns="0" tIns="0" rIns="0" bIns="0" rtlCol="0" anchor="t"/>
          <a:lstStyle/>
          <a:p>
            <a:pPr marL="0" indent="0">
              <a:buNone/>
            </a:pPr>
            <a:r>
              <a:rPr lang="en-US" sz="1400" dirty="0">
                <a:solidFill>
                  <a:schemeClr val="tx1"/>
                </a:solidFill>
              </a:rPr>
              <a:t>Market timing</a:t>
            </a:r>
            <a:endParaRPr lang="en-US" sz="1400" dirty="0"/>
          </a:p>
        </p:txBody>
      </p:sp>
      <p:sp>
        <p:nvSpPr>
          <p:cNvPr id="50" name="box-260"/>
          <p:cNvSpPr txBox="1"/>
          <p:nvPr/>
        </p:nvSpPr>
        <p:spPr>
          <a:xfrm>
            <a:off x="4617720" y="4224528"/>
            <a:ext cx="2953512" cy="685800"/>
          </a:xfrm>
          <a:prstGeom prst="rect">
            <a:avLst/>
          </a:prstGeom>
          <a:solidFill>
            <a:schemeClr val="accent5"/>
          </a:solidFill>
          <a:ln/>
        </p:spPr>
        <p:txBody>
          <a:bodyPr wrap="square" lIns="73152" tIns="73152" rIns="73152" bIns="73152" rtlCol="0" anchor="ctr"/>
          <a:lstStyle/>
          <a:p>
            <a:pPr marL="0" indent="0" algn="ctr">
              <a:buNone/>
            </a:pPr>
            <a:r>
              <a:rPr lang="en-US" sz="1400" b="1" dirty="0">
                <a:solidFill>
                  <a:schemeClr val="tx2"/>
                </a:solidFill>
              </a:rPr>
              <a:t>Decision fusion → one ranked set of actions</a:t>
            </a:r>
            <a:endParaRPr lang="en-US" sz="1400" dirty="0"/>
          </a:p>
        </p:txBody>
      </p:sp>
      <p:sp>
        <p:nvSpPr>
          <p:cNvPr id="51" name="txt-261"/>
          <p:cNvSpPr txBox="1"/>
          <p:nvPr/>
        </p:nvSpPr>
        <p:spPr>
          <a:xfrm>
            <a:off x="548640" y="5303520"/>
            <a:ext cx="11091672" cy="640080"/>
          </a:xfrm>
          <a:prstGeom prst="rect">
            <a:avLst/>
          </a:prstGeom>
          <a:noFill/>
          <a:ln/>
        </p:spPr>
        <p:txBody>
          <a:bodyPr wrap="square" lIns="0" tIns="0" rIns="0" bIns="0" rtlCol="0" anchor="t"/>
          <a:lstStyle/>
          <a:p>
            <a:pPr marL="0" indent="0">
              <a:buNone/>
            </a:pPr>
            <a:r>
              <a:rPr lang="en-US" sz="1400" b="1" dirty="0">
                <a:solidFill>
                  <a:schemeClr val="tx2"/>
                </a:solidFill>
              </a:rPr>
              <a:t>Decision fusion </a:t>
            </a:r>
            <a:r>
              <a:rPr lang="en-US" sz="1400" dirty="0">
                <a:solidFill>
                  <a:schemeClr val="tx1"/>
                </a:solidFill>
              </a:rPr>
              <a:t>combines signals from every source into one farm-level context before actions are ranked. </a:t>
            </a:r>
            <a:r>
              <a:rPr lang="en-US" sz="1400" i="1" dirty="0">
                <a:solidFill>
                  <a:schemeClr val="accent4"/>
                </a:solidFill>
              </a:rPr>
              <a:t>Outcome and feedback flow back to stage 02 for evaluation and model improvement.</a:t>
            </a:r>
            <a:endParaRPr lang="en-US" sz="1400" dirty="0"/>
          </a:p>
        </p:txBody>
      </p:sp>
      <p:sp>
        <p:nvSpPr>
          <p:cNvPr id="6" name="Slide Number Placeholder 0"/>
          <p:cNvSpPr>
            <a:spLocks noGrp="1"/>
          </p:cNvSpPr>
          <p:nvPr>
            <p:ph type="sldNum" sz="quarter" idx="4294967295"/>
          </p:nvPr>
        </p:nvSpPr>
        <p:spPr>
          <a:xfrm>
            <a:off x="11064240" y="6446520"/>
            <a:ext cx="576072"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dot-262"/>
          <p:cNvSpPr/>
          <p:nvPr/>
        </p:nvSpPr>
        <p:spPr>
          <a:xfrm>
            <a:off x="548640" y="429768"/>
            <a:ext cx="118872" cy="118872"/>
          </a:xfrm>
          <a:prstGeom prst="ellipse">
            <a:avLst/>
          </a:prstGeom>
          <a:solidFill>
            <a:schemeClr val="accent3"/>
          </a:solidFill>
          <a:ln/>
        </p:spPr>
        <p:txBody>
          <a:bodyPr/>
          <a:lstStyle/>
          <a:p>
            <a:endParaRPr lang="ko-IN"/>
          </a:p>
        </p:txBody>
      </p:sp>
      <p:sp>
        <p:nvSpPr>
          <p:cNvPr id="3" name="txt-263"/>
          <p:cNvSpPr txBox="1"/>
          <p:nvPr/>
        </p:nvSpPr>
        <p:spPr>
          <a:xfrm>
            <a:off x="768096" y="384048"/>
            <a:ext cx="6400800" cy="256032"/>
          </a:xfrm>
          <a:prstGeom prst="rect">
            <a:avLst/>
          </a:prstGeom>
          <a:noFill/>
          <a:ln/>
        </p:spPr>
        <p:txBody>
          <a:bodyPr wrap="square" lIns="0" tIns="0" rIns="0" bIns="0" rtlCol="0" anchor="t"/>
          <a:lstStyle/>
          <a:p>
            <a:pPr marL="0" indent="0">
              <a:buNone/>
            </a:pPr>
            <a:r>
              <a:rPr lang="en-US" sz="1200" b="1" kern="0" spc="200" dirty="0">
                <a:solidFill>
                  <a:schemeClr val="accent4"/>
                </a:solidFill>
              </a:rPr>
              <a:t>06  ·  TECHNICAL DESIGN</a:t>
            </a:r>
            <a:endParaRPr lang="en-US" sz="1200" dirty="0"/>
          </a:p>
        </p:txBody>
      </p:sp>
      <p:sp>
        <p:nvSpPr>
          <p:cNvPr id="4" name="box-264"/>
          <p:cNvSpPr txBox="1"/>
          <p:nvPr/>
        </p:nvSpPr>
        <p:spPr>
          <a:xfrm>
            <a:off x="9537192" y="365760"/>
            <a:ext cx="2103120" cy="274320"/>
          </a:xfrm>
          <a:prstGeom prst="rect">
            <a:avLst/>
          </a:prstGeom>
          <a:ln w="12700">
            <a:solidFill>
              <a:schemeClr val="accent4"/>
            </a:solidFill>
          </a:ln>
        </p:spPr>
        <p:txBody>
          <a:bodyPr wrap="square" lIns="0" tIns="0" rIns="0" bIns="0" rtlCol="0" anchor="ctr"/>
          <a:lstStyle/>
          <a:p>
            <a:pPr marL="0" indent="0" algn="ctr">
              <a:buNone/>
            </a:pPr>
            <a:r>
              <a:rPr lang="en-US" sz="1000" b="1" dirty="0">
                <a:solidFill>
                  <a:schemeClr val="accent4"/>
                </a:solidFill>
              </a:rPr>
              <a:t>PROPOSED ARCHITECTURE</a:t>
            </a:r>
            <a:endParaRPr lang="en-US" sz="1000" dirty="0"/>
          </a:p>
        </p:txBody>
      </p:sp>
      <p:sp>
        <p:nvSpPr>
          <p:cNvPr id="5" name="Text 1"/>
          <p:cNvSpPr>
            <a:spLocks noGrp="1"/>
          </p:cNvSpPr>
          <p:nvPr>
            <p:ph type="title" idx="101" hasCustomPrompt="1"/>
          </p:nvPr>
        </p:nvSpPr>
        <p:spPr>
          <a:xfrm>
            <a:off x="548640" y="658368"/>
            <a:ext cx="11091672" cy="731520"/>
          </a:xfrm>
          <a:prstGeom prst="rect">
            <a:avLst/>
          </a:prstGeom>
          <a:noFill/>
          <a:ln/>
        </p:spPr>
        <p:txBody>
          <a:bodyPr wrap="square" lIns="0" tIns="0" rIns="0" bIns="0" rtlCol="0" anchor="t"/>
          <a:lstStyle/>
          <a:p>
            <a:pPr marL="0" indent="0" algn="l">
              <a:buNone/>
            </a:pPr>
            <a:r>
              <a:rPr lang="en-US" sz="3600" b="1" dirty="0">
                <a:solidFill>
                  <a:schemeClr val="tx2"/>
                </a:solidFill>
              </a:rPr>
              <a:t>System architecture</a:t>
            </a:r>
            <a:endParaRPr lang="en-US" sz="3600" dirty="0"/>
          </a:p>
        </p:txBody>
      </p:sp>
      <p:sp>
        <p:nvSpPr>
          <p:cNvPr id="7" name="shape-265"/>
          <p:cNvSpPr/>
          <p:nvPr/>
        </p:nvSpPr>
        <p:spPr>
          <a:xfrm>
            <a:off x="548640" y="1554480"/>
            <a:ext cx="11091672" cy="1371600"/>
          </a:xfrm>
          <a:prstGeom prst="rect">
            <a:avLst/>
          </a:prstGeom>
          <a:solidFill>
            <a:schemeClr val="accent5">
              <a:alpha val="55000"/>
            </a:schemeClr>
          </a:solidFill>
          <a:ln/>
        </p:spPr>
        <p:txBody>
          <a:bodyPr/>
          <a:lstStyle/>
          <a:p>
            <a:endParaRPr lang="ko-IN"/>
          </a:p>
        </p:txBody>
      </p:sp>
      <p:sp>
        <p:nvSpPr>
          <p:cNvPr id="8" name="txt-266"/>
          <p:cNvSpPr txBox="1"/>
          <p:nvPr/>
        </p:nvSpPr>
        <p:spPr>
          <a:xfrm>
            <a:off x="713232" y="1691640"/>
            <a:ext cx="1051560" cy="731520"/>
          </a:xfrm>
          <a:prstGeom prst="rect">
            <a:avLst/>
          </a:prstGeom>
          <a:noFill/>
          <a:ln/>
        </p:spPr>
        <p:txBody>
          <a:bodyPr wrap="square" lIns="0" tIns="0" rIns="0" bIns="0" rtlCol="0" anchor="t"/>
          <a:lstStyle/>
          <a:p>
            <a:pPr marL="0" indent="0">
              <a:buNone/>
            </a:pPr>
            <a:r>
              <a:rPr lang="en-US" sz="1100" b="1" kern="0" spc="100" dirty="0">
                <a:solidFill>
                  <a:schemeClr val="accent4"/>
                </a:solidFill>
              </a:rPr>
              <a:t>DATA LAYER</a:t>
            </a:r>
            <a:endParaRPr lang="en-US" sz="1100" dirty="0"/>
          </a:p>
        </p:txBody>
      </p:sp>
      <p:sp>
        <p:nvSpPr>
          <p:cNvPr id="9" name="shape-267"/>
          <p:cNvSpPr/>
          <p:nvPr/>
        </p:nvSpPr>
        <p:spPr>
          <a:xfrm>
            <a:off x="548640" y="3108960"/>
            <a:ext cx="11091672" cy="1371600"/>
          </a:xfrm>
          <a:prstGeom prst="rect">
            <a:avLst/>
          </a:prstGeom>
          <a:solidFill>
            <a:schemeClr val="accent5">
              <a:alpha val="55000"/>
            </a:schemeClr>
          </a:solidFill>
          <a:ln/>
        </p:spPr>
        <p:txBody>
          <a:bodyPr/>
          <a:lstStyle/>
          <a:p>
            <a:endParaRPr lang="ko-IN"/>
          </a:p>
        </p:txBody>
      </p:sp>
      <p:sp>
        <p:nvSpPr>
          <p:cNvPr id="10" name="txt-268"/>
          <p:cNvSpPr txBox="1"/>
          <p:nvPr/>
        </p:nvSpPr>
        <p:spPr>
          <a:xfrm>
            <a:off x="713232" y="3246120"/>
            <a:ext cx="1051560" cy="731520"/>
          </a:xfrm>
          <a:prstGeom prst="rect">
            <a:avLst/>
          </a:prstGeom>
          <a:noFill/>
          <a:ln/>
        </p:spPr>
        <p:txBody>
          <a:bodyPr wrap="square" lIns="0" tIns="0" rIns="0" bIns="0" rtlCol="0" anchor="t"/>
          <a:lstStyle/>
          <a:p>
            <a:pPr marL="0" indent="0">
              <a:buNone/>
            </a:pPr>
            <a:r>
              <a:rPr lang="en-US" sz="1100" b="1" kern="0" spc="100" dirty="0">
                <a:solidFill>
                  <a:schemeClr val="accent4"/>
                </a:solidFill>
              </a:rPr>
              <a:t>INTELLIGENCE LAYER</a:t>
            </a:r>
            <a:endParaRPr lang="en-US" sz="1100" dirty="0"/>
          </a:p>
        </p:txBody>
      </p:sp>
      <p:sp>
        <p:nvSpPr>
          <p:cNvPr id="11" name="shape-269"/>
          <p:cNvSpPr/>
          <p:nvPr/>
        </p:nvSpPr>
        <p:spPr>
          <a:xfrm>
            <a:off x="548640" y="4663440"/>
            <a:ext cx="11091672" cy="1280160"/>
          </a:xfrm>
          <a:prstGeom prst="rect">
            <a:avLst/>
          </a:prstGeom>
          <a:solidFill>
            <a:schemeClr val="accent5">
              <a:alpha val="55000"/>
            </a:schemeClr>
          </a:solidFill>
          <a:ln/>
        </p:spPr>
        <p:txBody>
          <a:bodyPr/>
          <a:lstStyle/>
          <a:p>
            <a:endParaRPr lang="ko-IN"/>
          </a:p>
        </p:txBody>
      </p:sp>
      <p:sp>
        <p:nvSpPr>
          <p:cNvPr id="12" name="txt-270"/>
          <p:cNvSpPr txBox="1"/>
          <p:nvPr/>
        </p:nvSpPr>
        <p:spPr>
          <a:xfrm>
            <a:off x="713232" y="4800600"/>
            <a:ext cx="1051560" cy="731520"/>
          </a:xfrm>
          <a:prstGeom prst="rect">
            <a:avLst/>
          </a:prstGeom>
          <a:noFill/>
          <a:ln/>
        </p:spPr>
        <p:txBody>
          <a:bodyPr wrap="square" lIns="0" tIns="0" rIns="0" bIns="0" rtlCol="0" anchor="t"/>
          <a:lstStyle/>
          <a:p>
            <a:pPr marL="0" indent="0">
              <a:buNone/>
            </a:pPr>
            <a:r>
              <a:rPr lang="en-US" sz="1100" b="1" kern="0" spc="100" dirty="0">
                <a:solidFill>
                  <a:schemeClr val="accent4"/>
                </a:solidFill>
              </a:rPr>
              <a:t>APPLICATION &amp; FEEDBACK</a:t>
            </a:r>
            <a:endParaRPr lang="en-US" sz="1100" dirty="0"/>
          </a:p>
        </p:txBody>
      </p:sp>
      <p:sp>
        <p:nvSpPr>
          <p:cNvPr id="13" name="box-271"/>
          <p:cNvSpPr txBox="1"/>
          <p:nvPr/>
        </p:nvSpPr>
        <p:spPr>
          <a:xfrm>
            <a:off x="1828800" y="1691640"/>
            <a:ext cx="1463040" cy="475488"/>
          </a:xfrm>
          <a:prstGeom prst="rect">
            <a:avLst/>
          </a:prstGeom>
          <a:solidFill>
            <a:schemeClr val="bg1"/>
          </a:solidFill>
          <a:ln w="12700">
            <a:solidFill>
              <a:schemeClr val="accent2"/>
            </a:solidFill>
          </a:ln>
        </p:spPr>
        <p:txBody>
          <a:bodyPr wrap="square" lIns="36576" tIns="36576" rIns="36576" bIns="36576" rtlCol="0" anchor="ctr"/>
          <a:lstStyle/>
          <a:p>
            <a:pPr marL="0" indent="0" algn="ctr">
              <a:buNone/>
            </a:pPr>
            <a:r>
              <a:rPr lang="en-US" sz="1200" dirty="0">
                <a:solidFill>
                  <a:schemeClr val="tx1"/>
                </a:solidFill>
              </a:rPr>
              <a:t>Weather APIs</a:t>
            </a:r>
            <a:endParaRPr lang="en-US" sz="1200" dirty="0"/>
          </a:p>
        </p:txBody>
      </p:sp>
      <p:sp>
        <p:nvSpPr>
          <p:cNvPr id="14" name="box-272"/>
          <p:cNvSpPr txBox="1"/>
          <p:nvPr/>
        </p:nvSpPr>
        <p:spPr>
          <a:xfrm>
            <a:off x="3401568" y="1691640"/>
            <a:ext cx="1463040" cy="475488"/>
          </a:xfrm>
          <a:prstGeom prst="rect">
            <a:avLst/>
          </a:prstGeom>
          <a:solidFill>
            <a:schemeClr val="bg1"/>
          </a:solidFill>
          <a:ln w="12700">
            <a:solidFill>
              <a:schemeClr val="accent2"/>
            </a:solidFill>
          </a:ln>
        </p:spPr>
        <p:txBody>
          <a:bodyPr wrap="square" lIns="36576" tIns="36576" rIns="36576" bIns="36576" rtlCol="0" anchor="ctr"/>
          <a:lstStyle/>
          <a:p>
            <a:pPr marL="0" indent="0" algn="ctr">
              <a:buNone/>
            </a:pPr>
            <a:r>
              <a:rPr lang="en-US" sz="1200" dirty="0">
                <a:solidFill>
                  <a:schemeClr val="tx1"/>
                </a:solidFill>
              </a:rPr>
              <a:t>Soil data</a:t>
            </a:r>
            <a:endParaRPr lang="en-US" sz="1200" dirty="0"/>
          </a:p>
        </p:txBody>
      </p:sp>
      <p:sp>
        <p:nvSpPr>
          <p:cNvPr id="15" name="box-273"/>
          <p:cNvSpPr txBox="1"/>
          <p:nvPr/>
        </p:nvSpPr>
        <p:spPr>
          <a:xfrm>
            <a:off x="4974336" y="1691640"/>
            <a:ext cx="1463040" cy="475488"/>
          </a:xfrm>
          <a:prstGeom prst="rect">
            <a:avLst/>
          </a:prstGeom>
          <a:solidFill>
            <a:schemeClr val="bg1"/>
          </a:solidFill>
          <a:ln w="12700">
            <a:solidFill>
              <a:schemeClr val="accent2"/>
            </a:solidFill>
          </a:ln>
        </p:spPr>
        <p:txBody>
          <a:bodyPr wrap="square" lIns="36576" tIns="36576" rIns="36576" bIns="36576" rtlCol="0" anchor="ctr"/>
          <a:lstStyle/>
          <a:p>
            <a:pPr marL="0" indent="0" algn="ctr">
              <a:buNone/>
            </a:pPr>
            <a:r>
              <a:rPr lang="en-US" sz="1200" dirty="0">
                <a:solidFill>
                  <a:schemeClr val="tx1"/>
                </a:solidFill>
              </a:rPr>
              <a:t>Satellite imagery</a:t>
            </a:r>
            <a:endParaRPr lang="en-US" sz="1200" dirty="0"/>
          </a:p>
        </p:txBody>
      </p:sp>
      <p:sp>
        <p:nvSpPr>
          <p:cNvPr id="16" name="box-274"/>
          <p:cNvSpPr txBox="1"/>
          <p:nvPr/>
        </p:nvSpPr>
        <p:spPr>
          <a:xfrm>
            <a:off x="1828800" y="2286000"/>
            <a:ext cx="1463040" cy="475488"/>
          </a:xfrm>
          <a:prstGeom prst="rect">
            <a:avLst/>
          </a:prstGeom>
          <a:solidFill>
            <a:schemeClr val="bg1"/>
          </a:solidFill>
          <a:ln w="12700">
            <a:solidFill>
              <a:schemeClr val="accent2"/>
            </a:solidFill>
          </a:ln>
        </p:spPr>
        <p:txBody>
          <a:bodyPr wrap="square" lIns="36576" tIns="36576" rIns="36576" bIns="36576" rtlCol="0" anchor="ctr"/>
          <a:lstStyle/>
          <a:p>
            <a:pPr marL="0" indent="0" algn="ctr">
              <a:buNone/>
            </a:pPr>
            <a:r>
              <a:rPr lang="en-US" sz="1200" dirty="0">
                <a:solidFill>
                  <a:schemeClr val="tx1"/>
                </a:solidFill>
              </a:rPr>
              <a:t>Market data</a:t>
            </a:r>
            <a:endParaRPr lang="en-US" sz="1200" dirty="0"/>
          </a:p>
        </p:txBody>
      </p:sp>
      <p:sp>
        <p:nvSpPr>
          <p:cNvPr id="17" name="box-275"/>
          <p:cNvSpPr txBox="1"/>
          <p:nvPr/>
        </p:nvSpPr>
        <p:spPr>
          <a:xfrm>
            <a:off x="3401568" y="2286000"/>
            <a:ext cx="1463040" cy="475488"/>
          </a:xfrm>
          <a:prstGeom prst="rect">
            <a:avLst/>
          </a:prstGeom>
          <a:solidFill>
            <a:schemeClr val="bg1"/>
          </a:solidFill>
          <a:ln w="12700">
            <a:solidFill>
              <a:schemeClr val="accent2"/>
            </a:solidFill>
          </a:ln>
        </p:spPr>
        <p:txBody>
          <a:bodyPr wrap="square" lIns="36576" tIns="36576" rIns="36576" bIns="36576" rtlCol="0" anchor="ctr"/>
          <a:lstStyle/>
          <a:p>
            <a:pPr marL="0" indent="0" algn="ctr">
              <a:buNone/>
            </a:pPr>
            <a:r>
              <a:rPr lang="en-US" sz="1200" dirty="0">
                <a:solidFill>
                  <a:schemeClr val="tx1"/>
                </a:solidFill>
              </a:rPr>
              <a:t>Farm profile</a:t>
            </a:r>
            <a:endParaRPr lang="en-US" sz="1200" dirty="0"/>
          </a:p>
        </p:txBody>
      </p:sp>
      <p:sp>
        <p:nvSpPr>
          <p:cNvPr id="18" name="box-276"/>
          <p:cNvSpPr txBox="1"/>
          <p:nvPr/>
        </p:nvSpPr>
        <p:spPr>
          <a:xfrm>
            <a:off x="4974336" y="2286000"/>
            <a:ext cx="1463040" cy="475488"/>
          </a:xfrm>
          <a:prstGeom prst="rect">
            <a:avLst/>
          </a:prstGeom>
          <a:solidFill>
            <a:schemeClr val="bg1"/>
          </a:solidFill>
          <a:ln w="12700">
            <a:solidFill>
              <a:schemeClr val="accent2"/>
            </a:solidFill>
          </a:ln>
        </p:spPr>
        <p:txBody>
          <a:bodyPr wrap="square" lIns="36576" tIns="36576" rIns="36576" bIns="36576" rtlCol="0" anchor="ctr"/>
          <a:lstStyle/>
          <a:p>
            <a:pPr marL="0" indent="0" algn="ctr">
              <a:buNone/>
            </a:pPr>
            <a:r>
              <a:rPr lang="en-US" sz="1200" dirty="0">
                <a:solidFill>
                  <a:schemeClr val="tx1"/>
                </a:solidFill>
              </a:rPr>
              <a:t>Crop / pest information</a:t>
            </a:r>
            <a:endParaRPr lang="en-US" sz="1200" dirty="0"/>
          </a:p>
        </p:txBody>
      </p:sp>
      <p:sp>
        <p:nvSpPr>
          <p:cNvPr id="19" name="line-277"/>
          <p:cNvSpPr/>
          <p:nvPr/>
        </p:nvSpPr>
        <p:spPr>
          <a:xfrm>
            <a:off x="6492240" y="2240280"/>
            <a:ext cx="320040" cy="0"/>
          </a:xfrm>
          <a:prstGeom prst="line">
            <a:avLst/>
          </a:prstGeom>
          <a:noFill/>
          <a:ln w="19050">
            <a:solidFill>
              <a:schemeClr val="tx2"/>
            </a:solidFill>
            <a:prstDash val="solid"/>
            <a:tailEnd type="triangle"/>
          </a:ln>
        </p:spPr>
        <p:txBody>
          <a:bodyPr/>
          <a:lstStyle/>
          <a:p>
            <a:endParaRPr lang="ko-IN"/>
          </a:p>
        </p:txBody>
      </p:sp>
      <p:sp>
        <p:nvSpPr>
          <p:cNvPr id="20" name="box-278"/>
          <p:cNvSpPr txBox="1"/>
          <p:nvPr/>
        </p:nvSpPr>
        <p:spPr>
          <a:xfrm>
            <a:off x="6812280" y="1783080"/>
            <a:ext cx="2011680" cy="914400"/>
          </a:xfrm>
          <a:prstGeom prst="rect">
            <a:avLst/>
          </a:prstGeom>
          <a:solidFill>
            <a:schemeClr val="bg1"/>
          </a:solidFill>
          <a:ln w="9525">
            <a:solidFill>
              <a:schemeClr val="accent4"/>
            </a:solidFill>
          </a:ln>
        </p:spPr>
        <p:txBody>
          <a:bodyPr wrap="square" lIns="73152" tIns="73152" rIns="73152" bIns="73152" rtlCol="0" anchor="ctr"/>
          <a:lstStyle/>
          <a:p>
            <a:pPr marL="0" indent="0" algn="ctr">
              <a:buNone/>
            </a:pPr>
            <a:r>
              <a:rPr lang="en-US" sz="1300" b="1" dirty="0">
                <a:solidFill>
                  <a:schemeClr val="tx1"/>
                </a:solidFill>
              </a:rPr>
              <a:t>Data ingestion</a:t>
            </a:r>
            <a:endParaRPr lang="en-US" sz="1300" dirty="0"/>
          </a:p>
        </p:txBody>
      </p:sp>
      <p:sp>
        <p:nvSpPr>
          <p:cNvPr id="21" name="line-279"/>
          <p:cNvSpPr/>
          <p:nvPr/>
        </p:nvSpPr>
        <p:spPr>
          <a:xfrm>
            <a:off x="8823960" y="2240280"/>
            <a:ext cx="365760" cy="0"/>
          </a:xfrm>
          <a:prstGeom prst="line">
            <a:avLst/>
          </a:prstGeom>
          <a:noFill/>
          <a:ln w="19050">
            <a:solidFill>
              <a:schemeClr val="tx2"/>
            </a:solidFill>
            <a:prstDash val="solid"/>
            <a:tailEnd type="triangle"/>
          </a:ln>
        </p:spPr>
        <p:txBody>
          <a:bodyPr/>
          <a:lstStyle/>
          <a:p>
            <a:endParaRPr lang="ko-IN"/>
          </a:p>
        </p:txBody>
      </p:sp>
      <p:sp>
        <p:nvSpPr>
          <p:cNvPr id="22" name="box-280"/>
          <p:cNvSpPr txBox="1"/>
          <p:nvPr/>
        </p:nvSpPr>
        <p:spPr>
          <a:xfrm>
            <a:off x="9189720" y="1783080"/>
            <a:ext cx="2011680" cy="914400"/>
          </a:xfrm>
          <a:prstGeom prst="rect">
            <a:avLst/>
          </a:prstGeom>
          <a:solidFill>
            <a:schemeClr val="bg1"/>
          </a:solidFill>
          <a:ln w="9525">
            <a:solidFill>
              <a:schemeClr val="accent4"/>
            </a:solidFill>
          </a:ln>
        </p:spPr>
        <p:txBody>
          <a:bodyPr wrap="square" lIns="73152" tIns="73152" rIns="73152" bIns="73152" rtlCol="0" anchor="ctr"/>
          <a:lstStyle/>
          <a:p>
            <a:pPr marL="0" indent="0" algn="ctr">
              <a:buNone/>
            </a:pPr>
            <a:r>
              <a:rPr lang="en-US" sz="1300" b="1" dirty="0">
                <a:solidFill>
                  <a:schemeClr val="tx1"/>
                </a:solidFill>
              </a:rPr>
              <a:t>Preprocessing / normalization</a:t>
            </a:r>
            <a:endParaRPr lang="en-US" sz="1300" dirty="0"/>
          </a:p>
        </p:txBody>
      </p:sp>
      <p:sp>
        <p:nvSpPr>
          <p:cNvPr id="23" name="line-281"/>
          <p:cNvSpPr/>
          <p:nvPr/>
        </p:nvSpPr>
        <p:spPr>
          <a:xfrm>
            <a:off x="10195560" y="2697480"/>
            <a:ext cx="0" cy="594360"/>
          </a:xfrm>
          <a:prstGeom prst="line">
            <a:avLst/>
          </a:prstGeom>
          <a:noFill/>
          <a:ln w="19050">
            <a:solidFill>
              <a:schemeClr val="tx2"/>
            </a:solidFill>
            <a:prstDash val="solid"/>
            <a:tailEnd type="triangle"/>
          </a:ln>
        </p:spPr>
        <p:txBody>
          <a:bodyPr/>
          <a:lstStyle/>
          <a:p>
            <a:endParaRPr lang="ko-IN"/>
          </a:p>
        </p:txBody>
      </p:sp>
      <p:sp>
        <p:nvSpPr>
          <p:cNvPr id="24" name="box-282"/>
          <p:cNvSpPr txBox="1"/>
          <p:nvPr/>
        </p:nvSpPr>
        <p:spPr>
          <a:xfrm>
            <a:off x="9189720" y="3291840"/>
            <a:ext cx="2011680" cy="1005840"/>
          </a:xfrm>
          <a:prstGeom prst="rect">
            <a:avLst/>
          </a:prstGeom>
          <a:solidFill>
            <a:schemeClr val="bg1"/>
          </a:solidFill>
          <a:ln w="9525">
            <a:solidFill>
              <a:schemeClr val="accent4"/>
            </a:solidFill>
          </a:ln>
        </p:spPr>
        <p:txBody>
          <a:bodyPr wrap="square" lIns="73152" tIns="73152" rIns="73152" bIns="73152" rtlCol="0" anchor="ctr"/>
          <a:lstStyle/>
          <a:p>
            <a:pPr marL="0" indent="0" algn="ctr">
              <a:buNone/>
            </a:pPr>
            <a:r>
              <a:rPr lang="en-US" sz="1300" b="1" dirty="0">
                <a:solidFill>
                  <a:schemeClr val="tx1"/>
                </a:solidFill>
              </a:rPr>
              <a:t>Feature extraction</a:t>
            </a:r>
            <a:endParaRPr lang="en-US" sz="1300" dirty="0"/>
          </a:p>
        </p:txBody>
      </p:sp>
      <p:sp>
        <p:nvSpPr>
          <p:cNvPr id="25" name="line-283"/>
          <p:cNvSpPr/>
          <p:nvPr/>
        </p:nvSpPr>
        <p:spPr>
          <a:xfrm flipH="1">
            <a:off x="8778240" y="3794760"/>
            <a:ext cx="411480" cy="0"/>
          </a:xfrm>
          <a:prstGeom prst="line">
            <a:avLst/>
          </a:prstGeom>
          <a:noFill/>
          <a:ln w="19050">
            <a:solidFill>
              <a:schemeClr val="tx2"/>
            </a:solidFill>
            <a:prstDash val="solid"/>
            <a:tailEnd type="triangle"/>
          </a:ln>
        </p:spPr>
        <p:txBody>
          <a:bodyPr/>
          <a:lstStyle/>
          <a:p>
            <a:endParaRPr lang="ko-IN"/>
          </a:p>
        </p:txBody>
      </p:sp>
      <p:sp>
        <p:nvSpPr>
          <p:cNvPr id="26" name="box-284"/>
          <p:cNvSpPr txBox="1"/>
          <p:nvPr/>
        </p:nvSpPr>
        <p:spPr>
          <a:xfrm>
            <a:off x="6766560" y="3291840"/>
            <a:ext cx="2011680" cy="1005840"/>
          </a:xfrm>
          <a:prstGeom prst="rect">
            <a:avLst/>
          </a:prstGeom>
          <a:solidFill>
            <a:schemeClr val="bg1"/>
          </a:solidFill>
          <a:ln w="9525">
            <a:solidFill>
              <a:schemeClr val="accent4"/>
            </a:solidFill>
          </a:ln>
        </p:spPr>
        <p:txBody>
          <a:bodyPr wrap="square" lIns="73152" tIns="73152" rIns="73152" bIns="73152" rtlCol="0" anchor="ctr"/>
          <a:lstStyle/>
          <a:p>
            <a:pPr marL="0" indent="0" algn="ctr">
              <a:buNone/>
            </a:pPr>
            <a:r>
              <a:rPr lang="en-US" sz="1300" b="1" dirty="0">
                <a:solidFill>
                  <a:schemeClr val="tx1"/>
                </a:solidFill>
              </a:rPr>
              <a:t>AI / ML models</a:t>
            </a:r>
            <a:endParaRPr lang="en-US" sz="1300" dirty="0"/>
          </a:p>
        </p:txBody>
      </p:sp>
      <p:sp>
        <p:nvSpPr>
          <p:cNvPr id="27" name="line-285"/>
          <p:cNvSpPr/>
          <p:nvPr/>
        </p:nvSpPr>
        <p:spPr>
          <a:xfrm flipH="1">
            <a:off x="6355080" y="3794760"/>
            <a:ext cx="411480" cy="0"/>
          </a:xfrm>
          <a:prstGeom prst="line">
            <a:avLst/>
          </a:prstGeom>
          <a:noFill/>
          <a:ln w="19050">
            <a:solidFill>
              <a:schemeClr val="tx2"/>
            </a:solidFill>
            <a:prstDash val="solid"/>
            <a:tailEnd type="triangle"/>
          </a:ln>
        </p:spPr>
        <p:txBody>
          <a:bodyPr/>
          <a:lstStyle/>
          <a:p>
            <a:endParaRPr lang="ko-IN"/>
          </a:p>
        </p:txBody>
      </p:sp>
      <p:sp>
        <p:nvSpPr>
          <p:cNvPr id="28" name="box-286"/>
          <p:cNvSpPr txBox="1"/>
          <p:nvPr/>
        </p:nvSpPr>
        <p:spPr>
          <a:xfrm>
            <a:off x="4343400" y="3291840"/>
            <a:ext cx="2011680" cy="1005840"/>
          </a:xfrm>
          <a:prstGeom prst="rect">
            <a:avLst/>
          </a:prstGeom>
          <a:solidFill>
            <a:schemeClr val="tx2"/>
          </a:solidFill>
          <a:ln/>
        </p:spPr>
        <p:txBody>
          <a:bodyPr wrap="square" lIns="73152" tIns="73152" rIns="73152" bIns="73152" rtlCol="0" anchor="ctr"/>
          <a:lstStyle/>
          <a:p>
            <a:pPr marL="0" indent="0" algn="ctr">
              <a:buNone/>
            </a:pPr>
            <a:r>
              <a:rPr lang="en-US" sz="1300" b="1" dirty="0">
                <a:solidFill>
                  <a:schemeClr val="bg2"/>
                </a:solidFill>
              </a:rPr>
              <a:t>Decision Fusion Engine</a:t>
            </a:r>
            <a:endParaRPr lang="en-US" sz="1300" dirty="0"/>
          </a:p>
        </p:txBody>
      </p:sp>
      <p:sp>
        <p:nvSpPr>
          <p:cNvPr id="29" name="line-287"/>
          <p:cNvSpPr/>
          <p:nvPr/>
        </p:nvSpPr>
        <p:spPr>
          <a:xfrm flipH="1">
            <a:off x="3931920" y="3794760"/>
            <a:ext cx="411480" cy="0"/>
          </a:xfrm>
          <a:prstGeom prst="line">
            <a:avLst/>
          </a:prstGeom>
          <a:noFill/>
          <a:ln w="19050">
            <a:solidFill>
              <a:schemeClr val="tx2"/>
            </a:solidFill>
            <a:prstDash val="solid"/>
            <a:tailEnd type="triangle"/>
          </a:ln>
        </p:spPr>
        <p:txBody>
          <a:bodyPr/>
          <a:lstStyle/>
          <a:p>
            <a:endParaRPr lang="ko-IN"/>
          </a:p>
        </p:txBody>
      </p:sp>
      <p:sp>
        <p:nvSpPr>
          <p:cNvPr id="30" name="box-288"/>
          <p:cNvSpPr txBox="1"/>
          <p:nvPr/>
        </p:nvSpPr>
        <p:spPr>
          <a:xfrm>
            <a:off x="1920240" y="3291840"/>
            <a:ext cx="2011680" cy="1005840"/>
          </a:xfrm>
          <a:prstGeom prst="rect">
            <a:avLst/>
          </a:prstGeom>
          <a:solidFill>
            <a:schemeClr val="bg1"/>
          </a:solidFill>
          <a:ln w="9525">
            <a:solidFill>
              <a:schemeClr val="accent4"/>
            </a:solidFill>
          </a:ln>
        </p:spPr>
        <p:txBody>
          <a:bodyPr wrap="square" lIns="73152" tIns="73152" rIns="73152" bIns="73152" rtlCol="0" anchor="ctr"/>
          <a:lstStyle/>
          <a:p>
            <a:pPr marL="0" indent="0" algn="ctr">
              <a:buNone/>
            </a:pPr>
            <a:r>
              <a:rPr lang="en-US" sz="1300" b="1" dirty="0">
                <a:solidFill>
                  <a:schemeClr val="tx1"/>
                </a:solidFill>
              </a:rPr>
              <a:t>Recommendation Engine</a:t>
            </a:r>
            <a:endParaRPr lang="en-US" sz="1300" dirty="0"/>
          </a:p>
        </p:txBody>
      </p:sp>
      <p:sp>
        <p:nvSpPr>
          <p:cNvPr id="31" name="line-289"/>
          <p:cNvSpPr/>
          <p:nvPr/>
        </p:nvSpPr>
        <p:spPr>
          <a:xfrm>
            <a:off x="2926080" y="4297680"/>
            <a:ext cx="0" cy="548640"/>
          </a:xfrm>
          <a:prstGeom prst="line">
            <a:avLst/>
          </a:prstGeom>
          <a:noFill/>
          <a:ln w="19050">
            <a:solidFill>
              <a:schemeClr val="tx2"/>
            </a:solidFill>
            <a:prstDash val="solid"/>
            <a:tailEnd type="triangle"/>
          </a:ln>
        </p:spPr>
        <p:txBody>
          <a:bodyPr/>
          <a:lstStyle/>
          <a:p>
            <a:endParaRPr lang="ko-IN"/>
          </a:p>
        </p:txBody>
      </p:sp>
      <p:sp>
        <p:nvSpPr>
          <p:cNvPr id="32" name="box-290"/>
          <p:cNvSpPr txBox="1"/>
          <p:nvPr/>
        </p:nvSpPr>
        <p:spPr>
          <a:xfrm>
            <a:off x="1920240" y="4846320"/>
            <a:ext cx="2011680" cy="822960"/>
          </a:xfrm>
          <a:prstGeom prst="rect">
            <a:avLst/>
          </a:prstGeom>
          <a:solidFill>
            <a:schemeClr val="bg1"/>
          </a:solidFill>
          <a:ln w="9525">
            <a:solidFill>
              <a:schemeClr val="accent4"/>
            </a:solidFill>
          </a:ln>
        </p:spPr>
        <p:txBody>
          <a:bodyPr wrap="square" lIns="73152" tIns="73152" rIns="73152" bIns="73152" rtlCol="0" anchor="ctr"/>
          <a:lstStyle/>
          <a:p>
            <a:pPr marL="0" indent="0" algn="ctr">
              <a:buNone/>
            </a:pPr>
            <a:r>
              <a:rPr lang="en-US" sz="1300" b="1" dirty="0">
                <a:solidFill>
                  <a:schemeClr val="tx1"/>
                </a:solidFill>
              </a:rPr>
              <a:t>Farmer application</a:t>
            </a:r>
            <a:endParaRPr lang="en-US" sz="1300" dirty="0"/>
          </a:p>
        </p:txBody>
      </p:sp>
      <p:sp>
        <p:nvSpPr>
          <p:cNvPr id="33" name="line-291"/>
          <p:cNvSpPr/>
          <p:nvPr/>
        </p:nvSpPr>
        <p:spPr>
          <a:xfrm>
            <a:off x="3931920" y="5257800"/>
            <a:ext cx="411480" cy="0"/>
          </a:xfrm>
          <a:prstGeom prst="line">
            <a:avLst/>
          </a:prstGeom>
          <a:noFill/>
          <a:ln w="19050">
            <a:solidFill>
              <a:schemeClr val="tx2"/>
            </a:solidFill>
            <a:prstDash val="solid"/>
            <a:tailEnd type="triangle"/>
          </a:ln>
        </p:spPr>
        <p:txBody>
          <a:bodyPr/>
          <a:lstStyle/>
          <a:p>
            <a:endParaRPr lang="ko-IN"/>
          </a:p>
        </p:txBody>
      </p:sp>
      <p:sp>
        <p:nvSpPr>
          <p:cNvPr id="34" name="box-292"/>
          <p:cNvSpPr txBox="1"/>
          <p:nvPr/>
        </p:nvSpPr>
        <p:spPr>
          <a:xfrm>
            <a:off x="4343400" y="4846320"/>
            <a:ext cx="2011680" cy="822960"/>
          </a:xfrm>
          <a:prstGeom prst="rect">
            <a:avLst/>
          </a:prstGeom>
          <a:solidFill>
            <a:schemeClr val="bg1"/>
          </a:solidFill>
          <a:ln w="9525">
            <a:solidFill>
              <a:schemeClr val="accent4"/>
            </a:solidFill>
          </a:ln>
        </p:spPr>
        <p:txBody>
          <a:bodyPr wrap="square" lIns="73152" tIns="73152" rIns="73152" bIns="73152" rtlCol="0" anchor="ctr"/>
          <a:lstStyle/>
          <a:p>
            <a:pPr marL="0" indent="0" algn="ctr">
              <a:buNone/>
            </a:pPr>
            <a:r>
              <a:rPr lang="en-US" sz="1300" b="1" dirty="0">
                <a:solidFill>
                  <a:schemeClr val="tx1"/>
                </a:solidFill>
              </a:rPr>
              <a:t>Feedback / outcome data</a:t>
            </a:r>
            <a:endParaRPr lang="en-US" sz="1300" dirty="0"/>
          </a:p>
        </p:txBody>
      </p:sp>
      <p:sp>
        <p:nvSpPr>
          <p:cNvPr id="35" name="line-293"/>
          <p:cNvSpPr/>
          <p:nvPr/>
        </p:nvSpPr>
        <p:spPr>
          <a:xfrm>
            <a:off x="6355080" y="5257800"/>
            <a:ext cx="411480" cy="0"/>
          </a:xfrm>
          <a:prstGeom prst="line">
            <a:avLst/>
          </a:prstGeom>
          <a:noFill/>
          <a:ln w="19050">
            <a:solidFill>
              <a:schemeClr val="tx2"/>
            </a:solidFill>
            <a:prstDash val="solid"/>
            <a:tailEnd type="triangle"/>
          </a:ln>
        </p:spPr>
        <p:txBody>
          <a:bodyPr/>
          <a:lstStyle/>
          <a:p>
            <a:endParaRPr lang="ko-IN"/>
          </a:p>
        </p:txBody>
      </p:sp>
      <p:sp>
        <p:nvSpPr>
          <p:cNvPr id="36" name="box-294"/>
          <p:cNvSpPr txBox="1"/>
          <p:nvPr/>
        </p:nvSpPr>
        <p:spPr>
          <a:xfrm>
            <a:off x="6766560" y="4846320"/>
            <a:ext cx="2011680" cy="822960"/>
          </a:xfrm>
          <a:prstGeom prst="rect">
            <a:avLst/>
          </a:prstGeom>
          <a:solidFill>
            <a:schemeClr val="bg1"/>
          </a:solidFill>
          <a:ln w="9525">
            <a:solidFill>
              <a:schemeClr val="accent4"/>
            </a:solidFill>
          </a:ln>
        </p:spPr>
        <p:txBody>
          <a:bodyPr wrap="square" lIns="73152" tIns="73152" rIns="73152" bIns="73152" rtlCol="0" anchor="ctr"/>
          <a:lstStyle/>
          <a:p>
            <a:pPr marL="0" indent="0" algn="ctr">
              <a:buNone/>
            </a:pPr>
            <a:r>
              <a:rPr lang="en-US" sz="1300" b="1" dirty="0">
                <a:solidFill>
                  <a:schemeClr val="tx1"/>
                </a:solidFill>
              </a:rPr>
              <a:t>Model evaluation / improvement</a:t>
            </a:r>
            <a:endParaRPr lang="en-US" sz="1300" dirty="0"/>
          </a:p>
        </p:txBody>
      </p:sp>
      <p:sp>
        <p:nvSpPr>
          <p:cNvPr id="37" name="line-295"/>
          <p:cNvSpPr/>
          <p:nvPr/>
        </p:nvSpPr>
        <p:spPr>
          <a:xfrm flipV="1">
            <a:off x="7772400" y="4297680"/>
            <a:ext cx="0" cy="548640"/>
          </a:xfrm>
          <a:prstGeom prst="line">
            <a:avLst/>
          </a:prstGeom>
          <a:noFill/>
          <a:ln w="25400">
            <a:solidFill>
              <a:schemeClr val="accent3"/>
            </a:solidFill>
            <a:prstDash val="dash"/>
            <a:tailEnd type="triangle"/>
          </a:ln>
        </p:spPr>
        <p:txBody>
          <a:bodyPr/>
          <a:lstStyle/>
          <a:p>
            <a:endParaRPr lang="ko-IN"/>
          </a:p>
        </p:txBody>
      </p:sp>
      <p:sp>
        <p:nvSpPr>
          <p:cNvPr id="38" name="txt-296"/>
          <p:cNvSpPr txBox="1"/>
          <p:nvPr/>
        </p:nvSpPr>
        <p:spPr>
          <a:xfrm>
            <a:off x="7909560" y="4480560"/>
            <a:ext cx="1463040" cy="201168"/>
          </a:xfrm>
          <a:prstGeom prst="rect">
            <a:avLst/>
          </a:prstGeom>
          <a:noFill/>
          <a:ln/>
        </p:spPr>
        <p:txBody>
          <a:bodyPr wrap="square" lIns="0" tIns="0" rIns="0" bIns="0" rtlCol="0" anchor="t"/>
          <a:lstStyle/>
          <a:p>
            <a:pPr marL="0" indent="0">
              <a:buNone/>
            </a:pPr>
            <a:r>
              <a:rPr lang="en-US" sz="1100" i="1" dirty="0">
                <a:solidFill>
                  <a:schemeClr val="accent4"/>
                </a:solidFill>
              </a:rPr>
              <a:t>feedback loop</a:t>
            </a:r>
            <a:endParaRPr lang="en-US" sz="1100" dirty="0"/>
          </a:p>
        </p:txBody>
      </p:sp>
      <p:sp>
        <p:nvSpPr>
          <p:cNvPr id="39" name="txt-297"/>
          <p:cNvSpPr txBox="1"/>
          <p:nvPr/>
        </p:nvSpPr>
        <p:spPr>
          <a:xfrm>
            <a:off x="548640" y="6053328"/>
            <a:ext cx="11091672" cy="329184"/>
          </a:xfrm>
          <a:prstGeom prst="rect">
            <a:avLst/>
          </a:prstGeom>
          <a:noFill/>
          <a:ln/>
        </p:spPr>
        <p:txBody>
          <a:bodyPr wrap="square" lIns="0" tIns="0" rIns="0" bIns="0" rtlCol="0" anchor="t"/>
          <a:lstStyle/>
          <a:p>
            <a:pPr marL="0" indent="0">
              <a:buNone/>
            </a:pPr>
            <a:r>
              <a:rPr lang="en-US" sz="1000" dirty="0">
                <a:solidFill>
                  <a:schemeClr val="accent4"/>
                </a:solidFill>
              </a:rPr>
              <a:t>Proposed architecture adapted from the original project concept (Data → Intelligence → Action loop). Satellite sources named in the concept: Sentinel, Landsat.</a:t>
            </a:r>
            <a:endParaRPr lang="en-US" sz="1000" dirty="0"/>
          </a:p>
        </p:txBody>
      </p:sp>
      <p:sp>
        <p:nvSpPr>
          <p:cNvPr id="6" name="Slide Number Placeholder 0"/>
          <p:cNvSpPr>
            <a:spLocks noGrp="1"/>
          </p:cNvSpPr>
          <p:nvPr>
            <p:ph type="sldNum" sz="quarter" idx="4294967295"/>
          </p:nvPr>
        </p:nvSpPr>
        <p:spPr>
          <a:xfrm>
            <a:off x="11064240" y="6446520"/>
            <a:ext cx="576072"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dot-298"/>
          <p:cNvSpPr/>
          <p:nvPr/>
        </p:nvSpPr>
        <p:spPr>
          <a:xfrm>
            <a:off x="548640" y="429768"/>
            <a:ext cx="118872" cy="118872"/>
          </a:xfrm>
          <a:prstGeom prst="ellipse">
            <a:avLst/>
          </a:prstGeom>
          <a:solidFill>
            <a:schemeClr val="accent3"/>
          </a:solidFill>
          <a:ln/>
        </p:spPr>
        <p:txBody>
          <a:bodyPr/>
          <a:lstStyle/>
          <a:p>
            <a:endParaRPr lang="ko-IN"/>
          </a:p>
        </p:txBody>
      </p:sp>
      <p:sp>
        <p:nvSpPr>
          <p:cNvPr id="3" name="txt-299"/>
          <p:cNvSpPr txBox="1"/>
          <p:nvPr/>
        </p:nvSpPr>
        <p:spPr>
          <a:xfrm>
            <a:off x="768096" y="384048"/>
            <a:ext cx="6400800" cy="256032"/>
          </a:xfrm>
          <a:prstGeom prst="rect">
            <a:avLst/>
          </a:prstGeom>
          <a:noFill/>
          <a:ln/>
        </p:spPr>
        <p:txBody>
          <a:bodyPr wrap="square" lIns="0" tIns="0" rIns="0" bIns="0" rtlCol="0" anchor="t"/>
          <a:lstStyle/>
          <a:p>
            <a:pPr marL="0" indent="0">
              <a:buNone/>
            </a:pPr>
            <a:r>
              <a:rPr lang="en-US" sz="1200" b="1" kern="0" spc="200" dirty="0">
                <a:solidFill>
                  <a:schemeClr val="accent4"/>
                </a:solidFill>
              </a:rPr>
              <a:t>07  ·  IMPLEMENTATION PLAN</a:t>
            </a:r>
            <a:endParaRPr lang="en-US" sz="1200" dirty="0"/>
          </a:p>
        </p:txBody>
      </p:sp>
      <p:sp>
        <p:nvSpPr>
          <p:cNvPr id="4" name="box-300"/>
          <p:cNvSpPr txBox="1"/>
          <p:nvPr/>
        </p:nvSpPr>
        <p:spPr>
          <a:xfrm>
            <a:off x="9537192" y="365760"/>
            <a:ext cx="2103120" cy="274320"/>
          </a:xfrm>
          <a:prstGeom prst="rect">
            <a:avLst/>
          </a:prstGeom>
          <a:ln w="12700">
            <a:solidFill>
              <a:schemeClr val="accent4"/>
            </a:solidFill>
          </a:ln>
        </p:spPr>
        <p:txBody>
          <a:bodyPr wrap="square" lIns="0" tIns="0" rIns="0" bIns="0" rtlCol="0" anchor="ctr"/>
          <a:lstStyle/>
          <a:p>
            <a:pPr marL="0" indent="0" algn="ctr">
              <a:buNone/>
            </a:pPr>
            <a:r>
              <a:rPr lang="en-US" sz="1000" b="1" dirty="0">
                <a:solidFill>
                  <a:schemeClr val="accent4"/>
                </a:solidFill>
              </a:rPr>
              <a:t>PROPOSED STACK</a:t>
            </a:r>
            <a:endParaRPr lang="en-US" sz="1000" dirty="0"/>
          </a:p>
        </p:txBody>
      </p:sp>
      <p:sp>
        <p:nvSpPr>
          <p:cNvPr id="5" name="Text 1"/>
          <p:cNvSpPr>
            <a:spLocks noGrp="1"/>
          </p:cNvSpPr>
          <p:nvPr>
            <p:ph type="title" idx="101" hasCustomPrompt="1"/>
          </p:nvPr>
        </p:nvSpPr>
        <p:spPr>
          <a:xfrm>
            <a:off x="548640" y="658368"/>
            <a:ext cx="11091672" cy="731520"/>
          </a:xfrm>
          <a:prstGeom prst="rect">
            <a:avLst/>
          </a:prstGeom>
          <a:noFill/>
          <a:ln/>
        </p:spPr>
        <p:txBody>
          <a:bodyPr wrap="square" lIns="0" tIns="0" rIns="0" bIns="0" rtlCol="0" anchor="t"/>
          <a:lstStyle/>
          <a:p>
            <a:pPr marL="0" indent="0" algn="l">
              <a:buNone/>
            </a:pPr>
            <a:r>
              <a:rPr lang="en-US" sz="3600" b="1" dirty="0">
                <a:solidFill>
                  <a:schemeClr val="tx2"/>
                </a:solidFill>
              </a:rPr>
              <a:t>Technology stack</a:t>
            </a:r>
            <a:endParaRPr lang="en-US" sz="3600" dirty="0"/>
          </a:p>
        </p:txBody>
      </p:sp>
      <p:sp>
        <p:nvSpPr>
          <p:cNvPr id="7" name="shape-301"/>
          <p:cNvSpPr/>
          <p:nvPr/>
        </p:nvSpPr>
        <p:spPr>
          <a:xfrm>
            <a:off x="2926080" y="1600200"/>
            <a:ext cx="8714232" cy="603504"/>
          </a:xfrm>
          <a:prstGeom prst="rect">
            <a:avLst/>
          </a:prstGeom>
          <a:solidFill>
            <a:schemeClr val="bg1"/>
          </a:solidFill>
          <a:ln w="9525">
            <a:solidFill>
              <a:schemeClr val="accent2"/>
            </a:solidFill>
            <a:prstDash val="solid"/>
          </a:ln>
        </p:spPr>
        <p:txBody>
          <a:bodyPr/>
          <a:lstStyle/>
          <a:p>
            <a:endParaRPr lang="ko-IN"/>
          </a:p>
        </p:txBody>
      </p:sp>
      <p:sp>
        <p:nvSpPr>
          <p:cNvPr id="8" name="box-302"/>
          <p:cNvSpPr txBox="1"/>
          <p:nvPr/>
        </p:nvSpPr>
        <p:spPr>
          <a:xfrm>
            <a:off x="548640" y="1600200"/>
            <a:ext cx="2377440" cy="603504"/>
          </a:xfrm>
          <a:prstGeom prst="rect">
            <a:avLst/>
          </a:prstGeom>
          <a:solidFill>
            <a:schemeClr val="tx2"/>
          </a:solidFill>
          <a:ln/>
        </p:spPr>
        <p:txBody>
          <a:bodyPr wrap="square" lIns="182880" tIns="182880" rIns="182880" bIns="182880" rtlCol="0" anchor="ctr"/>
          <a:lstStyle/>
          <a:p>
            <a:pPr marL="0" indent="0" algn="l">
              <a:buNone/>
            </a:pPr>
            <a:r>
              <a:rPr lang="en-US" sz="1400" b="1" dirty="0">
                <a:solidFill>
                  <a:schemeClr val="bg2"/>
                </a:solidFill>
              </a:rPr>
              <a:t>FRONTEND</a:t>
            </a:r>
            <a:endParaRPr lang="en-US" sz="1400" dirty="0"/>
          </a:p>
        </p:txBody>
      </p:sp>
      <p:sp>
        <p:nvSpPr>
          <p:cNvPr id="9" name="txt-303"/>
          <p:cNvSpPr txBox="1"/>
          <p:nvPr/>
        </p:nvSpPr>
        <p:spPr>
          <a:xfrm>
            <a:off x="3200400" y="1773936"/>
            <a:ext cx="8229600" cy="274320"/>
          </a:xfrm>
          <a:prstGeom prst="rect">
            <a:avLst/>
          </a:prstGeom>
          <a:noFill/>
          <a:ln/>
        </p:spPr>
        <p:txBody>
          <a:bodyPr wrap="square" lIns="0" tIns="0" rIns="0" bIns="0" rtlCol="0" anchor="t"/>
          <a:lstStyle/>
          <a:p>
            <a:pPr marL="0" indent="0">
              <a:buNone/>
            </a:pPr>
            <a:r>
              <a:rPr lang="en-US" sz="1600" dirty="0">
                <a:solidFill>
                  <a:schemeClr val="tx1"/>
                </a:solidFill>
              </a:rPr>
              <a:t>React / React Native</a:t>
            </a:r>
            <a:endParaRPr lang="en-US" sz="1600" dirty="0"/>
          </a:p>
        </p:txBody>
      </p:sp>
      <p:sp>
        <p:nvSpPr>
          <p:cNvPr id="10" name="shape-304"/>
          <p:cNvSpPr/>
          <p:nvPr/>
        </p:nvSpPr>
        <p:spPr>
          <a:xfrm>
            <a:off x="2926080" y="2295144"/>
            <a:ext cx="8714232" cy="603504"/>
          </a:xfrm>
          <a:prstGeom prst="rect">
            <a:avLst/>
          </a:prstGeom>
          <a:solidFill>
            <a:schemeClr val="bg1"/>
          </a:solidFill>
          <a:ln w="9525">
            <a:solidFill>
              <a:schemeClr val="accent2"/>
            </a:solidFill>
            <a:prstDash val="solid"/>
          </a:ln>
        </p:spPr>
        <p:txBody>
          <a:bodyPr/>
          <a:lstStyle/>
          <a:p>
            <a:endParaRPr lang="ko-IN"/>
          </a:p>
        </p:txBody>
      </p:sp>
      <p:sp>
        <p:nvSpPr>
          <p:cNvPr id="11" name="box-305"/>
          <p:cNvSpPr txBox="1"/>
          <p:nvPr/>
        </p:nvSpPr>
        <p:spPr>
          <a:xfrm>
            <a:off x="548640" y="2295144"/>
            <a:ext cx="2377440" cy="603504"/>
          </a:xfrm>
          <a:prstGeom prst="rect">
            <a:avLst/>
          </a:prstGeom>
          <a:solidFill>
            <a:schemeClr val="tx2"/>
          </a:solidFill>
          <a:ln/>
        </p:spPr>
        <p:txBody>
          <a:bodyPr wrap="square" lIns="182880" tIns="182880" rIns="182880" bIns="182880" rtlCol="0" anchor="ctr"/>
          <a:lstStyle/>
          <a:p>
            <a:pPr marL="0" indent="0" algn="l">
              <a:buNone/>
            </a:pPr>
            <a:r>
              <a:rPr lang="en-US" sz="1400" b="1" dirty="0">
                <a:solidFill>
                  <a:schemeClr val="bg2"/>
                </a:solidFill>
              </a:rPr>
              <a:t>BACKEND</a:t>
            </a:r>
            <a:endParaRPr lang="en-US" sz="1400" dirty="0"/>
          </a:p>
        </p:txBody>
      </p:sp>
      <p:sp>
        <p:nvSpPr>
          <p:cNvPr id="12" name="txt-306"/>
          <p:cNvSpPr txBox="1"/>
          <p:nvPr/>
        </p:nvSpPr>
        <p:spPr>
          <a:xfrm>
            <a:off x="3200400" y="2468880"/>
            <a:ext cx="8229600" cy="274320"/>
          </a:xfrm>
          <a:prstGeom prst="rect">
            <a:avLst/>
          </a:prstGeom>
          <a:noFill/>
          <a:ln/>
        </p:spPr>
        <p:txBody>
          <a:bodyPr wrap="square" lIns="0" tIns="0" rIns="0" bIns="0" rtlCol="0" anchor="t"/>
          <a:lstStyle/>
          <a:p>
            <a:pPr marL="0" indent="0">
              <a:buNone/>
            </a:pPr>
            <a:r>
              <a:rPr lang="en-US" sz="1600" dirty="0">
                <a:solidFill>
                  <a:schemeClr val="tx1"/>
                </a:solidFill>
              </a:rPr>
              <a:t>Python  ·  FastAPI  ·  REST APIs</a:t>
            </a:r>
            <a:endParaRPr lang="en-US" sz="1600" dirty="0"/>
          </a:p>
        </p:txBody>
      </p:sp>
      <p:sp>
        <p:nvSpPr>
          <p:cNvPr id="13" name="shape-307"/>
          <p:cNvSpPr/>
          <p:nvPr/>
        </p:nvSpPr>
        <p:spPr>
          <a:xfrm>
            <a:off x="2926080" y="2990088"/>
            <a:ext cx="8714232" cy="603504"/>
          </a:xfrm>
          <a:prstGeom prst="rect">
            <a:avLst/>
          </a:prstGeom>
          <a:solidFill>
            <a:schemeClr val="bg1"/>
          </a:solidFill>
          <a:ln w="9525">
            <a:solidFill>
              <a:schemeClr val="accent2"/>
            </a:solidFill>
            <a:prstDash val="solid"/>
          </a:ln>
        </p:spPr>
        <p:txBody>
          <a:bodyPr/>
          <a:lstStyle/>
          <a:p>
            <a:endParaRPr lang="ko-IN"/>
          </a:p>
        </p:txBody>
      </p:sp>
      <p:sp>
        <p:nvSpPr>
          <p:cNvPr id="14" name="box-308"/>
          <p:cNvSpPr txBox="1"/>
          <p:nvPr/>
        </p:nvSpPr>
        <p:spPr>
          <a:xfrm>
            <a:off x="548640" y="2990088"/>
            <a:ext cx="2377440" cy="603504"/>
          </a:xfrm>
          <a:prstGeom prst="rect">
            <a:avLst/>
          </a:prstGeom>
          <a:solidFill>
            <a:schemeClr val="tx2"/>
          </a:solidFill>
          <a:ln/>
        </p:spPr>
        <p:txBody>
          <a:bodyPr wrap="square" lIns="182880" tIns="182880" rIns="182880" bIns="182880" rtlCol="0" anchor="ctr"/>
          <a:lstStyle/>
          <a:p>
            <a:pPr marL="0" indent="0" algn="l">
              <a:buNone/>
            </a:pPr>
            <a:r>
              <a:rPr lang="en-US" sz="1400" b="1" dirty="0">
                <a:solidFill>
                  <a:schemeClr val="bg2"/>
                </a:solidFill>
              </a:rPr>
              <a:t>AI / ML</a:t>
            </a:r>
            <a:endParaRPr lang="en-US" sz="1400" dirty="0"/>
          </a:p>
        </p:txBody>
      </p:sp>
      <p:sp>
        <p:nvSpPr>
          <p:cNvPr id="15" name="txt-309"/>
          <p:cNvSpPr txBox="1"/>
          <p:nvPr/>
        </p:nvSpPr>
        <p:spPr>
          <a:xfrm>
            <a:off x="3200400" y="3163824"/>
            <a:ext cx="8229600" cy="274320"/>
          </a:xfrm>
          <a:prstGeom prst="rect">
            <a:avLst/>
          </a:prstGeom>
          <a:noFill/>
          <a:ln/>
        </p:spPr>
        <p:txBody>
          <a:bodyPr wrap="square" lIns="0" tIns="0" rIns="0" bIns="0" rtlCol="0" anchor="t"/>
          <a:lstStyle/>
          <a:p>
            <a:pPr marL="0" indent="0">
              <a:buNone/>
            </a:pPr>
            <a:r>
              <a:rPr lang="en-US" sz="1600" dirty="0">
                <a:solidFill>
                  <a:schemeClr val="tx1"/>
                </a:solidFill>
              </a:rPr>
              <a:t>Python  ·  scikit-learn / PyTorch  ·  prediction models  ·  recommendation engine</a:t>
            </a:r>
            <a:endParaRPr lang="en-US" sz="1600" dirty="0"/>
          </a:p>
        </p:txBody>
      </p:sp>
      <p:sp>
        <p:nvSpPr>
          <p:cNvPr id="16" name="shape-310"/>
          <p:cNvSpPr/>
          <p:nvPr/>
        </p:nvSpPr>
        <p:spPr>
          <a:xfrm>
            <a:off x="2926080" y="3685032"/>
            <a:ext cx="8714232" cy="603504"/>
          </a:xfrm>
          <a:prstGeom prst="rect">
            <a:avLst/>
          </a:prstGeom>
          <a:solidFill>
            <a:schemeClr val="bg1"/>
          </a:solidFill>
          <a:ln w="9525">
            <a:solidFill>
              <a:schemeClr val="accent2"/>
            </a:solidFill>
            <a:prstDash val="solid"/>
          </a:ln>
        </p:spPr>
        <p:txBody>
          <a:bodyPr/>
          <a:lstStyle/>
          <a:p>
            <a:endParaRPr lang="ko-IN"/>
          </a:p>
        </p:txBody>
      </p:sp>
      <p:sp>
        <p:nvSpPr>
          <p:cNvPr id="17" name="box-311"/>
          <p:cNvSpPr txBox="1"/>
          <p:nvPr/>
        </p:nvSpPr>
        <p:spPr>
          <a:xfrm>
            <a:off x="548640" y="3685032"/>
            <a:ext cx="2377440" cy="603504"/>
          </a:xfrm>
          <a:prstGeom prst="rect">
            <a:avLst/>
          </a:prstGeom>
          <a:solidFill>
            <a:schemeClr val="tx2"/>
          </a:solidFill>
          <a:ln/>
        </p:spPr>
        <p:txBody>
          <a:bodyPr wrap="square" lIns="182880" tIns="182880" rIns="182880" bIns="182880" rtlCol="0" anchor="ctr"/>
          <a:lstStyle/>
          <a:p>
            <a:pPr marL="0" indent="0" algn="l">
              <a:buNone/>
            </a:pPr>
            <a:r>
              <a:rPr lang="en-US" sz="1400" b="1" dirty="0">
                <a:solidFill>
                  <a:schemeClr val="bg2"/>
                </a:solidFill>
              </a:rPr>
              <a:t>DATABASE</a:t>
            </a:r>
            <a:endParaRPr lang="en-US" sz="1400" dirty="0"/>
          </a:p>
        </p:txBody>
      </p:sp>
      <p:sp>
        <p:nvSpPr>
          <p:cNvPr id="18" name="txt-312"/>
          <p:cNvSpPr txBox="1"/>
          <p:nvPr/>
        </p:nvSpPr>
        <p:spPr>
          <a:xfrm>
            <a:off x="3200400" y="3858768"/>
            <a:ext cx="8229600" cy="274320"/>
          </a:xfrm>
          <a:prstGeom prst="rect">
            <a:avLst/>
          </a:prstGeom>
          <a:noFill/>
          <a:ln/>
        </p:spPr>
        <p:txBody>
          <a:bodyPr wrap="square" lIns="0" tIns="0" rIns="0" bIns="0" rtlCol="0" anchor="t"/>
          <a:lstStyle/>
          <a:p>
            <a:pPr marL="0" indent="0">
              <a:buNone/>
            </a:pPr>
            <a:r>
              <a:rPr lang="en-US" sz="1600" dirty="0">
                <a:solidFill>
                  <a:schemeClr val="tx1"/>
                </a:solidFill>
              </a:rPr>
              <a:t>PostgreSQL  ·  PostGIS (if geospatial data is used)</a:t>
            </a:r>
            <a:endParaRPr lang="en-US" sz="1600" dirty="0"/>
          </a:p>
        </p:txBody>
      </p:sp>
      <p:sp>
        <p:nvSpPr>
          <p:cNvPr id="19" name="shape-313"/>
          <p:cNvSpPr/>
          <p:nvPr/>
        </p:nvSpPr>
        <p:spPr>
          <a:xfrm>
            <a:off x="2926080" y="4379976"/>
            <a:ext cx="8714232" cy="603504"/>
          </a:xfrm>
          <a:prstGeom prst="rect">
            <a:avLst/>
          </a:prstGeom>
          <a:solidFill>
            <a:schemeClr val="bg1"/>
          </a:solidFill>
          <a:ln w="9525">
            <a:solidFill>
              <a:schemeClr val="accent2"/>
            </a:solidFill>
            <a:prstDash val="solid"/>
          </a:ln>
        </p:spPr>
        <p:txBody>
          <a:bodyPr/>
          <a:lstStyle/>
          <a:p>
            <a:endParaRPr lang="ko-IN"/>
          </a:p>
        </p:txBody>
      </p:sp>
      <p:sp>
        <p:nvSpPr>
          <p:cNvPr id="20" name="box-314"/>
          <p:cNvSpPr txBox="1"/>
          <p:nvPr/>
        </p:nvSpPr>
        <p:spPr>
          <a:xfrm>
            <a:off x="548640" y="4379976"/>
            <a:ext cx="2377440" cy="603504"/>
          </a:xfrm>
          <a:prstGeom prst="rect">
            <a:avLst/>
          </a:prstGeom>
          <a:solidFill>
            <a:schemeClr val="tx2"/>
          </a:solidFill>
          <a:ln/>
        </p:spPr>
        <p:txBody>
          <a:bodyPr wrap="square" lIns="182880" tIns="182880" rIns="182880" bIns="182880" rtlCol="0" anchor="ctr"/>
          <a:lstStyle/>
          <a:p>
            <a:pPr marL="0" indent="0" algn="l">
              <a:buNone/>
            </a:pPr>
            <a:r>
              <a:rPr lang="en-US" sz="1400" b="1" dirty="0">
                <a:solidFill>
                  <a:schemeClr val="bg2"/>
                </a:solidFill>
              </a:rPr>
              <a:t>DATA SOURCES</a:t>
            </a:r>
            <a:endParaRPr lang="en-US" sz="1400" dirty="0"/>
          </a:p>
        </p:txBody>
      </p:sp>
      <p:sp>
        <p:nvSpPr>
          <p:cNvPr id="21" name="txt-315"/>
          <p:cNvSpPr txBox="1"/>
          <p:nvPr/>
        </p:nvSpPr>
        <p:spPr>
          <a:xfrm>
            <a:off x="3200400" y="4553712"/>
            <a:ext cx="8229600" cy="274320"/>
          </a:xfrm>
          <a:prstGeom prst="rect">
            <a:avLst/>
          </a:prstGeom>
          <a:noFill/>
          <a:ln/>
        </p:spPr>
        <p:txBody>
          <a:bodyPr wrap="square" lIns="0" tIns="0" rIns="0" bIns="0" rtlCol="0" anchor="t"/>
          <a:lstStyle/>
          <a:p>
            <a:pPr marL="0" indent="0">
              <a:buNone/>
            </a:pPr>
            <a:r>
              <a:rPr lang="en-US" sz="1600" dirty="0">
                <a:solidFill>
                  <a:schemeClr val="tx1"/>
                </a:solidFill>
              </a:rPr>
              <a:t>Weather APIs  ·  market data  ·  satellite imagery  ·  agricultural datasets</a:t>
            </a:r>
            <a:endParaRPr lang="en-US" sz="1600" dirty="0"/>
          </a:p>
        </p:txBody>
      </p:sp>
      <p:sp>
        <p:nvSpPr>
          <p:cNvPr id="22" name="shape-316"/>
          <p:cNvSpPr/>
          <p:nvPr/>
        </p:nvSpPr>
        <p:spPr>
          <a:xfrm>
            <a:off x="2926080" y="5074920"/>
            <a:ext cx="8714232" cy="603504"/>
          </a:xfrm>
          <a:prstGeom prst="rect">
            <a:avLst/>
          </a:prstGeom>
          <a:solidFill>
            <a:schemeClr val="bg1"/>
          </a:solidFill>
          <a:ln w="9525">
            <a:solidFill>
              <a:schemeClr val="accent2"/>
            </a:solidFill>
            <a:prstDash val="solid"/>
          </a:ln>
        </p:spPr>
        <p:txBody>
          <a:bodyPr/>
          <a:lstStyle/>
          <a:p>
            <a:endParaRPr lang="ko-IN"/>
          </a:p>
        </p:txBody>
      </p:sp>
      <p:sp>
        <p:nvSpPr>
          <p:cNvPr id="23" name="box-317"/>
          <p:cNvSpPr txBox="1"/>
          <p:nvPr/>
        </p:nvSpPr>
        <p:spPr>
          <a:xfrm>
            <a:off x="548640" y="5074920"/>
            <a:ext cx="2377440" cy="603504"/>
          </a:xfrm>
          <a:prstGeom prst="rect">
            <a:avLst/>
          </a:prstGeom>
          <a:solidFill>
            <a:schemeClr val="tx2"/>
          </a:solidFill>
          <a:ln/>
        </p:spPr>
        <p:txBody>
          <a:bodyPr wrap="square" lIns="182880" tIns="182880" rIns="182880" bIns="182880" rtlCol="0" anchor="ctr"/>
          <a:lstStyle/>
          <a:p>
            <a:pPr marL="0" indent="0" algn="l">
              <a:buNone/>
            </a:pPr>
            <a:r>
              <a:rPr lang="en-US" sz="1400" b="1" dirty="0">
                <a:solidFill>
                  <a:schemeClr val="bg2"/>
                </a:solidFill>
              </a:rPr>
              <a:t>DEPLOYMENT</a:t>
            </a:r>
            <a:endParaRPr lang="en-US" sz="1400" dirty="0"/>
          </a:p>
        </p:txBody>
      </p:sp>
      <p:sp>
        <p:nvSpPr>
          <p:cNvPr id="24" name="txt-318"/>
          <p:cNvSpPr txBox="1"/>
          <p:nvPr/>
        </p:nvSpPr>
        <p:spPr>
          <a:xfrm>
            <a:off x="3200400" y="5248656"/>
            <a:ext cx="8229600" cy="274320"/>
          </a:xfrm>
          <a:prstGeom prst="rect">
            <a:avLst/>
          </a:prstGeom>
          <a:noFill/>
          <a:ln/>
        </p:spPr>
        <p:txBody>
          <a:bodyPr wrap="square" lIns="0" tIns="0" rIns="0" bIns="0" rtlCol="0" anchor="t"/>
          <a:lstStyle/>
          <a:p>
            <a:pPr marL="0" indent="0">
              <a:buNone/>
            </a:pPr>
            <a:r>
              <a:rPr lang="en-US" sz="1600" dirty="0">
                <a:solidFill>
                  <a:schemeClr val="tx1"/>
                </a:solidFill>
              </a:rPr>
              <a:t>Docker  ·  cloud infrastructure</a:t>
            </a:r>
            <a:endParaRPr lang="en-US" sz="1600" dirty="0"/>
          </a:p>
        </p:txBody>
      </p:sp>
      <p:sp>
        <p:nvSpPr>
          <p:cNvPr id="25" name="txt-319"/>
          <p:cNvSpPr txBox="1"/>
          <p:nvPr/>
        </p:nvSpPr>
        <p:spPr>
          <a:xfrm>
            <a:off x="548640" y="6053328"/>
            <a:ext cx="11091672" cy="329184"/>
          </a:xfrm>
          <a:prstGeom prst="rect">
            <a:avLst/>
          </a:prstGeom>
          <a:noFill/>
          <a:ln/>
        </p:spPr>
        <p:txBody>
          <a:bodyPr wrap="square" lIns="0" tIns="0" rIns="0" bIns="0" rtlCol="0" anchor="t"/>
          <a:lstStyle/>
          <a:p>
            <a:pPr marL="0" indent="0">
              <a:buNone/>
            </a:pPr>
            <a:r>
              <a:rPr lang="en-US" sz="1000" dirty="0">
                <a:solidFill>
                  <a:schemeClr val="accent4"/>
                </a:solidFill>
              </a:rPr>
              <a:t>The original project deck does not specify an implementation stack. The technologies above are the proposed prototype stack, not completed implementation.</a:t>
            </a:r>
            <a:endParaRPr lang="en-US" sz="1000" dirty="0"/>
          </a:p>
        </p:txBody>
      </p:sp>
      <p:sp>
        <p:nvSpPr>
          <p:cNvPr id="6" name="Slide Number Placeholder 0"/>
          <p:cNvSpPr>
            <a:spLocks noGrp="1"/>
          </p:cNvSpPr>
          <p:nvPr>
            <p:ph type="sldNum" sz="quarter" idx="4294967295"/>
          </p:nvPr>
        </p:nvSpPr>
        <p:spPr>
          <a:xfrm>
            <a:off x="11064240" y="6446520"/>
            <a:ext cx="576072"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dot-320"/>
          <p:cNvSpPr/>
          <p:nvPr/>
        </p:nvSpPr>
        <p:spPr>
          <a:xfrm>
            <a:off x="548640" y="429768"/>
            <a:ext cx="118872" cy="118872"/>
          </a:xfrm>
          <a:prstGeom prst="ellipse">
            <a:avLst/>
          </a:prstGeom>
          <a:solidFill>
            <a:schemeClr val="accent3"/>
          </a:solidFill>
          <a:ln/>
        </p:spPr>
        <p:txBody>
          <a:bodyPr/>
          <a:lstStyle/>
          <a:p>
            <a:endParaRPr lang="ko-IN"/>
          </a:p>
        </p:txBody>
      </p:sp>
      <p:sp>
        <p:nvSpPr>
          <p:cNvPr id="3" name="txt-321"/>
          <p:cNvSpPr txBox="1"/>
          <p:nvPr/>
        </p:nvSpPr>
        <p:spPr>
          <a:xfrm>
            <a:off x="768096" y="384048"/>
            <a:ext cx="6400800" cy="256032"/>
          </a:xfrm>
          <a:prstGeom prst="rect">
            <a:avLst/>
          </a:prstGeom>
          <a:noFill/>
          <a:ln/>
        </p:spPr>
        <p:txBody>
          <a:bodyPr wrap="square" lIns="0" tIns="0" rIns="0" bIns="0" rtlCol="0" anchor="t"/>
          <a:lstStyle/>
          <a:p>
            <a:pPr marL="0" indent="0">
              <a:buNone/>
            </a:pPr>
            <a:r>
              <a:rPr lang="en-US" sz="1200" b="1" kern="0" spc="200" dirty="0">
                <a:solidFill>
                  <a:schemeClr val="accent4"/>
                </a:solidFill>
              </a:rPr>
              <a:t>08  ·  CONTRIBUTION</a:t>
            </a:r>
            <a:endParaRPr lang="en-US" sz="1200" dirty="0"/>
          </a:p>
        </p:txBody>
      </p:sp>
      <p:sp>
        <p:nvSpPr>
          <p:cNvPr id="4" name="box-322"/>
          <p:cNvSpPr txBox="1"/>
          <p:nvPr/>
        </p:nvSpPr>
        <p:spPr>
          <a:xfrm>
            <a:off x="9537192" y="365760"/>
            <a:ext cx="2103120" cy="274320"/>
          </a:xfrm>
          <a:prstGeom prst="rect">
            <a:avLst/>
          </a:prstGeom>
          <a:ln w="12700">
            <a:solidFill>
              <a:schemeClr val="accent4"/>
            </a:solidFill>
          </a:ln>
        </p:spPr>
        <p:txBody>
          <a:bodyPr wrap="square" lIns="0" tIns="0" rIns="0" bIns="0" rtlCol="0" anchor="ctr"/>
          <a:lstStyle/>
          <a:p>
            <a:pPr marL="0" indent="0" algn="ctr">
              <a:buNone/>
            </a:pPr>
            <a:r>
              <a:rPr lang="en-US" sz="1000" b="1" dirty="0">
                <a:solidFill>
                  <a:schemeClr val="accent4"/>
                </a:solidFill>
              </a:rPr>
              <a:t>PROPOSED</a:t>
            </a:r>
            <a:endParaRPr lang="en-US" sz="1000" dirty="0"/>
          </a:p>
        </p:txBody>
      </p:sp>
      <p:sp>
        <p:nvSpPr>
          <p:cNvPr id="5" name="Text 1"/>
          <p:cNvSpPr>
            <a:spLocks noGrp="1"/>
          </p:cNvSpPr>
          <p:nvPr>
            <p:ph type="title" idx="101" hasCustomPrompt="1"/>
          </p:nvPr>
        </p:nvSpPr>
        <p:spPr>
          <a:xfrm>
            <a:off x="548640" y="658368"/>
            <a:ext cx="11091672" cy="731520"/>
          </a:xfrm>
          <a:prstGeom prst="rect">
            <a:avLst/>
          </a:prstGeom>
          <a:noFill/>
          <a:ln/>
        </p:spPr>
        <p:txBody>
          <a:bodyPr wrap="square" lIns="0" tIns="0" rIns="0" bIns="0" rtlCol="0" anchor="t"/>
          <a:lstStyle/>
          <a:p>
            <a:pPr marL="0" indent="0" algn="l">
              <a:buNone/>
            </a:pPr>
            <a:r>
              <a:rPr lang="en-US" sz="3600" b="1" dirty="0">
                <a:solidFill>
                  <a:schemeClr val="tx2"/>
                </a:solidFill>
              </a:rPr>
              <a:t>What makes Agrisathi different?</a:t>
            </a:r>
            <a:endParaRPr lang="en-US" sz="3600" dirty="0"/>
          </a:p>
        </p:txBody>
      </p:sp>
      <p:sp>
        <p:nvSpPr>
          <p:cNvPr id="7" name="shape-323"/>
          <p:cNvSpPr/>
          <p:nvPr/>
        </p:nvSpPr>
        <p:spPr>
          <a:xfrm>
            <a:off x="548640" y="1554480"/>
            <a:ext cx="3502152" cy="4023360"/>
          </a:xfrm>
          <a:prstGeom prst="rect">
            <a:avLst/>
          </a:prstGeom>
          <a:solidFill>
            <a:schemeClr val="bg1"/>
          </a:solidFill>
          <a:ln w="12700">
            <a:solidFill>
              <a:schemeClr val="accent2"/>
            </a:solidFill>
            <a:prstDash val="solid"/>
          </a:ln>
        </p:spPr>
        <p:txBody>
          <a:bodyPr/>
          <a:lstStyle/>
          <a:p>
            <a:endParaRPr lang="ko-IN"/>
          </a:p>
        </p:txBody>
      </p:sp>
      <p:sp>
        <p:nvSpPr>
          <p:cNvPr id="8" name="txt-324"/>
          <p:cNvSpPr txBox="1"/>
          <p:nvPr/>
        </p:nvSpPr>
        <p:spPr>
          <a:xfrm>
            <a:off x="822960" y="1664208"/>
            <a:ext cx="1371600" cy="640080"/>
          </a:xfrm>
          <a:prstGeom prst="rect">
            <a:avLst/>
          </a:prstGeom>
          <a:noFill/>
          <a:ln/>
        </p:spPr>
        <p:txBody>
          <a:bodyPr wrap="square" lIns="0" tIns="0" rIns="0" bIns="0" rtlCol="0" anchor="t"/>
          <a:lstStyle/>
          <a:p>
            <a:pPr marL="0" indent="0">
              <a:buNone/>
            </a:pPr>
            <a:r>
              <a:rPr lang="en-US" sz="4000" b="1" dirty="0">
                <a:solidFill>
                  <a:schemeClr val="accent6"/>
                </a:solidFill>
                <a:latin typeface="+mj-lt" pitchFamily="34" charset="0"/>
                <a:ea typeface="+mj-lt" pitchFamily="34" charset="-122"/>
                <a:cs typeface="+mj-lt" pitchFamily="34" charset="-120"/>
              </a:rPr>
              <a:t>01</a:t>
            </a:r>
            <a:endParaRPr lang="en-US" sz="4000" dirty="0"/>
          </a:p>
        </p:txBody>
      </p:sp>
      <p:sp>
        <p:nvSpPr>
          <p:cNvPr id="9" name="txt-325"/>
          <p:cNvSpPr txBox="1"/>
          <p:nvPr/>
        </p:nvSpPr>
        <p:spPr>
          <a:xfrm>
            <a:off x="822960" y="2331720"/>
            <a:ext cx="2953512" cy="640080"/>
          </a:xfrm>
          <a:prstGeom prst="rect">
            <a:avLst/>
          </a:prstGeom>
          <a:noFill/>
          <a:ln/>
        </p:spPr>
        <p:txBody>
          <a:bodyPr wrap="square" lIns="0" tIns="0" rIns="0" bIns="0" rtlCol="0" anchor="t"/>
          <a:lstStyle/>
          <a:p>
            <a:pPr marL="0" indent="0">
              <a:buNone/>
            </a:pPr>
            <a:r>
              <a:rPr lang="en-US" sz="1800" b="1" dirty="0">
                <a:solidFill>
                  <a:schemeClr val="tx2"/>
                </a:solidFill>
                <a:latin typeface="+mj-lt" pitchFamily="34" charset="0"/>
                <a:ea typeface="+mj-lt" pitchFamily="34" charset="-122"/>
                <a:cs typeface="+mj-lt" pitchFamily="34" charset="-120"/>
              </a:rPr>
              <a:t>MULTI-SOURCE</a:t>
            </a:r>
            <a:endParaRPr lang="en-US" sz="1800" dirty="0"/>
          </a:p>
          <a:p>
            <a:pPr marL="0" indent="0">
              <a:buNone/>
            </a:pPr>
            <a:r>
              <a:rPr lang="en-US" sz="1800" b="1" dirty="0">
                <a:solidFill>
                  <a:schemeClr val="tx2"/>
                </a:solidFill>
                <a:latin typeface="+mj-lt" pitchFamily="34" charset="0"/>
                <a:ea typeface="+mj-lt" pitchFamily="34" charset="-122"/>
                <a:cs typeface="+mj-lt" pitchFamily="34" charset="-120"/>
              </a:rPr>
              <a:t>DECISION FUSION</a:t>
            </a:r>
            <a:endParaRPr lang="en-US" sz="1800" dirty="0"/>
          </a:p>
        </p:txBody>
      </p:sp>
      <p:sp>
        <p:nvSpPr>
          <p:cNvPr id="10" name="shape-326"/>
          <p:cNvSpPr/>
          <p:nvPr/>
        </p:nvSpPr>
        <p:spPr>
          <a:xfrm>
            <a:off x="4343400" y="1554480"/>
            <a:ext cx="3502152" cy="4023360"/>
          </a:xfrm>
          <a:prstGeom prst="rect">
            <a:avLst/>
          </a:prstGeom>
          <a:solidFill>
            <a:schemeClr val="bg1"/>
          </a:solidFill>
          <a:ln w="12700">
            <a:solidFill>
              <a:schemeClr val="accent2"/>
            </a:solidFill>
            <a:prstDash val="solid"/>
          </a:ln>
        </p:spPr>
        <p:txBody>
          <a:bodyPr/>
          <a:lstStyle/>
          <a:p>
            <a:endParaRPr lang="ko-IN"/>
          </a:p>
        </p:txBody>
      </p:sp>
      <p:sp>
        <p:nvSpPr>
          <p:cNvPr id="11" name="txt-327"/>
          <p:cNvSpPr txBox="1"/>
          <p:nvPr/>
        </p:nvSpPr>
        <p:spPr>
          <a:xfrm>
            <a:off x="4617720" y="1664208"/>
            <a:ext cx="1371600" cy="640080"/>
          </a:xfrm>
          <a:prstGeom prst="rect">
            <a:avLst/>
          </a:prstGeom>
          <a:noFill/>
          <a:ln/>
        </p:spPr>
        <p:txBody>
          <a:bodyPr wrap="square" lIns="0" tIns="0" rIns="0" bIns="0" rtlCol="0" anchor="t"/>
          <a:lstStyle/>
          <a:p>
            <a:pPr marL="0" indent="0">
              <a:buNone/>
            </a:pPr>
            <a:r>
              <a:rPr lang="en-US" sz="4000" b="1" dirty="0">
                <a:solidFill>
                  <a:schemeClr val="accent6"/>
                </a:solidFill>
                <a:latin typeface="+mj-lt" pitchFamily="34" charset="0"/>
                <a:ea typeface="+mj-lt" pitchFamily="34" charset="-122"/>
                <a:cs typeface="+mj-lt" pitchFamily="34" charset="-120"/>
              </a:rPr>
              <a:t>02</a:t>
            </a:r>
            <a:endParaRPr lang="en-US" sz="4000" dirty="0"/>
          </a:p>
        </p:txBody>
      </p:sp>
      <p:sp>
        <p:nvSpPr>
          <p:cNvPr id="12" name="txt-328"/>
          <p:cNvSpPr txBox="1"/>
          <p:nvPr/>
        </p:nvSpPr>
        <p:spPr>
          <a:xfrm>
            <a:off x="4617720" y="2331720"/>
            <a:ext cx="2953512" cy="640080"/>
          </a:xfrm>
          <a:prstGeom prst="rect">
            <a:avLst/>
          </a:prstGeom>
          <a:noFill/>
          <a:ln/>
        </p:spPr>
        <p:txBody>
          <a:bodyPr wrap="square" lIns="0" tIns="0" rIns="0" bIns="0" rtlCol="0" anchor="t"/>
          <a:lstStyle/>
          <a:p>
            <a:pPr marL="0" indent="0">
              <a:buNone/>
            </a:pPr>
            <a:r>
              <a:rPr lang="en-US" sz="1800" b="1" dirty="0">
                <a:solidFill>
                  <a:schemeClr val="tx2"/>
                </a:solidFill>
                <a:latin typeface="+mj-lt" pitchFamily="34" charset="0"/>
                <a:ea typeface="+mj-lt" pitchFamily="34" charset="-122"/>
                <a:cs typeface="+mj-lt" pitchFamily="34" charset="-120"/>
              </a:rPr>
              <a:t>ACTION-ORIENTED</a:t>
            </a:r>
            <a:endParaRPr lang="en-US" sz="1800" dirty="0"/>
          </a:p>
          <a:p>
            <a:pPr marL="0" indent="0">
              <a:buNone/>
            </a:pPr>
            <a:r>
              <a:rPr lang="en-US" sz="1800" b="1" dirty="0">
                <a:solidFill>
                  <a:schemeClr val="tx2"/>
                </a:solidFill>
                <a:latin typeface="+mj-lt" pitchFamily="34" charset="0"/>
                <a:ea typeface="+mj-lt" pitchFamily="34" charset="-122"/>
                <a:cs typeface="+mj-lt" pitchFamily="34" charset="-120"/>
              </a:rPr>
              <a:t>INTELLIGENCE</a:t>
            </a:r>
            <a:endParaRPr lang="en-US" sz="1800" dirty="0"/>
          </a:p>
        </p:txBody>
      </p:sp>
      <p:sp>
        <p:nvSpPr>
          <p:cNvPr id="13" name="shape-329"/>
          <p:cNvSpPr/>
          <p:nvPr/>
        </p:nvSpPr>
        <p:spPr>
          <a:xfrm>
            <a:off x="8138160" y="1554480"/>
            <a:ext cx="3502152" cy="4023360"/>
          </a:xfrm>
          <a:prstGeom prst="rect">
            <a:avLst/>
          </a:prstGeom>
          <a:solidFill>
            <a:schemeClr val="bg1"/>
          </a:solidFill>
          <a:ln w="12700">
            <a:solidFill>
              <a:schemeClr val="accent2"/>
            </a:solidFill>
            <a:prstDash val="solid"/>
          </a:ln>
        </p:spPr>
        <p:txBody>
          <a:bodyPr/>
          <a:lstStyle/>
          <a:p>
            <a:endParaRPr lang="ko-IN"/>
          </a:p>
        </p:txBody>
      </p:sp>
      <p:sp>
        <p:nvSpPr>
          <p:cNvPr id="14" name="txt-330"/>
          <p:cNvSpPr txBox="1"/>
          <p:nvPr/>
        </p:nvSpPr>
        <p:spPr>
          <a:xfrm>
            <a:off x="8412480" y="1664208"/>
            <a:ext cx="1371600" cy="640080"/>
          </a:xfrm>
          <a:prstGeom prst="rect">
            <a:avLst/>
          </a:prstGeom>
          <a:noFill/>
          <a:ln/>
        </p:spPr>
        <p:txBody>
          <a:bodyPr wrap="square" lIns="0" tIns="0" rIns="0" bIns="0" rtlCol="0" anchor="t"/>
          <a:lstStyle/>
          <a:p>
            <a:pPr marL="0" indent="0">
              <a:buNone/>
            </a:pPr>
            <a:r>
              <a:rPr lang="en-US" sz="4000" b="1" dirty="0">
                <a:solidFill>
                  <a:schemeClr val="accent6"/>
                </a:solidFill>
                <a:latin typeface="+mj-lt" pitchFamily="34" charset="0"/>
                <a:ea typeface="+mj-lt" pitchFamily="34" charset="-122"/>
                <a:cs typeface="+mj-lt" pitchFamily="34" charset="-120"/>
              </a:rPr>
              <a:t>03</a:t>
            </a:r>
            <a:endParaRPr lang="en-US" sz="4000" dirty="0"/>
          </a:p>
        </p:txBody>
      </p:sp>
      <p:sp>
        <p:nvSpPr>
          <p:cNvPr id="15" name="txt-331"/>
          <p:cNvSpPr txBox="1"/>
          <p:nvPr/>
        </p:nvSpPr>
        <p:spPr>
          <a:xfrm>
            <a:off x="8412480" y="2331720"/>
            <a:ext cx="2953512" cy="640080"/>
          </a:xfrm>
          <a:prstGeom prst="rect">
            <a:avLst/>
          </a:prstGeom>
          <a:noFill/>
          <a:ln/>
        </p:spPr>
        <p:txBody>
          <a:bodyPr wrap="square" lIns="0" tIns="0" rIns="0" bIns="0" rtlCol="0" anchor="t"/>
          <a:lstStyle/>
          <a:p>
            <a:pPr marL="0" indent="0">
              <a:buNone/>
            </a:pPr>
            <a:r>
              <a:rPr lang="en-US" sz="1800" b="1" dirty="0">
                <a:solidFill>
                  <a:schemeClr val="tx2"/>
                </a:solidFill>
                <a:latin typeface="+mj-lt" pitchFamily="34" charset="0"/>
                <a:ea typeface="+mj-lt" pitchFamily="34" charset="-122"/>
                <a:cs typeface="+mj-lt" pitchFamily="34" charset="-120"/>
              </a:rPr>
              <a:t>CLOSED-LOOP</a:t>
            </a:r>
            <a:endParaRPr lang="en-US" sz="1800" dirty="0"/>
          </a:p>
          <a:p>
            <a:pPr marL="0" indent="0">
              <a:buNone/>
            </a:pPr>
            <a:r>
              <a:rPr lang="en-US" sz="1800" b="1" dirty="0">
                <a:solidFill>
                  <a:schemeClr val="tx2"/>
                </a:solidFill>
                <a:latin typeface="+mj-lt" pitchFamily="34" charset="0"/>
                <a:ea typeface="+mj-lt" pitchFamily="34" charset="-122"/>
                <a:cs typeface="+mj-lt" pitchFamily="34" charset="-120"/>
              </a:rPr>
              <a:t>LEARNING</a:t>
            </a:r>
            <a:endParaRPr lang="en-US" sz="1800" dirty="0"/>
          </a:p>
        </p:txBody>
      </p:sp>
      <p:sp>
        <p:nvSpPr>
          <p:cNvPr id="16" name="box-332"/>
          <p:cNvSpPr txBox="1"/>
          <p:nvPr/>
        </p:nvSpPr>
        <p:spPr>
          <a:xfrm>
            <a:off x="822960" y="3200400"/>
            <a:ext cx="1280160" cy="347472"/>
          </a:xfrm>
          <a:prstGeom prst="rect">
            <a:avLst/>
          </a:prstGeom>
          <a:solidFill>
            <a:schemeClr val="accent5"/>
          </a:solidFill>
          <a:ln/>
        </p:spPr>
        <p:txBody>
          <a:bodyPr wrap="square" lIns="36576" tIns="36576" rIns="36576" bIns="36576" rtlCol="0" anchor="ctr"/>
          <a:lstStyle/>
          <a:p>
            <a:pPr marL="0" indent="0" algn="ctr">
              <a:buNone/>
            </a:pPr>
            <a:r>
              <a:rPr lang="en-US" sz="1300" dirty="0">
                <a:solidFill>
                  <a:schemeClr val="tx1"/>
                </a:solidFill>
              </a:rPr>
              <a:t>Weather</a:t>
            </a:r>
            <a:endParaRPr lang="en-US" sz="1300" dirty="0"/>
          </a:p>
        </p:txBody>
      </p:sp>
      <p:sp>
        <p:nvSpPr>
          <p:cNvPr id="17" name="line-333"/>
          <p:cNvSpPr/>
          <p:nvPr/>
        </p:nvSpPr>
        <p:spPr>
          <a:xfrm>
            <a:off x="2103120" y="3374136"/>
            <a:ext cx="502920" cy="740664"/>
          </a:xfrm>
          <a:prstGeom prst="line">
            <a:avLst/>
          </a:prstGeom>
          <a:noFill/>
          <a:ln w="15875">
            <a:solidFill>
              <a:schemeClr val="accent6"/>
            </a:solidFill>
            <a:prstDash val="solid"/>
          </a:ln>
        </p:spPr>
        <p:txBody>
          <a:bodyPr/>
          <a:lstStyle/>
          <a:p>
            <a:endParaRPr lang="ko-IN"/>
          </a:p>
        </p:txBody>
      </p:sp>
      <p:sp>
        <p:nvSpPr>
          <p:cNvPr id="18" name="box-334"/>
          <p:cNvSpPr txBox="1"/>
          <p:nvPr/>
        </p:nvSpPr>
        <p:spPr>
          <a:xfrm>
            <a:off x="822960" y="3621024"/>
            <a:ext cx="1280160" cy="347472"/>
          </a:xfrm>
          <a:prstGeom prst="rect">
            <a:avLst/>
          </a:prstGeom>
          <a:solidFill>
            <a:schemeClr val="accent5"/>
          </a:solidFill>
          <a:ln/>
        </p:spPr>
        <p:txBody>
          <a:bodyPr wrap="square" lIns="36576" tIns="36576" rIns="36576" bIns="36576" rtlCol="0" anchor="ctr"/>
          <a:lstStyle/>
          <a:p>
            <a:pPr marL="0" indent="0" algn="ctr">
              <a:buNone/>
            </a:pPr>
            <a:r>
              <a:rPr lang="en-US" sz="1300" dirty="0">
                <a:solidFill>
                  <a:schemeClr val="tx1"/>
                </a:solidFill>
              </a:rPr>
              <a:t>Soil</a:t>
            </a:r>
            <a:endParaRPr lang="en-US" sz="1300" dirty="0"/>
          </a:p>
        </p:txBody>
      </p:sp>
      <p:sp>
        <p:nvSpPr>
          <p:cNvPr id="19" name="line-335"/>
          <p:cNvSpPr/>
          <p:nvPr/>
        </p:nvSpPr>
        <p:spPr>
          <a:xfrm>
            <a:off x="2103120" y="3794760"/>
            <a:ext cx="502920" cy="320040"/>
          </a:xfrm>
          <a:prstGeom prst="line">
            <a:avLst/>
          </a:prstGeom>
          <a:noFill/>
          <a:ln w="15875">
            <a:solidFill>
              <a:schemeClr val="accent6"/>
            </a:solidFill>
            <a:prstDash val="solid"/>
          </a:ln>
        </p:spPr>
        <p:txBody>
          <a:bodyPr/>
          <a:lstStyle/>
          <a:p>
            <a:endParaRPr lang="ko-IN"/>
          </a:p>
        </p:txBody>
      </p:sp>
      <p:sp>
        <p:nvSpPr>
          <p:cNvPr id="20" name="box-336"/>
          <p:cNvSpPr txBox="1"/>
          <p:nvPr/>
        </p:nvSpPr>
        <p:spPr>
          <a:xfrm>
            <a:off x="822960" y="4041648"/>
            <a:ext cx="1280160" cy="347472"/>
          </a:xfrm>
          <a:prstGeom prst="rect">
            <a:avLst/>
          </a:prstGeom>
          <a:solidFill>
            <a:schemeClr val="accent5"/>
          </a:solidFill>
          <a:ln/>
        </p:spPr>
        <p:txBody>
          <a:bodyPr wrap="square" lIns="36576" tIns="36576" rIns="36576" bIns="36576" rtlCol="0" anchor="ctr"/>
          <a:lstStyle/>
          <a:p>
            <a:pPr marL="0" indent="0" algn="ctr">
              <a:buNone/>
            </a:pPr>
            <a:r>
              <a:rPr lang="en-US" sz="1300" dirty="0">
                <a:solidFill>
                  <a:schemeClr val="tx1"/>
                </a:solidFill>
              </a:rPr>
              <a:t>Crop</a:t>
            </a:r>
            <a:endParaRPr lang="en-US" sz="1300" dirty="0"/>
          </a:p>
        </p:txBody>
      </p:sp>
      <p:sp>
        <p:nvSpPr>
          <p:cNvPr id="21" name="line-337"/>
          <p:cNvSpPr/>
          <p:nvPr/>
        </p:nvSpPr>
        <p:spPr>
          <a:xfrm flipV="1">
            <a:off x="2103120" y="4114800"/>
            <a:ext cx="502920" cy="100584"/>
          </a:xfrm>
          <a:prstGeom prst="line">
            <a:avLst/>
          </a:prstGeom>
          <a:noFill/>
          <a:ln w="15875">
            <a:solidFill>
              <a:schemeClr val="accent6"/>
            </a:solidFill>
            <a:prstDash val="solid"/>
          </a:ln>
        </p:spPr>
        <p:txBody>
          <a:bodyPr/>
          <a:lstStyle/>
          <a:p>
            <a:endParaRPr lang="ko-IN"/>
          </a:p>
        </p:txBody>
      </p:sp>
      <p:sp>
        <p:nvSpPr>
          <p:cNvPr id="22" name="box-338"/>
          <p:cNvSpPr txBox="1"/>
          <p:nvPr/>
        </p:nvSpPr>
        <p:spPr>
          <a:xfrm>
            <a:off x="822960" y="4462272"/>
            <a:ext cx="1280160" cy="347472"/>
          </a:xfrm>
          <a:prstGeom prst="rect">
            <a:avLst/>
          </a:prstGeom>
          <a:solidFill>
            <a:schemeClr val="accent5"/>
          </a:solidFill>
          <a:ln/>
        </p:spPr>
        <p:txBody>
          <a:bodyPr wrap="square" lIns="36576" tIns="36576" rIns="36576" bIns="36576" rtlCol="0" anchor="ctr"/>
          <a:lstStyle/>
          <a:p>
            <a:pPr marL="0" indent="0" algn="ctr">
              <a:buNone/>
            </a:pPr>
            <a:r>
              <a:rPr lang="en-US" sz="1300" dirty="0">
                <a:solidFill>
                  <a:schemeClr val="tx1"/>
                </a:solidFill>
              </a:rPr>
              <a:t>Pest</a:t>
            </a:r>
            <a:endParaRPr lang="en-US" sz="1300" dirty="0"/>
          </a:p>
        </p:txBody>
      </p:sp>
      <p:sp>
        <p:nvSpPr>
          <p:cNvPr id="23" name="line-339"/>
          <p:cNvSpPr/>
          <p:nvPr/>
        </p:nvSpPr>
        <p:spPr>
          <a:xfrm flipV="1">
            <a:off x="2103120" y="4114800"/>
            <a:ext cx="502920" cy="521208"/>
          </a:xfrm>
          <a:prstGeom prst="line">
            <a:avLst/>
          </a:prstGeom>
          <a:noFill/>
          <a:ln w="15875">
            <a:solidFill>
              <a:schemeClr val="accent6"/>
            </a:solidFill>
            <a:prstDash val="solid"/>
          </a:ln>
        </p:spPr>
        <p:txBody>
          <a:bodyPr/>
          <a:lstStyle/>
          <a:p>
            <a:endParaRPr lang="ko-IN"/>
          </a:p>
        </p:txBody>
      </p:sp>
      <p:sp>
        <p:nvSpPr>
          <p:cNvPr id="24" name="box-340"/>
          <p:cNvSpPr txBox="1"/>
          <p:nvPr/>
        </p:nvSpPr>
        <p:spPr>
          <a:xfrm>
            <a:off x="822960" y="4882896"/>
            <a:ext cx="1280160" cy="347472"/>
          </a:xfrm>
          <a:prstGeom prst="rect">
            <a:avLst/>
          </a:prstGeom>
          <a:solidFill>
            <a:schemeClr val="accent5"/>
          </a:solidFill>
          <a:ln/>
        </p:spPr>
        <p:txBody>
          <a:bodyPr wrap="square" lIns="36576" tIns="36576" rIns="36576" bIns="36576" rtlCol="0" anchor="ctr"/>
          <a:lstStyle/>
          <a:p>
            <a:pPr marL="0" indent="0" algn="ctr">
              <a:buNone/>
            </a:pPr>
            <a:r>
              <a:rPr lang="en-US" sz="1300" dirty="0">
                <a:solidFill>
                  <a:schemeClr val="tx1"/>
                </a:solidFill>
              </a:rPr>
              <a:t>Market</a:t>
            </a:r>
            <a:endParaRPr lang="en-US" sz="1300" dirty="0"/>
          </a:p>
        </p:txBody>
      </p:sp>
      <p:sp>
        <p:nvSpPr>
          <p:cNvPr id="25" name="line-341"/>
          <p:cNvSpPr/>
          <p:nvPr/>
        </p:nvSpPr>
        <p:spPr>
          <a:xfrm flipV="1">
            <a:off x="2103120" y="4114800"/>
            <a:ext cx="502920" cy="941832"/>
          </a:xfrm>
          <a:prstGeom prst="line">
            <a:avLst/>
          </a:prstGeom>
          <a:noFill/>
          <a:ln w="15875">
            <a:solidFill>
              <a:schemeClr val="accent6"/>
            </a:solidFill>
            <a:prstDash val="solid"/>
          </a:ln>
        </p:spPr>
        <p:txBody>
          <a:bodyPr/>
          <a:lstStyle/>
          <a:p>
            <a:endParaRPr lang="ko-IN"/>
          </a:p>
        </p:txBody>
      </p:sp>
      <p:sp>
        <p:nvSpPr>
          <p:cNvPr id="26" name="box-342"/>
          <p:cNvSpPr txBox="1"/>
          <p:nvPr/>
        </p:nvSpPr>
        <p:spPr>
          <a:xfrm>
            <a:off x="2606040" y="3611880"/>
            <a:ext cx="1234440" cy="1005840"/>
          </a:xfrm>
          <a:prstGeom prst="rect">
            <a:avLst/>
          </a:prstGeom>
          <a:solidFill>
            <a:schemeClr val="tx2"/>
          </a:solidFill>
          <a:ln/>
        </p:spPr>
        <p:txBody>
          <a:bodyPr wrap="square" lIns="73152" tIns="73152" rIns="73152" bIns="73152" rtlCol="0" anchor="ctr"/>
          <a:lstStyle/>
          <a:p>
            <a:pPr marL="0" indent="0" algn="ctr">
              <a:buNone/>
            </a:pPr>
            <a:r>
              <a:rPr lang="en-US" sz="1300" b="1" dirty="0">
                <a:solidFill>
                  <a:schemeClr val="bg2"/>
                </a:solidFill>
              </a:rPr>
              <a:t>One contextual decision</a:t>
            </a:r>
            <a:endParaRPr lang="en-US" sz="1300" dirty="0"/>
          </a:p>
        </p:txBody>
      </p:sp>
      <p:sp>
        <p:nvSpPr>
          <p:cNvPr id="27" name="txt-343"/>
          <p:cNvSpPr txBox="1"/>
          <p:nvPr/>
        </p:nvSpPr>
        <p:spPr>
          <a:xfrm>
            <a:off x="4617720" y="3200400"/>
            <a:ext cx="2926080" cy="201168"/>
          </a:xfrm>
          <a:prstGeom prst="rect">
            <a:avLst/>
          </a:prstGeom>
          <a:noFill/>
          <a:ln/>
        </p:spPr>
        <p:txBody>
          <a:bodyPr wrap="square" lIns="0" tIns="0" rIns="0" bIns="0" rtlCol="0" anchor="t"/>
          <a:lstStyle/>
          <a:p>
            <a:pPr marL="0" indent="0">
              <a:buNone/>
            </a:pPr>
            <a:r>
              <a:rPr lang="en-US" sz="1100" b="1" kern="0" spc="200" dirty="0">
                <a:solidFill>
                  <a:schemeClr val="accent4"/>
                </a:solidFill>
              </a:rPr>
              <a:t>INSTEAD OF</a:t>
            </a:r>
            <a:endParaRPr lang="en-US" sz="1100" dirty="0"/>
          </a:p>
        </p:txBody>
      </p:sp>
      <p:sp>
        <p:nvSpPr>
          <p:cNvPr id="28" name="box-344"/>
          <p:cNvSpPr txBox="1"/>
          <p:nvPr/>
        </p:nvSpPr>
        <p:spPr>
          <a:xfrm>
            <a:off x="4617720" y="3456432"/>
            <a:ext cx="2953512" cy="548640"/>
          </a:xfrm>
          <a:prstGeom prst="rect">
            <a:avLst/>
          </a:prstGeom>
          <a:solidFill>
            <a:schemeClr val="accent5"/>
          </a:solidFill>
          <a:ln/>
        </p:spPr>
        <p:txBody>
          <a:bodyPr wrap="square" lIns="73152" tIns="73152" rIns="73152" bIns="73152" rtlCol="0" anchor="ctr"/>
          <a:lstStyle/>
          <a:p>
            <a:pPr marL="0" indent="0" algn="ctr">
              <a:buNone/>
            </a:pPr>
            <a:r>
              <a:rPr lang="en-US" sz="1400" i="1" dirty="0">
                <a:solidFill>
                  <a:schemeClr val="accent4"/>
                </a:solidFill>
              </a:rPr>
              <a:t>“Here is the weather.”</a:t>
            </a:r>
            <a:endParaRPr lang="en-US" sz="1400" dirty="0"/>
          </a:p>
        </p:txBody>
      </p:sp>
      <p:sp>
        <p:nvSpPr>
          <p:cNvPr id="29" name="line-345"/>
          <p:cNvSpPr/>
          <p:nvPr/>
        </p:nvSpPr>
        <p:spPr>
          <a:xfrm>
            <a:off x="6094476" y="4023360"/>
            <a:ext cx="0" cy="292608"/>
          </a:xfrm>
          <a:prstGeom prst="line">
            <a:avLst/>
          </a:prstGeom>
          <a:noFill/>
          <a:ln w="19050">
            <a:solidFill>
              <a:schemeClr val="tx2"/>
            </a:solidFill>
            <a:prstDash val="solid"/>
            <a:tailEnd type="triangle"/>
          </a:ln>
        </p:spPr>
        <p:txBody>
          <a:bodyPr/>
          <a:lstStyle/>
          <a:p>
            <a:endParaRPr lang="ko-IN"/>
          </a:p>
        </p:txBody>
      </p:sp>
      <p:sp>
        <p:nvSpPr>
          <p:cNvPr id="30" name="txt-346"/>
          <p:cNvSpPr txBox="1"/>
          <p:nvPr/>
        </p:nvSpPr>
        <p:spPr>
          <a:xfrm>
            <a:off x="4617720" y="4370832"/>
            <a:ext cx="2926080" cy="201168"/>
          </a:xfrm>
          <a:prstGeom prst="rect">
            <a:avLst/>
          </a:prstGeom>
          <a:noFill/>
          <a:ln/>
        </p:spPr>
        <p:txBody>
          <a:bodyPr wrap="square" lIns="0" tIns="0" rIns="0" bIns="0" rtlCol="0" anchor="t"/>
          <a:lstStyle/>
          <a:p>
            <a:pPr marL="0" indent="0">
              <a:buNone/>
            </a:pPr>
            <a:r>
              <a:rPr lang="en-US" sz="1100" b="1" kern="0" spc="200" dirty="0">
                <a:solidFill>
                  <a:schemeClr val="tx2"/>
                </a:solidFill>
              </a:rPr>
              <a:t>THE SYSTEM AIMS FOR</a:t>
            </a:r>
            <a:endParaRPr lang="en-US" sz="1100" dirty="0"/>
          </a:p>
        </p:txBody>
      </p:sp>
      <p:sp>
        <p:nvSpPr>
          <p:cNvPr id="31" name="box-347"/>
          <p:cNvSpPr txBox="1"/>
          <p:nvPr/>
        </p:nvSpPr>
        <p:spPr>
          <a:xfrm>
            <a:off x="4617720" y="4617720"/>
            <a:ext cx="2953512" cy="731520"/>
          </a:xfrm>
          <a:prstGeom prst="rect">
            <a:avLst/>
          </a:prstGeom>
          <a:solidFill>
            <a:schemeClr val="bg1"/>
          </a:solidFill>
          <a:ln w="25400">
            <a:solidFill>
              <a:schemeClr val="accent3"/>
            </a:solidFill>
          </a:ln>
        </p:spPr>
        <p:txBody>
          <a:bodyPr wrap="square" lIns="73152" tIns="73152" rIns="73152" bIns="73152" rtlCol="0" anchor="ctr"/>
          <a:lstStyle/>
          <a:p>
            <a:pPr marL="0" indent="0" algn="ctr">
              <a:buNone/>
            </a:pPr>
            <a:r>
              <a:rPr lang="en-US" sz="1300" i="1" dirty="0">
                <a:solidFill>
                  <a:schemeClr val="tx1"/>
                </a:solidFill>
              </a:rPr>
              <a:t>“Given the weather + soil + crop stage, this is the action to consider.”</a:t>
            </a:r>
            <a:endParaRPr lang="en-US" sz="1300" dirty="0"/>
          </a:p>
        </p:txBody>
      </p:sp>
      <p:sp>
        <p:nvSpPr>
          <p:cNvPr id="32" name="box-348"/>
          <p:cNvSpPr txBox="1"/>
          <p:nvPr/>
        </p:nvSpPr>
        <p:spPr>
          <a:xfrm>
            <a:off x="8412480" y="3200400"/>
            <a:ext cx="2148840" cy="329184"/>
          </a:xfrm>
          <a:prstGeom prst="rect">
            <a:avLst/>
          </a:prstGeom>
          <a:solidFill>
            <a:schemeClr val="accent5"/>
          </a:solidFill>
          <a:ln/>
        </p:spPr>
        <p:txBody>
          <a:bodyPr wrap="square" lIns="36576" tIns="36576" rIns="36576" bIns="36576" rtlCol="0" anchor="ctr"/>
          <a:lstStyle/>
          <a:p>
            <a:pPr marL="0" indent="0" algn="ctr">
              <a:buNone/>
            </a:pPr>
            <a:r>
              <a:rPr lang="en-US" sz="1300" dirty="0">
                <a:solidFill>
                  <a:schemeClr val="tx1"/>
                </a:solidFill>
              </a:rPr>
              <a:t>Recommendation</a:t>
            </a:r>
            <a:endParaRPr lang="en-US" sz="1300" dirty="0"/>
          </a:p>
        </p:txBody>
      </p:sp>
      <p:sp>
        <p:nvSpPr>
          <p:cNvPr id="33" name="line-349"/>
          <p:cNvSpPr/>
          <p:nvPr/>
        </p:nvSpPr>
        <p:spPr>
          <a:xfrm>
            <a:off x="9486900" y="3529584"/>
            <a:ext cx="0" cy="128016"/>
          </a:xfrm>
          <a:prstGeom prst="line">
            <a:avLst/>
          </a:prstGeom>
          <a:noFill/>
          <a:ln w="12700">
            <a:solidFill>
              <a:schemeClr val="accent4"/>
            </a:solidFill>
            <a:prstDash val="solid"/>
            <a:tailEnd type="triangle"/>
          </a:ln>
        </p:spPr>
        <p:txBody>
          <a:bodyPr/>
          <a:lstStyle/>
          <a:p>
            <a:endParaRPr lang="ko-IN"/>
          </a:p>
        </p:txBody>
      </p:sp>
      <p:sp>
        <p:nvSpPr>
          <p:cNvPr id="34" name="box-350"/>
          <p:cNvSpPr txBox="1"/>
          <p:nvPr/>
        </p:nvSpPr>
        <p:spPr>
          <a:xfrm>
            <a:off x="8412480" y="3657600"/>
            <a:ext cx="2148840" cy="329184"/>
          </a:xfrm>
          <a:prstGeom prst="rect">
            <a:avLst/>
          </a:prstGeom>
          <a:solidFill>
            <a:schemeClr val="accent5"/>
          </a:solidFill>
          <a:ln/>
        </p:spPr>
        <p:txBody>
          <a:bodyPr wrap="square" lIns="36576" tIns="36576" rIns="36576" bIns="36576" rtlCol="0" anchor="ctr"/>
          <a:lstStyle/>
          <a:p>
            <a:pPr marL="0" indent="0" algn="ctr">
              <a:buNone/>
            </a:pPr>
            <a:r>
              <a:rPr lang="en-US" sz="1300" dirty="0">
                <a:solidFill>
                  <a:schemeClr val="tx1"/>
                </a:solidFill>
              </a:rPr>
              <a:t>Farmer action</a:t>
            </a:r>
            <a:endParaRPr lang="en-US" sz="1300" dirty="0"/>
          </a:p>
        </p:txBody>
      </p:sp>
      <p:sp>
        <p:nvSpPr>
          <p:cNvPr id="35" name="line-351"/>
          <p:cNvSpPr/>
          <p:nvPr/>
        </p:nvSpPr>
        <p:spPr>
          <a:xfrm>
            <a:off x="9486900" y="3986784"/>
            <a:ext cx="0" cy="128016"/>
          </a:xfrm>
          <a:prstGeom prst="line">
            <a:avLst/>
          </a:prstGeom>
          <a:noFill/>
          <a:ln w="12700">
            <a:solidFill>
              <a:schemeClr val="accent4"/>
            </a:solidFill>
            <a:prstDash val="solid"/>
            <a:tailEnd type="triangle"/>
          </a:ln>
        </p:spPr>
        <p:txBody>
          <a:bodyPr/>
          <a:lstStyle/>
          <a:p>
            <a:endParaRPr lang="ko-IN"/>
          </a:p>
        </p:txBody>
      </p:sp>
      <p:sp>
        <p:nvSpPr>
          <p:cNvPr id="36" name="box-352"/>
          <p:cNvSpPr txBox="1"/>
          <p:nvPr/>
        </p:nvSpPr>
        <p:spPr>
          <a:xfrm>
            <a:off x="8412480" y="4114800"/>
            <a:ext cx="2148840" cy="329184"/>
          </a:xfrm>
          <a:prstGeom prst="rect">
            <a:avLst/>
          </a:prstGeom>
          <a:solidFill>
            <a:schemeClr val="accent5"/>
          </a:solidFill>
          <a:ln/>
        </p:spPr>
        <p:txBody>
          <a:bodyPr wrap="square" lIns="36576" tIns="36576" rIns="36576" bIns="36576" rtlCol="0" anchor="ctr"/>
          <a:lstStyle/>
          <a:p>
            <a:pPr marL="0" indent="0" algn="ctr">
              <a:buNone/>
            </a:pPr>
            <a:r>
              <a:rPr lang="en-US" sz="1300" dirty="0">
                <a:solidFill>
                  <a:schemeClr val="tx1"/>
                </a:solidFill>
              </a:rPr>
              <a:t>Outcome</a:t>
            </a:r>
            <a:endParaRPr lang="en-US" sz="1300" dirty="0"/>
          </a:p>
        </p:txBody>
      </p:sp>
      <p:sp>
        <p:nvSpPr>
          <p:cNvPr id="37" name="line-353"/>
          <p:cNvSpPr/>
          <p:nvPr/>
        </p:nvSpPr>
        <p:spPr>
          <a:xfrm>
            <a:off x="9486900" y="4443984"/>
            <a:ext cx="0" cy="128016"/>
          </a:xfrm>
          <a:prstGeom prst="line">
            <a:avLst/>
          </a:prstGeom>
          <a:noFill/>
          <a:ln w="12700">
            <a:solidFill>
              <a:schemeClr val="accent4"/>
            </a:solidFill>
            <a:prstDash val="solid"/>
            <a:tailEnd type="triangle"/>
          </a:ln>
        </p:spPr>
        <p:txBody>
          <a:bodyPr/>
          <a:lstStyle/>
          <a:p>
            <a:endParaRPr lang="ko-IN"/>
          </a:p>
        </p:txBody>
      </p:sp>
      <p:sp>
        <p:nvSpPr>
          <p:cNvPr id="38" name="box-354"/>
          <p:cNvSpPr txBox="1"/>
          <p:nvPr/>
        </p:nvSpPr>
        <p:spPr>
          <a:xfrm>
            <a:off x="8412480" y="4572000"/>
            <a:ext cx="2148840" cy="329184"/>
          </a:xfrm>
          <a:prstGeom prst="rect">
            <a:avLst/>
          </a:prstGeom>
          <a:solidFill>
            <a:schemeClr val="accent5"/>
          </a:solidFill>
          <a:ln/>
        </p:spPr>
        <p:txBody>
          <a:bodyPr wrap="square" lIns="36576" tIns="36576" rIns="36576" bIns="36576" rtlCol="0" anchor="ctr"/>
          <a:lstStyle/>
          <a:p>
            <a:pPr marL="0" indent="0" algn="ctr">
              <a:buNone/>
            </a:pPr>
            <a:r>
              <a:rPr lang="en-US" sz="1300" dirty="0">
                <a:solidFill>
                  <a:schemeClr val="tx1"/>
                </a:solidFill>
              </a:rPr>
              <a:t>Feedback</a:t>
            </a:r>
            <a:endParaRPr lang="en-US" sz="1300" dirty="0"/>
          </a:p>
        </p:txBody>
      </p:sp>
      <p:sp>
        <p:nvSpPr>
          <p:cNvPr id="39" name="line-355"/>
          <p:cNvSpPr/>
          <p:nvPr/>
        </p:nvSpPr>
        <p:spPr>
          <a:xfrm>
            <a:off x="9486900" y="4901184"/>
            <a:ext cx="0" cy="128016"/>
          </a:xfrm>
          <a:prstGeom prst="line">
            <a:avLst/>
          </a:prstGeom>
          <a:noFill/>
          <a:ln w="12700">
            <a:solidFill>
              <a:schemeClr val="accent4"/>
            </a:solidFill>
            <a:prstDash val="solid"/>
            <a:tailEnd type="triangle"/>
          </a:ln>
        </p:spPr>
        <p:txBody>
          <a:bodyPr/>
          <a:lstStyle/>
          <a:p>
            <a:endParaRPr lang="ko-IN"/>
          </a:p>
        </p:txBody>
      </p:sp>
      <p:sp>
        <p:nvSpPr>
          <p:cNvPr id="40" name="box-356"/>
          <p:cNvSpPr txBox="1"/>
          <p:nvPr/>
        </p:nvSpPr>
        <p:spPr>
          <a:xfrm>
            <a:off x="8412480" y="5029200"/>
            <a:ext cx="2148840" cy="329184"/>
          </a:xfrm>
          <a:prstGeom prst="rect">
            <a:avLst/>
          </a:prstGeom>
          <a:solidFill>
            <a:schemeClr val="tx2"/>
          </a:solidFill>
          <a:ln/>
        </p:spPr>
        <p:txBody>
          <a:bodyPr wrap="square" lIns="36576" tIns="36576" rIns="36576" bIns="36576" rtlCol="0" anchor="ctr"/>
          <a:lstStyle/>
          <a:p>
            <a:pPr marL="0" indent="0" algn="ctr">
              <a:buNone/>
            </a:pPr>
            <a:r>
              <a:rPr lang="en-US" sz="1300" b="1" dirty="0">
                <a:solidFill>
                  <a:schemeClr val="bg2"/>
                </a:solidFill>
              </a:rPr>
              <a:t>Model improvement</a:t>
            </a:r>
            <a:endParaRPr lang="en-US" sz="1300" dirty="0"/>
          </a:p>
        </p:txBody>
      </p:sp>
      <p:sp>
        <p:nvSpPr>
          <p:cNvPr id="41" name="line-357"/>
          <p:cNvSpPr/>
          <p:nvPr/>
        </p:nvSpPr>
        <p:spPr>
          <a:xfrm>
            <a:off x="10561320" y="5193792"/>
            <a:ext cx="548640" cy="0"/>
          </a:xfrm>
          <a:prstGeom prst="line">
            <a:avLst/>
          </a:prstGeom>
          <a:noFill/>
          <a:ln w="25400">
            <a:solidFill>
              <a:schemeClr val="accent3"/>
            </a:solidFill>
            <a:prstDash val="solid"/>
          </a:ln>
        </p:spPr>
        <p:txBody>
          <a:bodyPr/>
          <a:lstStyle/>
          <a:p>
            <a:endParaRPr lang="ko-IN"/>
          </a:p>
        </p:txBody>
      </p:sp>
      <p:sp>
        <p:nvSpPr>
          <p:cNvPr id="42" name="line-358"/>
          <p:cNvSpPr/>
          <p:nvPr/>
        </p:nvSpPr>
        <p:spPr>
          <a:xfrm flipV="1">
            <a:off x="11109960" y="3364992"/>
            <a:ext cx="0" cy="1828800"/>
          </a:xfrm>
          <a:prstGeom prst="line">
            <a:avLst/>
          </a:prstGeom>
          <a:noFill/>
          <a:ln w="25400">
            <a:solidFill>
              <a:schemeClr val="accent3"/>
            </a:solidFill>
            <a:prstDash val="solid"/>
          </a:ln>
        </p:spPr>
        <p:txBody>
          <a:bodyPr/>
          <a:lstStyle/>
          <a:p>
            <a:endParaRPr lang="ko-IN"/>
          </a:p>
        </p:txBody>
      </p:sp>
      <p:sp>
        <p:nvSpPr>
          <p:cNvPr id="43" name="line-359"/>
          <p:cNvSpPr/>
          <p:nvPr/>
        </p:nvSpPr>
        <p:spPr>
          <a:xfrm flipH="1">
            <a:off x="10561320" y="3364992"/>
            <a:ext cx="548640" cy="0"/>
          </a:xfrm>
          <a:prstGeom prst="line">
            <a:avLst/>
          </a:prstGeom>
          <a:noFill/>
          <a:ln w="25400">
            <a:solidFill>
              <a:schemeClr val="accent3"/>
            </a:solidFill>
            <a:prstDash val="solid"/>
            <a:tailEnd type="triangle"/>
          </a:ln>
        </p:spPr>
        <p:txBody>
          <a:bodyPr/>
          <a:lstStyle/>
          <a:p>
            <a:endParaRPr lang="ko-IN"/>
          </a:p>
        </p:txBody>
      </p:sp>
      <p:sp>
        <p:nvSpPr>
          <p:cNvPr id="44" name="txt-360"/>
          <p:cNvSpPr txBox="1"/>
          <p:nvPr/>
        </p:nvSpPr>
        <p:spPr>
          <a:xfrm>
            <a:off x="548640" y="5742432"/>
            <a:ext cx="11091672" cy="594360"/>
          </a:xfrm>
          <a:prstGeom prst="rect">
            <a:avLst/>
          </a:prstGeom>
          <a:noFill/>
          <a:ln/>
        </p:spPr>
        <p:txBody>
          <a:bodyPr wrap="square" lIns="0" tIns="0" rIns="0" bIns="0" rtlCol="0" anchor="t"/>
          <a:lstStyle/>
          <a:p>
            <a:pPr marL="0" indent="0">
              <a:buNone/>
            </a:pPr>
            <a:r>
              <a:rPr lang="en-US" sz="1400" i="1" dirty="0">
                <a:solidFill>
                  <a:schemeClr val="accent4"/>
                </a:solidFill>
              </a:rPr>
              <a:t>Agrisathi does not claim to replace existing government agricultural advisory systems. The project explores a technical decision-intelligence layer that contextualizes heterogeneous agricultural data.</a:t>
            </a:r>
            <a:endParaRPr lang="en-US" sz="1400" dirty="0"/>
          </a:p>
        </p:txBody>
      </p:sp>
      <p:sp>
        <p:nvSpPr>
          <p:cNvPr id="6" name="Slide Number Placeholder 0"/>
          <p:cNvSpPr>
            <a:spLocks noGrp="1"/>
          </p:cNvSpPr>
          <p:nvPr>
            <p:ph type="sldNum" sz="quarter" idx="4294967295"/>
          </p:nvPr>
        </p:nvSpPr>
        <p:spPr>
          <a:xfrm>
            <a:off x="11064240" y="6446520"/>
            <a:ext cx="576072"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dot-361"/>
          <p:cNvSpPr/>
          <p:nvPr/>
        </p:nvSpPr>
        <p:spPr>
          <a:xfrm>
            <a:off x="548640" y="429768"/>
            <a:ext cx="118872" cy="118872"/>
          </a:xfrm>
          <a:prstGeom prst="ellipse">
            <a:avLst/>
          </a:prstGeom>
          <a:solidFill>
            <a:schemeClr val="accent3"/>
          </a:solidFill>
          <a:ln/>
        </p:spPr>
        <p:txBody>
          <a:bodyPr/>
          <a:lstStyle/>
          <a:p>
            <a:endParaRPr lang="ko-IN"/>
          </a:p>
        </p:txBody>
      </p:sp>
      <p:sp>
        <p:nvSpPr>
          <p:cNvPr id="3" name="txt-362"/>
          <p:cNvSpPr txBox="1"/>
          <p:nvPr/>
        </p:nvSpPr>
        <p:spPr>
          <a:xfrm>
            <a:off x="768096" y="384048"/>
            <a:ext cx="6400800" cy="256032"/>
          </a:xfrm>
          <a:prstGeom prst="rect">
            <a:avLst/>
          </a:prstGeom>
          <a:noFill/>
          <a:ln/>
        </p:spPr>
        <p:txBody>
          <a:bodyPr wrap="square" lIns="0" tIns="0" rIns="0" bIns="0" rtlCol="0" anchor="t"/>
          <a:lstStyle/>
          <a:p>
            <a:pPr marL="0" indent="0">
              <a:buNone/>
            </a:pPr>
            <a:r>
              <a:rPr lang="en-US" sz="1200" b="1" kern="0" spc="200" dirty="0">
                <a:solidFill>
                  <a:schemeClr val="accent4"/>
                </a:solidFill>
              </a:rPr>
              <a:t>09  ·  WORKED EXAMPLE</a:t>
            </a:r>
            <a:endParaRPr lang="en-US" sz="1200" dirty="0"/>
          </a:p>
        </p:txBody>
      </p:sp>
      <p:sp>
        <p:nvSpPr>
          <p:cNvPr id="4" name="box-363"/>
          <p:cNvSpPr txBox="1"/>
          <p:nvPr/>
        </p:nvSpPr>
        <p:spPr>
          <a:xfrm>
            <a:off x="9537192" y="365760"/>
            <a:ext cx="2103120" cy="274320"/>
          </a:xfrm>
          <a:prstGeom prst="rect">
            <a:avLst/>
          </a:prstGeom>
          <a:ln w="12700">
            <a:solidFill>
              <a:schemeClr val="accent4"/>
            </a:solidFill>
          </a:ln>
        </p:spPr>
        <p:txBody>
          <a:bodyPr wrap="square" lIns="0" tIns="0" rIns="0" bIns="0" rtlCol="0" anchor="ctr"/>
          <a:lstStyle/>
          <a:p>
            <a:pPr marL="0" indent="0" algn="ctr">
              <a:buNone/>
            </a:pPr>
            <a:r>
              <a:rPr lang="en-US" sz="1000" b="1" dirty="0">
                <a:solidFill>
                  <a:schemeClr val="accent4"/>
                </a:solidFill>
              </a:rPr>
              <a:t>ILLUSTRATIVE</a:t>
            </a:r>
            <a:endParaRPr lang="en-US" sz="1000" dirty="0"/>
          </a:p>
        </p:txBody>
      </p:sp>
      <p:sp>
        <p:nvSpPr>
          <p:cNvPr id="5" name="Text 1"/>
          <p:cNvSpPr>
            <a:spLocks noGrp="1"/>
          </p:cNvSpPr>
          <p:nvPr>
            <p:ph type="title" idx="101" hasCustomPrompt="1"/>
          </p:nvPr>
        </p:nvSpPr>
        <p:spPr>
          <a:xfrm>
            <a:off x="548640" y="658368"/>
            <a:ext cx="11091672" cy="731520"/>
          </a:xfrm>
          <a:prstGeom prst="rect">
            <a:avLst/>
          </a:prstGeom>
          <a:noFill/>
          <a:ln/>
        </p:spPr>
        <p:txBody>
          <a:bodyPr wrap="square" lIns="0" tIns="0" rIns="0" bIns="0" rtlCol="0" anchor="t"/>
          <a:lstStyle/>
          <a:p>
            <a:pPr marL="0" indent="0" algn="l">
              <a:buNone/>
            </a:pPr>
            <a:r>
              <a:rPr lang="en-US" sz="3600" b="1" dirty="0">
                <a:solidFill>
                  <a:schemeClr val="tx2"/>
                </a:solidFill>
              </a:rPr>
              <a:t>Example: how a decision is made</a:t>
            </a:r>
            <a:endParaRPr lang="en-US" sz="3600" dirty="0"/>
          </a:p>
        </p:txBody>
      </p:sp>
      <p:sp>
        <p:nvSpPr>
          <p:cNvPr id="7" name="box-364"/>
          <p:cNvSpPr txBox="1"/>
          <p:nvPr/>
        </p:nvSpPr>
        <p:spPr>
          <a:xfrm>
            <a:off x="548640" y="1371600"/>
            <a:ext cx="11091672" cy="365760"/>
          </a:xfrm>
          <a:prstGeom prst="rect">
            <a:avLst/>
          </a:prstGeom>
          <a:solidFill>
            <a:schemeClr val="accent3"/>
          </a:solidFill>
          <a:ln/>
        </p:spPr>
        <p:txBody>
          <a:bodyPr wrap="square" lIns="45720" tIns="45720" rIns="45720" bIns="45720" rtlCol="0" anchor="ctr"/>
          <a:lstStyle/>
          <a:p>
            <a:pPr marL="0" indent="0" algn="ctr">
              <a:buNone/>
            </a:pPr>
            <a:r>
              <a:rPr lang="en-US" sz="1300" b="1" dirty="0">
                <a:solidFill>
                  <a:schemeClr val="tx1"/>
                </a:solidFill>
              </a:rPr>
              <a:t>ILLUSTRATIVE EXAMPLE — NOT A VALIDATED AGRONOMIC RECOMMENDATION</a:t>
            </a:r>
            <a:endParaRPr lang="en-US" sz="1300" dirty="0"/>
          </a:p>
        </p:txBody>
      </p:sp>
      <p:sp>
        <p:nvSpPr>
          <p:cNvPr id="8" name="shape-365"/>
          <p:cNvSpPr/>
          <p:nvPr/>
        </p:nvSpPr>
        <p:spPr>
          <a:xfrm>
            <a:off x="548640" y="1874520"/>
            <a:ext cx="3931920" cy="3931920"/>
          </a:xfrm>
          <a:prstGeom prst="rect">
            <a:avLst/>
          </a:prstGeom>
          <a:solidFill>
            <a:schemeClr val="bg1"/>
          </a:solidFill>
          <a:ln w="12700">
            <a:solidFill>
              <a:schemeClr val="accent2"/>
            </a:solidFill>
            <a:prstDash val="solid"/>
          </a:ln>
        </p:spPr>
        <p:txBody>
          <a:bodyPr/>
          <a:lstStyle/>
          <a:p>
            <a:endParaRPr lang="ko-IN"/>
          </a:p>
        </p:txBody>
      </p:sp>
      <p:sp>
        <p:nvSpPr>
          <p:cNvPr id="9" name="txt-366"/>
          <p:cNvSpPr txBox="1"/>
          <p:nvPr/>
        </p:nvSpPr>
        <p:spPr>
          <a:xfrm>
            <a:off x="777240" y="2011680"/>
            <a:ext cx="3474720" cy="274320"/>
          </a:xfrm>
          <a:prstGeom prst="rect">
            <a:avLst/>
          </a:prstGeom>
          <a:noFill/>
          <a:ln/>
        </p:spPr>
        <p:txBody>
          <a:bodyPr wrap="square" lIns="0" tIns="0" rIns="0" bIns="0" rtlCol="0" anchor="t"/>
          <a:lstStyle/>
          <a:p>
            <a:pPr marL="0" indent="0">
              <a:buNone/>
            </a:pPr>
            <a:r>
              <a:rPr lang="en-US" sz="1400" b="1" kern="0" spc="200" dirty="0">
                <a:solidFill>
                  <a:schemeClr val="accent4"/>
                </a:solidFill>
              </a:rPr>
              <a:t>INPUTS  </a:t>
            </a:r>
            <a:r>
              <a:rPr lang="en-US" sz="1400" b="1" dirty="0">
                <a:solidFill>
                  <a:schemeClr val="tx2"/>
                </a:solidFill>
              </a:rPr>
              <a:t>Crop: Tomato</a:t>
            </a:r>
            <a:endParaRPr lang="en-US" sz="1400" dirty="0"/>
          </a:p>
        </p:txBody>
      </p:sp>
      <p:sp>
        <p:nvSpPr>
          <p:cNvPr id="10" name="line-367"/>
          <p:cNvSpPr/>
          <p:nvPr/>
        </p:nvSpPr>
        <p:spPr>
          <a:xfrm>
            <a:off x="777240" y="2468880"/>
            <a:ext cx="3474720" cy="0"/>
          </a:xfrm>
          <a:prstGeom prst="line">
            <a:avLst/>
          </a:prstGeom>
          <a:noFill/>
          <a:ln w="9525">
            <a:solidFill>
              <a:schemeClr val="accent5"/>
            </a:solidFill>
            <a:prstDash val="solid"/>
          </a:ln>
        </p:spPr>
        <p:txBody>
          <a:bodyPr/>
          <a:lstStyle/>
          <a:p>
            <a:endParaRPr lang="ko-IN"/>
          </a:p>
        </p:txBody>
      </p:sp>
      <p:sp>
        <p:nvSpPr>
          <p:cNvPr id="11" name="txt-368"/>
          <p:cNvSpPr txBox="1"/>
          <p:nvPr/>
        </p:nvSpPr>
        <p:spPr>
          <a:xfrm>
            <a:off x="777240" y="2606040"/>
            <a:ext cx="2011680" cy="274320"/>
          </a:xfrm>
          <a:prstGeom prst="rect">
            <a:avLst/>
          </a:prstGeom>
          <a:noFill/>
          <a:ln/>
        </p:spPr>
        <p:txBody>
          <a:bodyPr wrap="square" lIns="0" tIns="0" rIns="0" bIns="0" rtlCol="0" anchor="t"/>
          <a:lstStyle/>
          <a:p>
            <a:pPr marL="0" indent="0">
              <a:buNone/>
            </a:pPr>
            <a:r>
              <a:rPr lang="en-US" sz="1400" dirty="0">
                <a:solidFill>
                  <a:schemeClr val="accent4"/>
                </a:solidFill>
              </a:rPr>
              <a:t>Soil nitrogen</a:t>
            </a:r>
            <a:endParaRPr lang="en-US" sz="1400" dirty="0"/>
          </a:p>
        </p:txBody>
      </p:sp>
      <p:sp>
        <p:nvSpPr>
          <p:cNvPr id="12" name="txt-369"/>
          <p:cNvSpPr txBox="1"/>
          <p:nvPr/>
        </p:nvSpPr>
        <p:spPr>
          <a:xfrm>
            <a:off x="2743200" y="2606040"/>
            <a:ext cx="1508760" cy="274320"/>
          </a:xfrm>
          <a:prstGeom prst="rect">
            <a:avLst/>
          </a:prstGeom>
          <a:noFill/>
          <a:ln/>
        </p:spPr>
        <p:txBody>
          <a:bodyPr wrap="square" lIns="0" tIns="0" rIns="0" bIns="0" rtlCol="0" anchor="t"/>
          <a:lstStyle/>
          <a:p>
            <a:pPr marL="0" indent="0" algn="r">
              <a:buNone/>
            </a:pPr>
            <a:r>
              <a:rPr lang="en-US" sz="1400" b="1" dirty="0">
                <a:solidFill>
                  <a:schemeClr val="tx1"/>
                </a:solidFill>
              </a:rPr>
              <a:t>Low</a:t>
            </a:r>
            <a:endParaRPr lang="en-US" sz="1400" dirty="0"/>
          </a:p>
        </p:txBody>
      </p:sp>
      <p:sp>
        <p:nvSpPr>
          <p:cNvPr id="13" name="line-370"/>
          <p:cNvSpPr/>
          <p:nvPr/>
        </p:nvSpPr>
        <p:spPr>
          <a:xfrm>
            <a:off x="777240" y="2999232"/>
            <a:ext cx="3474720" cy="0"/>
          </a:xfrm>
          <a:prstGeom prst="line">
            <a:avLst/>
          </a:prstGeom>
          <a:noFill/>
          <a:ln w="9525">
            <a:solidFill>
              <a:schemeClr val="accent5"/>
            </a:solidFill>
            <a:prstDash val="solid"/>
          </a:ln>
        </p:spPr>
        <p:txBody>
          <a:bodyPr/>
          <a:lstStyle/>
          <a:p>
            <a:endParaRPr lang="ko-IN"/>
          </a:p>
        </p:txBody>
      </p:sp>
      <p:sp>
        <p:nvSpPr>
          <p:cNvPr id="14" name="txt-371"/>
          <p:cNvSpPr txBox="1"/>
          <p:nvPr/>
        </p:nvSpPr>
        <p:spPr>
          <a:xfrm>
            <a:off x="777240" y="3136392"/>
            <a:ext cx="2011680" cy="274320"/>
          </a:xfrm>
          <a:prstGeom prst="rect">
            <a:avLst/>
          </a:prstGeom>
          <a:noFill/>
          <a:ln/>
        </p:spPr>
        <p:txBody>
          <a:bodyPr wrap="square" lIns="0" tIns="0" rIns="0" bIns="0" rtlCol="0" anchor="t"/>
          <a:lstStyle/>
          <a:p>
            <a:pPr marL="0" indent="0">
              <a:buNone/>
            </a:pPr>
            <a:r>
              <a:rPr lang="en-US" sz="1400" dirty="0">
                <a:solidFill>
                  <a:schemeClr val="accent4"/>
                </a:solidFill>
              </a:rPr>
              <a:t>Soil moisture</a:t>
            </a:r>
            <a:endParaRPr lang="en-US" sz="1400" dirty="0"/>
          </a:p>
        </p:txBody>
      </p:sp>
      <p:sp>
        <p:nvSpPr>
          <p:cNvPr id="15" name="txt-372"/>
          <p:cNvSpPr txBox="1"/>
          <p:nvPr/>
        </p:nvSpPr>
        <p:spPr>
          <a:xfrm>
            <a:off x="2743200" y="3136392"/>
            <a:ext cx="1508760" cy="274320"/>
          </a:xfrm>
          <a:prstGeom prst="rect">
            <a:avLst/>
          </a:prstGeom>
          <a:noFill/>
          <a:ln/>
        </p:spPr>
        <p:txBody>
          <a:bodyPr wrap="square" lIns="0" tIns="0" rIns="0" bIns="0" rtlCol="0" anchor="t"/>
          <a:lstStyle/>
          <a:p>
            <a:pPr marL="0" indent="0" algn="r">
              <a:buNone/>
            </a:pPr>
            <a:r>
              <a:rPr lang="en-US" sz="1400" b="1" dirty="0">
                <a:solidFill>
                  <a:schemeClr val="tx1"/>
                </a:solidFill>
              </a:rPr>
              <a:t>Adequate</a:t>
            </a:r>
            <a:endParaRPr lang="en-US" sz="1400" dirty="0"/>
          </a:p>
        </p:txBody>
      </p:sp>
      <p:sp>
        <p:nvSpPr>
          <p:cNvPr id="16" name="line-373"/>
          <p:cNvSpPr/>
          <p:nvPr/>
        </p:nvSpPr>
        <p:spPr>
          <a:xfrm>
            <a:off x="777240" y="3529584"/>
            <a:ext cx="3474720" cy="0"/>
          </a:xfrm>
          <a:prstGeom prst="line">
            <a:avLst/>
          </a:prstGeom>
          <a:noFill/>
          <a:ln w="9525">
            <a:solidFill>
              <a:schemeClr val="accent5"/>
            </a:solidFill>
            <a:prstDash val="solid"/>
          </a:ln>
        </p:spPr>
        <p:txBody>
          <a:bodyPr/>
          <a:lstStyle/>
          <a:p>
            <a:endParaRPr lang="ko-IN"/>
          </a:p>
        </p:txBody>
      </p:sp>
      <p:sp>
        <p:nvSpPr>
          <p:cNvPr id="17" name="txt-374"/>
          <p:cNvSpPr txBox="1"/>
          <p:nvPr/>
        </p:nvSpPr>
        <p:spPr>
          <a:xfrm>
            <a:off x="777240" y="3666744"/>
            <a:ext cx="2011680" cy="274320"/>
          </a:xfrm>
          <a:prstGeom prst="rect">
            <a:avLst/>
          </a:prstGeom>
          <a:noFill/>
          <a:ln/>
        </p:spPr>
        <p:txBody>
          <a:bodyPr wrap="square" lIns="0" tIns="0" rIns="0" bIns="0" rtlCol="0" anchor="t"/>
          <a:lstStyle/>
          <a:p>
            <a:pPr marL="0" indent="0">
              <a:buNone/>
            </a:pPr>
            <a:r>
              <a:rPr lang="en-US" sz="1400" dirty="0">
                <a:solidFill>
                  <a:schemeClr val="accent4"/>
                </a:solidFill>
              </a:rPr>
              <a:t>Rain probability</a:t>
            </a:r>
            <a:endParaRPr lang="en-US" sz="1400" dirty="0"/>
          </a:p>
        </p:txBody>
      </p:sp>
      <p:sp>
        <p:nvSpPr>
          <p:cNvPr id="18" name="txt-375"/>
          <p:cNvSpPr txBox="1"/>
          <p:nvPr/>
        </p:nvSpPr>
        <p:spPr>
          <a:xfrm>
            <a:off x="2743200" y="3666744"/>
            <a:ext cx="1508760" cy="274320"/>
          </a:xfrm>
          <a:prstGeom prst="rect">
            <a:avLst/>
          </a:prstGeom>
          <a:noFill/>
          <a:ln/>
        </p:spPr>
        <p:txBody>
          <a:bodyPr wrap="square" lIns="0" tIns="0" rIns="0" bIns="0" rtlCol="0" anchor="t"/>
          <a:lstStyle/>
          <a:p>
            <a:pPr marL="0" indent="0" algn="r">
              <a:buNone/>
            </a:pPr>
            <a:r>
              <a:rPr lang="en-US" sz="1400" b="1" dirty="0">
                <a:solidFill>
                  <a:schemeClr val="tx1"/>
                </a:solidFill>
              </a:rPr>
              <a:t>High</a:t>
            </a:r>
            <a:endParaRPr lang="en-US" sz="1400" dirty="0"/>
          </a:p>
        </p:txBody>
      </p:sp>
      <p:sp>
        <p:nvSpPr>
          <p:cNvPr id="19" name="line-376"/>
          <p:cNvSpPr/>
          <p:nvPr/>
        </p:nvSpPr>
        <p:spPr>
          <a:xfrm>
            <a:off x="777240" y="4059936"/>
            <a:ext cx="3474720" cy="0"/>
          </a:xfrm>
          <a:prstGeom prst="line">
            <a:avLst/>
          </a:prstGeom>
          <a:noFill/>
          <a:ln w="9525">
            <a:solidFill>
              <a:schemeClr val="accent5"/>
            </a:solidFill>
            <a:prstDash val="solid"/>
          </a:ln>
        </p:spPr>
        <p:txBody>
          <a:bodyPr/>
          <a:lstStyle/>
          <a:p>
            <a:endParaRPr lang="ko-IN"/>
          </a:p>
        </p:txBody>
      </p:sp>
      <p:sp>
        <p:nvSpPr>
          <p:cNvPr id="20" name="txt-377"/>
          <p:cNvSpPr txBox="1"/>
          <p:nvPr/>
        </p:nvSpPr>
        <p:spPr>
          <a:xfrm>
            <a:off x="777240" y="4197096"/>
            <a:ext cx="2011680" cy="274320"/>
          </a:xfrm>
          <a:prstGeom prst="rect">
            <a:avLst/>
          </a:prstGeom>
          <a:noFill/>
          <a:ln/>
        </p:spPr>
        <p:txBody>
          <a:bodyPr wrap="square" lIns="0" tIns="0" rIns="0" bIns="0" rtlCol="0" anchor="t"/>
          <a:lstStyle/>
          <a:p>
            <a:pPr marL="0" indent="0">
              <a:buNone/>
            </a:pPr>
            <a:r>
              <a:rPr lang="en-US" sz="1400" dirty="0">
                <a:solidFill>
                  <a:schemeClr val="accent4"/>
                </a:solidFill>
              </a:rPr>
              <a:t>Crop stage</a:t>
            </a:r>
            <a:endParaRPr lang="en-US" sz="1400" dirty="0"/>
          </a:p>
        </p:txBody>
      </p:sp>
      <p:sp>
        <p:nvSpPr>
          <p:cNvPr id="21" name="txt-378"/>
          <p:cNvSpPr txBox="1"/>
          <p:nvPr/>
        </p:nvSpPr>
        <p:spPr>
          <a:xfrm>
            <a:off x="2743200" y="4197096"/>
            <a:ext cx="1508760" cy="274320"/>
          </a:xfrm>
          <a:prstGeom prst="rect">
            <a:avLst/>
          </a:prstGeom>
          <a:noFill/>
          <a:ln/>
        </p:spPr>
        <p:txBody>
          <a:bodyPr wrap="square" lIns="0" tIns="0" rIns="0" bIns="0" rtlCol="0" anchor="t"/>
          <a:lstStyle/>
          <a:p>
            <a:pPr marL="0" indent="0" algn="r">
              <a:buNone/>
            </a:pPr>
            <a:r>
              <a:rPr lang="en-US" sz="1400" b="1" dirty="0">
                <a:solidFill>
                  <a:schemeClr val="tx1"/>
                </a:solidFill>
              </a:rPr>
              <a:t>Flowering</a:t>
            </a:r>
            <a:endParaRPr lang="en-US" sz="1400" dirty="0"/>
          </a:p>
        </p:txBody>
      </p:sp>
      <p:sp>
        <p:nvSpPr>
          <p:cNvPr id="22" name="line-379"/>
          <p:cNvSpPr/>
          <p:nvPr/>
        </p:nvSpPr>
        <p:spPr>
          <a:xfrm>
            <a:off x="777240" y="4590288"/>
            <a:ext cx="3474720" cy="0"/>
          </a:xfrm>
          <a:prstGeom prst="line">
            <a:avLst/>
          </a:prstGeom>
          <a:noFill/>
          <a:ln w="9525">
            <a:solidFill>
              <a:schemeClr val="accent5"/>
            </a:solidFill>
            <a:prstDash val="solid"/>
          </a:ln>
        </p:spPr>
        <p:txBody>
          <a:bodyPr/>
          <a:lstStyle/>
          <a:p>
            <a:endParaRPr lang="ko-IN"/>
          </a:p>
        </p:txBody>
      </p:sp>
      <p:sp>
        <p:nvSpPr>
          <p:cNvPr id="23" name="txt-380"/>
          <p:cNvSpPr txBox="1"/>
          <p:nvPr/>
        </p:nvSpPr>
        <p:spPr>
          <a:xfrm>
            <a:off x="777240" y="4727448"/>
            <a:ext cx="2011680" cy="274320"/>
          </a:xfrm>
          <a:prstGeom prst="rect">
            <a:avLst/>
          </a:prstGeom>
          <a:noFill/>
          <a:ln/>
        </p:spPr>
        <p:txBody>
          <a:bodyPr wrap="square" lIns="0" tIns="0" rIns="0" bIns="0" rtlCol="0" anchor="t"/>
          <a:lstStyle/>
          <a:p>
            <a:pPr marL="0" indent="0">
              <a:buNone/>
            </a:pPr>
            <a:r>
              <a:rPr lang="en-US" sz="1400" dirty="0">
                <a:solidFill>
                  <a:schemeClr val="accent4"/>
                </a:solidFill>
              </a:rPr>
              <a:t>Pest risk</a:t>
            </a:r>
            <a:endParaRPr lang="en-US" sz="1400" dirty="0"/>
          </a:p>
        </p:txBody>
      </p:sp>
      <p:sp>
        <p:nvSpPr>
          <p:cNvPr id="24" name="txt-381"/>
          <p:cNvSpPr txBox="1"/>
          <p:nvPr/>
        </p:nvSpPr>
        <p:spPr>
          <a:xfrm>
            <a:off x="2743200" y="4727448"/>
            <a:ext cx="1508760" cy="274320"/>
          </a:xfrm>
          <a:prstGeom prst="rect">
            <a:avLst/>
          </a:prstGeom>
          <a:noFill/>
          <a:ln/>
        </p:spPr>
        <p:txBody>
          <a:bodyPr wrap="square" lIns="0" tIns="0" rIns="0" bIns="0" rtlCol="0" anchor="t"/>
          <a:lstStyle/>
          <a:p>
            <a:pPr marL="0" indent="0" algn="r">
              <a:buNone/>
            </a:pPr>
            <a:r>
              <a:rPr lang="en-US" sz="1400" b="1" dirty="0">
                <a:solidFill>
                  <a:schemeClr val="tx1"/>
                </a:solidFill>
              </a:rPr>
              <a:t>Moderate</a:t>
            </a:r>
            <a:endParaRPr lang="en-US" sz="1400" dirty="0"/>
          </a:p>
        </p:txBody>
      </p:sp>
      <p:sp>
        <p:nvSpPr>
          <p:cNvPr id="25" name="line-382"/>
          <p:cNvSpPr/>
          <p:nvPr/>
        </p:nvSpPr>
        <p:spPr>
          <a:xfrm>
            <a:off x="777240" y="5120640"/>
            <a:ext cx="3474720" cy="0"/>
          </a:xfrm>
          <a:prstGeom prst="line">
            <a:avLst/>
          </a:prstGeom>
          <a:noFill/>
          <a:ln w="9525">
            <a:solidFill>
              <a:schemeClr val="accent5"/>
            </a:solidFill>
            <a:prstDash val="solid"/>
          </a:ln>
        </p:spPr>
        <p:txBody>
          <a:bodyPr/>
          <a:lstStyle/>
          <a:p>
            <a:endParaRPr lang="ko-IN"/>
          </a:p>
        </p:txBody>
      </p:sp>
      <p:sp>
        <p:nvSpPr>
          <p:cNvPr id="26" name="txt-383"/>
          <p:cNvSpPr txBox="1"/>
          <p:nvPr/>
        </p:nvSpPr>
        <p:spPr>
          <a:xfrm>
            <a:off x="777240" y="5257800"/>
            <a:ext cx="2011680" cy="274320"/>
          </a:xfrm>
          <a:prstGeom prst="rect">
            <a:avLst/>
          </a:prstGeom>
          <a:noFill/>
          <a:ln/>
        </p:spPr>
        <p:txBody>
          <a:bodyPr wrap="square" lIns="0" tIns="0" rIns="0" bIns="0" rtlCol="0" anchor="t"/>
          <a:lstStyle/>
          <a:p>
            <a:pPr marL="0" indent="0">
              <a:buNone/>
            </a:pPr>
            <a:r>
              <a:rPr lang="en-US" sz="1400" dirty="0">
                <a:solidFill>
                  <a:schemeClr val="accent4"/>
                </a:solidFill>
              </a:rPr>
              <a:t>Market price</a:t>
            </a:r>
            <a:endParaRPr lang="en-US" sz="1400" dirty="0"/>
          </a:p>
        </p:txBody>
      </p:sp>
      <p:sp>
        <p:nvSpPr>
          <p:cNvPr id="27" name="txt-384"/>
          <p:cNvSpPr txBox="1"/>
          <p:nvPr/>
        </p:nvSpPr>
        <p:spPr>
          <a:xfrm>
            <a:off x="2743200" y="5257800"/>
            <a:ext cx="1508760" cy="274320"/>
          </a:xfrm>
          <a:prstGeom prst="rect">
            <a:avLst/>
          </a:prstGeom>
          <a:noFill/>
          <a:ln/>
        </p:spPr>
        <p:txBody>
          <a:bodyPr wrap="square" lIns="0" tIns="0" rIns="0" bIns="0" rtlCol="0" anchor="t"/>
          <a:lstStyle/>
          <a:p>
            <a:pPr marL="0" indent="0" algn="r">
              <a:buNone/>
            </a:pPr>
            <a:r>
              <a:rPr lang="en-US" sz="1400" b="1" dirty="0">
                <a:solidFill>
                  <a:schemeClr val="tx1"/>
                </a:solidFill>
              </a:rPr>
              <a:t>Rising</a:t>
            </a:r>
            <a:endParaRPr lang="en-US" sz="1400" dirty="0"/>
          </a:p>
        </p:txBody>
      </p:sp>
      <p:sp>
        <p:nvSpPr>
          <p:cNvPr id="28" name="line-385"/>
          <p:cNvSpPr/>
          <p:nvPr/>
        </p:nvSpPr>
        <p:spPr>
          <a:xfrm>
            <a:off x="4480560" y="3840480"/>
            <a:ext cx="548640" cy="0"/>
          </a:xfrm>
          <a:prstGeom prst="line">
            <a:avLst/>
          </a:prstGeom>
          <a:noFill/>
          <a:ln w="25400">
            <a:solidFill>
              <a:schemeClr val="tx2"/>
            </a:solidFill>
            <a:prstDash val="solid"/>
            <a:tailEnd type="triangle"/>
          </a:ln>
        </p:spPr>
        <p:txBody>
          <a:bodyPr/>
          <a:lstStyle/>
          <a:p>
            <a:endParaRPr lang="ko-IN"/>
          </a:p>
        </p:txBody>
      </p:sp>
      <p:sp>
        <p:nvSpPr>
          <p:cNvPr id="29" name="box-386"/>
          <p:cNvSpPr txBox="1"/>
          <p:nvPr/>
        </p:nvSpPr>
        <p:spPr>
          <a:xfrm>
            <a:off x="5029200" y="3108960"/>
            <a:ext cx="1828800" cy="1463040"/>
          </a:xfrm>
          <a:prstGeom prst="rect">
            <a:avLst/>
          </a:prstGeom>
          <a:solidFill>
            <a:schemeClr val="tx2"/>
          </a:solidFill>
          <a:ln/>
        </p:spPr>
        <p:txBody>
          <a:bodyPr wrap="square" lIns="73152" tIns="73152" rIns="73152" bIns="73152" rtlCol="0" anchor="ctr"/>
          <a:lstStyle/>
          <a:p>
            <a:pPr marL="0" indent="0" algn="ctr">
              <a:buNone/>
            </a:pPr>
            <a:r>
              <a:rPr lang="en-US" sz="1800" b="1" dirty="0">
                <a:solidFill>
                  <a:schemeClr val="bg2"/>
                </a:solidFill>
              </a:rPr>
              <a:t>DECISION</a:t>
            </a:r>
            <a:endParaRPr lang="en-US" sz="1800" dirty="0"/>
          </a:p>
          <a:p>
            <a:pPr marL="0" indent="0" algn="ctr">
              <a:buNone/>
            </a:pPr>
            <a:r>
              <a:rPr lang="en-US" sz="1800" b="1" dirty="0">
                <a:solidFill>
                  <a:schemeClr val="bg2"/>
                </a:solidFill>
              </a:rPr>
              <a:t>ENGINE</a:t>
            </a:r>
            <a:endParaRPr lang="en-US" sz="1800" dirty="0"/>
          </a:p>
        </p:txBody>
      </p:sp>
      <p:sp>
        <p:nvSpPr>
          <p:cNvPr id="30" name="line-387"/>
          <p:cNvSpPr/>
          <p:nvPr/>
        </p:nvSpPr>
        <p:spPr>
          <a:xfrm>
            <a:off x="6858000" y="3840480"/>
            <a:ext cx="548640" cy="0"/>
          </a:xfrm>
          <a:prstGeom prst="line">
            <a:avLst/>
          </a:prstGeom>
          <a:noFill/>
          <a:ln w="25400">
            <a:solidFill>
              <a:schemeClr val="tx2"/>
            </a:solidFill>
            <a:prstDash val="solid"/>
            <a:tailEnd type="triangle"/>
          </a:ln>
        </p:spPr>
        <p:txBody>
          <a:bodyPr/>
          <a:lstStyle/>
          <a:p>
            <a:endParaRPr lang="ko-IN"/>
          </a:p>
        </p:txBody>
      </p:sp>
      <p:sp>
        <p:nvSpPr>
          <p:cNvPr id="31" name="shape-388"/>
          <p:cNvSpPr/>
          <p:nvPr/>
        </p:nvSpPr>
        <p:spPr>
          <a:xfrm>
            <a:off x="7406640" y="1874520"/>
            <a:ext cx="4233672" cy="3931920"/>
          </a:xfrm>
          <a:prstGeom prst="rect">
            <a:avLst/>
          </a:prstGeom>
          <a:solidFill>
            <a:schemeClr val="bg1"/>
          </a:solidFill>
          <a:ln w="12700">
            <a:solidFill>
              <a:schemeClr val="accent2"/>
            </a:solidFill>
            <a:prstDash val="solid"/>
          </a:ln>
        </p:spPr>
        <p:txBody>
          <a:bodyPr/>
          <a:lstStyle/>
          <a:p>
            <a:endParaRPr lang="ko-IN"/>
          </a:p>
        </p:txBody>
      </p:sp>
      <p:sp>
        <p:nvSpPr>
          <p:cNvPr id="32" name="txt-389"/>
          <p:cNvSpPr txBox="1"/>
          <p:nvPr/>
        </p:nvSpPr>
        <p:spPr>
          <a:xfrm>
            <a:off x="7635240" y="2011680"/>
            <a:ext cx="3840480" cy="274320"/>
          </a:xfrm>
          <a:prstGeom prst="rect">
            <a:avLst/>
          </a:prstGeom>
          <a:noFill/>
          <a:ln/>
        </p:spPr>
        <p:txBody>
          <a:bodyPr wrap="square" lIns="0" tIns="0" rIns="0" bIns="0" rtlCol="0" anchor="t"/>
          <a:lstStyle/>
          <a:p>
            <a:pPr marL="0" indent="0">
              <a:buNone/>
            </a:pPr>
            <a:r>
              <a:rPr lang="en-US" sz="1200" b="1" kern="0" spc="200" dirty="0">
                <a:solidFill>
                  <a:schemeClr val="accent4"/>
                </a:solidFill>
              </a:rPr>
              <a:t>POTENTIAL RECOMMENDATIONS</a:t>
            </a:r>
            <a:endParaRPr lang="en-US" sz="1200" dirty="0"/>
          </a:p>
        </p:txBody>
      </p:sp>
      <p:sp>
        <p:nvSpPr>
          <p:cNvPr id="33" name="box-390"/>
          <p:cNvSpPr txBox="1"/>
          <p:nvPr/>
        </p:nvSpPr>
        <p:spPr>
          <a:xfrm>
            <a:off x="7635240" y="2441448"/>
            <a:ext cx="365760" cy="365760"/>
          </a:xfrm>
          <a:prstGeom prst="rect">
            <a:avLst/>
          </a:prstGeom>
          <a:solidFill>
            <a:schemeClr val="tx2"/>
          </a:solidFill>
          <a:ln/>
        </p:spPr>
        <p:txBody>
          <a:bodyPr wrap="square" lIns="0" tIns="0" rIns="0" bIns="0" rtlCol="0" anchor="ctr"/>
          <a:lstStyle/>
          <a:p>
            <a:pPr marL="0" indent="0" algn="ctr">
              <a:buNone/>
            </a:pPr>
            <a:r>
              <a:rPr lang="en-US" sz="1400" b="1" dirty="0">
                <a:solidFill>
                  <a:schemeClr val="bg2"/>
                </a:solidFill>
              </a:rPr>
              <a:t>1</a:t>
            </a:r>
            <a:endParaRPr lang="en-US" sz="1400" dirty="0"/>
          </a:p>
        </p:txBody>
      </p:sp>
      <p:sp>
        <p:nvSpPr>
          <p:cNvPr id="34" name="txt-391"/>
          <p:cNvSpPr txBox="1"/>
          <p:nvPr/>
        </p:nvSpPr>
        <p:spPr>
          <a:xfrm>
            <a:off x="8183880" y="2423160"/>
            <a:ext cx="3291840" cy="502920"/>
          </a:xfrm>
          <a:prstGeom prst="rect">
            <a:avLst/>
          </a:prstGeom>
          <a:noFill/>
          <a:ln/>
        </p:spPr>
        <p:txBody>
          <a:bodyPr wrap="square" lIns="0" tIns="0" rIns="0" bIns="0" rtlCol="0" anchor="t"/>
          <a:lstStyle/>
          <a:p>
            <a:pPr marL="0" indent="0">
              <a:buNone/>
            </a:pPr>
            <a:r>
              <a:rPr lang="en-US" sz="1600" b="1" dirty="0">
                <a:solidFill>
                  <a:schemeClr val="tx2"/>
                </a:solidFill>
              </a:rPr>
              <a:t>Delay irrigation</a:t>
            </a:r>
            <a:endParaRPr lang="en-US" sz="1600" dirty="0"/>
          </a:p>
        </p:txBody>
      </p:sp>
      <p:sp>
        <p:nvSpPr>
          <p:cNvPr id="35" name="txt-392"/>
          <p:cNvSpPr txBox="1"/>
          <p:nvPr/>
        </p:nvSpPr>
        <p:spPr>
          <a:xfrm>
            <a:off x="8183880" y="2697480"/>
            <a:ext cx="3291840" cy="228600"/>
          </a:xfrm>
          <a:prstGeom prst="rect">
            <a:avLst/>
          </a:prstGeom>
          <a:noFill/>
          <a:ln/>
        </p:spPr>
        <p:txBody>
          <a:bodyPr wrap="square" lIns="0" tIns="0" rIns="0" bIns="0" rtlCol="0" anchor="t"/>
          <a:lstStyle/>
          <a:p>
            <a:pPr marL="0" indent="0">
              <a:buNone/>
            </a:pPr>
            <a:r>
              <a:rPr lang="en-US" sz="1200" dirty="0">
                <a:solidFill>
                  <a:schemeClr val="accent4"/>
                </a:solidFill>
              </a:rPr>
              <a:t>Moisture adequate; rain likely</a:t>
            </a:r>
            <a:endParaRPr lang="en-US" sz="1200" dirty="0"/>
          </a:p>
        </p:txBody>
      </p:sp>
      <p:sp>
        <p:nvSpPr>
          <p:cNvPr id="36" name="box-393"/>
          <p:cNvSpPr txBox="1"/>
          <p:nvPr/>
        </p:nvSpPr>
        <p:spPr>
          <a:xfrm>
            <a:off x="7635240" y="3337560"/>
            <a:ext cx="365760" cy="365760"/>
          </a:xfrm>
          <a:prstGeom prst="rect">
            <a:avLst/>
          </a:prstGeom>
          <a:solidFill>
            <a:schemeClr val="tx2"/>
          </a:solidFill>
          <a:ln/>
        </p:spPr>
        <p:txBody>
          <a:bodyPr wrap="square" lIns="0" tIns="0" rIns="0" bIns="0" rtlCol="0" anchor="ctr"/>
          <a:lstStyle/>
          <a:p>
            <a:pPr marL="0" indent="0" algn="ctr">
              <a:buNone/>
            </a:pPr>
            <a:r>
              <a:rPr lang="en-US" sz="1400" b="1" dirty="0">
                <a:solidFill>
                  <a:schemeClr val="bg2"/>
                </a:solidFill>
              </a:rPr>
              <a:t>2</a:t>
            </a:r>
            <a:endParaRPr lang="en-US" sz="1400" dirty="0"/>
          </a:p>
        </p:txBody>
      </p:sp>
      <p:sp>
        <p:nvSpPr>
          <p:cNvPr id="37" name="txt-394"/>
          <p:cNvSpPr txBox="1"/>
          <p:nvPr/>
        </p:nvSpPr>
        <p:spPr>
          <a:xfrm>
            <a:off x="8183880" y="3319272"/>
            <a:ext cx="3291840" cy="502920"/>
          </a:xfrm>
          <a:prstGeom prst="rect">
            <a:avLst/>
          </a:prstGeom>
          <a:noFill/>
          <a:ln/>
        </p:spPr>
        <p:txBody>
          <a:bodyPr wrap="square" lIns="0" tIns="0" rIns="0" bIns="0" rtlCol="0" anchor="t"/>
          <a:lstStyle/>
          <a:p>
            <a:pPr marL="0" indent="0">
              <a:buNone/>
            </a:pPr>
            <a:r>
              <a:rPr lang="en-US" sz="1600" b="1" dirty="0">
                <a:solidFill>
                  <a:schemeClr val="tx2"/>
                </a:solidFill>
              </a:rPr>
              <a:t>Apply nitrogen per validated agronomic guidance</a:t>
            </a:r>
            <a:endParaRPr lang="en-US" sz="1600" dirty="0"/>
          </a:p>
        </p:txBody>
      </p:sp>
      <p:sp>
        <p:nvSpPr>
          <p:cNvPr id="38" name="txt-395"/>
          <p:cNvSpPr txBox="1"/>
          <p:nvPr/>
        </p:nvSpPr>
        <p:spPr>
          <a:xfrm>
            <a:off x="8183880" y="3831336"/>
            <a:ext cx="3291840" cy="228600"/>
          </a:xfrm>
          <a:prstGeom prst="rect">
            <a:avLst/>
          </a:prstGeom>
          <a:noFill/>
          <a:ln/>
        </p:spPr>
        <p:txBody>
          <a:bodyPr wrap="square" lIns="0" tIns="0" rIns="0" bIns="0" rtlCol="0" anchor="t"/>
          <a:lstStyle/>
          <a:p>
            <a:pPr marL="0" indent="0">
              <a:buNone/>
            </a:pPr>
            <a:r>
              <a:rPr lang="en-US" sz="1200" dirty="0">
                <a:solidFill>
                  <a:schemeClr val="accent4"/>
                </a:solidFill>
              </a:rPr>
              <a:t>Soil nitrogen low; crop at flowering</a:t>
            </a:r>
            <a:endParaRPr lang="en-US" sz="1200" dirty="0"/>
          </a:p>
        </p:txBody>
      </p:sp>
      <p:sp>
        <p:nvSpPr>
          <p:cNvPr id="39" name="box-396"/>
          <p:cNvSpPr txBox="1"/>
          <p:nvPr/>
        </p:nvSpPr>
        <p:spPr>
          <a:xfrm>
            <a:off x="7635240" y="4233672"/>
            <a:ext cx="365760" cy="365760"/>
          </a:xfrm>
          <a:prstGeom prst="rect">
            <a:avLst/>
          </a:prstGeom>
          <a:solidFill>
            <a:schemeClr val="tx2"/>
          </a:solidFill>
          <a:ln/>
        </p:spPr>
        <p:txBody>
          <a:bodyPr wrap="square" lIns="0" tIns="0" rIns="0" bIns="0" rtlCol="0" anchor="ctr"/>
          <a:lstStyle/>
          <a:p>
            <a:pPr marL="0" indent="0" algn="ctr">
              <a:buNone/>
            </a:pPr>
            <a:r>
              <a:rPr lang="en-US" sz="1400" b="1" dirty="0">
                <a:solidFill>
                  <a:schemeClr val="bg2"/>
                </a:solidFill>
              </a:rPr>
              <a:t>3</a:t>
            </a:r>
            <a:endParaRPr lang="en-US" sz="1400" dirty="0"/>
          </a:p>
        </p:txBody>
      </p:sp>
      <p:sp>
        <p:nvSpPr>
          <p:cNvPr id="40" name="txt-397"/>
          <p:cNvSpPr txBox="1"/>
          <p:nvPr/>
        </p:nvSpPr>
        <p:spPr>
          <a:xfrm>
            <a:off x="8183880" y="4215384"/>
            <a:ext cx="3291840" cy="502920"/>
          </a:xfrm>
          <a:prstGeom prst="rect">
            <a:avLst/>
          </a:prstGeom>
          <a:noFill/>
          <a:ln/>
        </p:spPr>
        <p:txBody>
          <a:bodyPr wrap="square" lIns="0" tIns="0" rIns="0" bIns="0" rtlCol="0" anchor="t"/>
          <a:lstStyle/>
          <a:p>
            <a:pPr marL="0" indent="0">
              <a:buNone/>
            </a:pPr>
            <a:r>
              <a:rPr lang="en-US" sz="1600" b="1" dirty="0">
                <a:solidFill>
                  <a:schemeClr val="tx2"/>
                </a:solidFill>
              </a:rPr>
              <a:t>Monitor disease risk</a:t>
            </a:r>
            <a:endParaRPr lang="en-US" sz="1600" dirty="0"/>
          </a:p>
        </p:txBody>
      </p:sp>
      <p:sp>
        <p:nvSpPr>
          <p:cNvPr id="41" name="txt-398"/>
          <p:cNvSpPr txBox="1"/>
          <p:nvPr/>
        </p:nvSpPr>
        <p:spPr>
          <a:xfrm>
            <a:off x="8183880" y="4489704"/>
            <a:ext cx="3291840" cy="228600"/>
          </a:xfrm>
          <a:prstGeom prst="rect">
            <a:avLst/>
          </a:prstGeom>
          <a:noFill/>
          <a:ln/>
        </p:spPr>
        <p:txBody>
          <a:bodyPr wrap="square" lIns="0" tIns="0" rIns="0" bIns="0" rtlCol="0" anchor="t"/>
          <a:lstStyle/>
          <a:p>
            <a:pPr marL="0" indent="0">
              <a:buNone/>
            </a:pPr>
            <a:r>
              <a:rPr lang="en-US" sz="1200" dirty="0">
                <a:solidFill>
                  <a:schemeClr val="accent4"/>
                </a:solidFill>
              </a:rPr>
              <a:t>Moderate pest / disease risk</a:t>
            </a:r>
            <a:endParaRPr lang="en-US" sz="1200" dirty="0"/>
          </a:p>
        </p:txBody>
      </p:sp>
      <p:sp>
        <p:nvSpPr>
          <p:cNvPr id="42" name="box-399"/>
          <p:cNvSpPr txBox="1"/>
          <p:nvPr/>
        </p:nvSpPr>
        <p:spPr>
          <a:xfrm>
            <a:off x="7635240" y="5129784"/>
            <a:ext cx="365760" cy="365760"/>
          </a:xfrm>
          <a:prstGeom prst="rect">
            <a:avLst/>
          </a:prstGeom>
          <a:solidFill>
            <a:schemeClr val="tx2"/>
          </a:solidFill>
          <a:ln/>
        </p:spPr>
        <p:txBody>
          <a:bodyPr wrap="square" lIns="0" tIns="0" rIns="0" bIns="0" rtlCol="0" anchor="ctr"/>
          <a:lstStyle/>
          <a:p>
            <a:pPr marL="0" indent="0" algn="ctr">
              <a:buNone/>
            </a:pPr>
            <a:r>
              <a:rPr lang="en-US" sz="1400" b="1" dirty="0">
                <a:solidFill>
                  <a:schemeClr val="bg2"/>
                </a:solidFill>
              </a:rPr>
              <a:t>4</a:t>
            </a:r>
            <a:endParaRPr lang="en-US" sz="1400" dirty="0"/>
          </a:p>
        </p:txBody>
      </p:sp>
      <p:sp>
        <p:nvSpPr>
          <p:cNvPr id="43" name="txt-400"/>
          <p:cNvSpPr txBox="1"/>
          <p:nvPr/>
        </p:nvSpPr>
        <p:spPr>
          <a:xfrm>
            <a:off x="8183880" y="5111496"/>
            <a:ext cx="3291840" cy="502920"/>
          </a:xfrm>
          <a:prstGeom prst="rect">
            <a:avLst/>
          </a:prstGeom>
          <a:noFill/>
          <a:ln/>
        </p:spPr>
        <p:txBody>
          <a:bodyPr wrap="square" lIns="0" tIns="0" rIns="0" bIns="0" rtlCol="0" anchor="t"/>
          <a:lstStyle/>
          <a:p>
            <a:pPr marL="0" indent="0">
              <a:buNone/>
            </a:pPr>
            <a:r>
              <a:rPr lang="en-US" sz="1600" b="1" dirty="0">
                <a:solidFill>
                  <a:schemeClr val="tx2"/>
                </a:solidFill>
              </a:rPr>
              <a:t>Consider harvest / market timing</a:t>
            </a:r>
            <a:endParaRPr lang="en-US" sz="1600" dirty="0"/>
          </a:p>
        </p:txBody>
      </p:sp>
      <p:sp>
        <p:nvSpPr>
          <p:cNvPr id="44" name="txt-401"/>
          <p:cNvSpPr txBox="1"/>
          <p:nvPr/>
        </p:nvSpPr>
        <p:spPr>
          <a:xfrm>
            <a:off x="8183880" y="5385816"/>
            <a:ext cx="3291840" cy="228600"/>
          </a:xfrm>
          <a:prstGeom prst="rect">
            <a:avLst/>
          </a:prstGeom>
          <a:noFill/>
          <a:ln/>
        </p:spPr>
        <p:txBody>
          <a:bodyPr wrap="square" lIns="0" tIns="0" rIns="0" bIns="0" rtlCol="0" anchor="t"/>
          <a:lstStyle/>
          <a:p>
            <a:pPr marL="0" indent="0">
              <a:buNone/>
            </a:pPr>
            <a:r>
              <a:rPr lang="en-US" sz="1200" dirty="0">
                <a:solidFill>
                  <a:schemeClr val="accent4"/>
                </a:solidFill>
              </a:rPr>
              <a:t>Price trending upward</a:t>
            </a:r>
            <a:endParaRPr lang="en-US" sz="1200" dirty="0"/>
          </a:p>
        </p:txBody>
      </p:sp>
      <p:sp>
        <p:nvSpPr>
          <p:cNvPr id="6" name="Slide Number Placeholder 0"/>
          <p:cNvSpPr>
            <a:spLocks noGrp="1"/>
          </p:cNvSpPr>
          <p:nvPr>
            <p:ph type="sldNum" sz="quarter" idx="4294967295"/>
          </p:nvPr>
        </p:nvSpPr>
        <p:spPr>
          <a:xfrm>
            <a:off x="11064240" y="6446520"/>
            <a:ext cx="576072"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dot-402"/>
          <p:cNvSpPr/>
          <p:nvPr/>
        </p:nvSpPr>
        <p:spPr>
          <a:xfrm>
            <a:off x="548640" y="429768"/>
            <a:ext cx="118872" cy="118872"/>
          </a:xfrm>
          <a:prstGeom prst="ellipse">
            <a:avLst/>
          </a:prstGeom>
          <a:solidFill>
            <a:schemeClr val="accent3"/>
          </a:solidFill>
          <a:ln/>
        </p:spPr>
        <p:txBody>
          <a:bodyPr/>
          <a:lstStyle/>
          <a:p>
            <a:endParaRPr lang="ko-IN"/>
          </a:p>
        </p:txBody>
      </p:sp>
      <p:sp>
        <p:nvSpPr>
          <p:cNvPr id="3" name="txt-403"/>
          <p:cNvSpPr txBox="1"/>
          <p:nvPr/>
        </p:nvSpPr>
        <p:spPr>
          <a:xfrm>
            <a:off x="768096" y="384048"/>
            <a:ext cx="6400800" cy="256032"/>
          </a:xfrm>
          <a:prstGeom prst="rect">
            <a:avLst/>
          </a:prstGeom>
          <a:noFill/>
          <a:ln/>
        </p:spPr>
        <p:txBody>
          <a:bodyPr wrap="square" lIns="0" tIns="0" rIns="0" bIns="0" rtlCol="0" anchor="t"/>
          <a:lstStyle/>
          <a:p>
            <a:pPr marL="0" indent="0">
              <a:buNone/>
            </a:pPr>
            <a:r>
              <a:rPr lang="en-US" sz="1200" b="1" kern="0" spc="200" dirty="0">
                <a:solidFill>
                  <a:schemeClr val="accent4"/>
                </a:solidFill>
              </a:rPr>
              <a:t>10  ·  EVALUATION</a:t>
            </a:r>
            <a:endParaRPr lang="en-US" sz="1200" dirty="0"/>
          </a:p>
        </p:txBody>
      </p:sp>
      <p:sp>
        <p:nvSpPr>
          <p:cNvPr id="4" name="box-404"/>
          <p:cNvSpPr txBox="1"/>
          <p:nvPr/>
        </p:nvSpPr>
        <p:spPr>
          <a:xfrm>
            <a:off x="9537192" y="365760"/>
            <a:ext cx="2103120" cy="274320"/>
          </a:xfrm>
          <a:prstGeom prst="rect">
            <a:avLst/>
          </a:prstGeom>
          <a:ln w="12700">
            <a:solidFill>
              <a:schemeClr val="accent4"/>
            </a:solidFill>
          </a:ln>
        </p:spPr>
        <p:txBody>
          <a:bodyPr wrap="square" lIns="0" tIns="0" rIns="0" bIns="0" rtlCol="0" anchor="ctr"/>
          <a:lstStyle/>
          <a:p>
            <a:pPr marL="0" indent="0" algn="ctr">
              <a:buNone/>
            </a:pPr>
            <a:r>
              <a:rPr lang="en-US" sz="1000" b="1" dirty="0">
                <a:solidFill>
                  <a:schemeClr val="accent4"/>
                </a:solidFill>
              </a:rPr>
              <a:t>PLANNED</a:t>
            </a:r>
            <a:endParaRPr lang="en-US" sz="1000" dirty="0"/>
          </a:p>
        </p:txBody>
      </p:sp>
      <p:sp>
        <p:nvSpPr>
          <p:cNvPr id="5" name="Text 1"/>
          <p:cNvSpPr>
            <a:spLocks noGrp="1"/>
          </p:cNvSpPr>
          <p:nvPr>
            <p:ph type="title" idx="101" hasCustomPrompt="1"/>
          </p:nvPr>
        </p:nvSpPr>
        <p:spPr>
          <a:xfrm>
            <a:off x="548640" y="658368"/>
            <a:ext cx="11091672" cy="731520"/>
          </a:xfrm>
          <a:prstGeom prst="rect">
            <a:avLst/>
          </a:prstGeom>
          <a:noFill/>
          <a:ln/>
        </p:spPr>
        <p:txBody>
          <a:bodyPr wrap="square" lIns="0" tIns="0" rIns="0" bIns="0" rtlCol="0" anchor="t"/>
          <a:lstStyle/>
          <a:p>
            <a:pPr marL="0" indent="0" algn="l">
              <a:buNone/>
            </a:pPr>
            <a:r>
              <a:rPr lang="en-US" sz="3600" b="1" dirty="0">
                <a:solidFill>
                  <a:schemeClr val="tx2"/>
                </a:solidFill>
              </a:rPr>
              <a:t>How will we know it works?</a:t>
            </a:r>
            <a:endParaRPr lang="en-US" sz="3600" dirty="0"/>
          </a:p>
        </p:txBody>
      </p:sp>
      <p:sp>
        <p:nvSpPr>
          <p:cNvPr id="7" name="shape-405"/>
          <p:cNvSpPr/>
          <p:nvPr/>
        </p:nvSpPr>
        <p:spPr>
          <a:xfrm>
            <a:off x="548640" y="1554480"/>
            <a:ext cx="2606040" cy="2834640"/>
          </a:xfrm>
          <a:prstGeom prst="rect">
            <a:avLst/>
          </a:prstGeom>
          <a:solidFill>
            <a:schemeClr val="bg1"/>
          </a:solidFill>
          <a:ln w="12700">
            <a:solidFill>
              <a:schemeClr val="accent2"/>
            </a:solidFill>
            <a:prstDash val="solid"/>
          </a:ln>
        </p:spPr>
        <p:txBody>
          <a:bodyPr/>
          <a:lstStyle/>
          <a:p>
            <a:endParaRPr lang="ko-IN"/>
          </a:p>
        </p:txBody>
      </p:sp>
      <p:sp>
        <p:nvSpPr>
          <p:cNvPr id="8" name="box-406"/>
          <p:cNvSpPr txBox="1"/>
          <p:nvPr/>
        </p:nvSpPr>
        <p:spPr>
          <a:xfrm>
            <a:off x="548640" y="1554480"/>
            <a:ext cx="2606040" cy="685800"/>
          </a:xfrm>
          <a:prstGeom prst="rect">
            <a:avLst/>
          </a:prstGeom>
          <a:solidFill>
            <a:schemeClr val="tx2"/>
          </a:solidFill>
          <a:ln/>
        </p:spPr>
        <p:txBody>
          <a:bodyPr wrap="square" lIns="164592" tIns="164592" rIns="164592" bIns="164592" rtlCol="0" anchor="ctr"/>
          <a:lstStyle/>
          <a:p>
            <a:pPr marL="0" indent="0" algn="l">
              <a:buNone/>
            </a:pPr>
            <a:r>
              <a:rPr lang="en-US" sz="1300" b="1" dirty="0">
                <a:solidFill>
                  <a:schemeClr val="bg2"/>
                </a:solidFill>
              </a:rPr>
              <a:t>MODEL</a:t>
            </a:r>
            <a:endParaRPr lang="en-US" sz="1300" dirty="0"/>
          </a:p>
          <a:p>
            <a:pPr marL="0" indent="0" algn="l">
              <a:buNone/>
            </a:pPr>
            <a:r>
              <a:rPr lang="en-US" sz="1300" b="1" dirty="0">
                <a:solidFill>
                  <a:schemeClr val="bg2"/>
                </a:solidFill>
              </a:rPr>
              <a:t>PERFORMANCE</a:t>
            </a:r>
            <a:endParaRPr lang="en-US" sz="1300" dirty="0"/>
          </a:p>
        </p:txBody>
      </p:sp>
      <p:sp>
        <p:nvSpPr>
          <p:cNvPr id="9" name="dot-407"/>
          <p:cNvSpPr/>
          <p:nvPr/>
        </p:nvSpPr>
        <p:spPr>
          <a:xfrm>
            <a:off x="731520" y="2532888"/>
            <a:ext cx="91440" cy="91440"/>
          </a:xfrm>
          <a:prstGeom prst="ellipse">
            <a:avLst/>
          </a:prstGeom>
          <a:solidFill>
            <a:schemeClr val="accent6"/>
          </a:solidFill>
          <a:ln/>
        </p:spPr>
        <p:txBody>
          <a:bodyPr/>
          <a:lstStyle/>
          <a:p>
            <a:endParaRPr lang="ko-IN"/>
          </a:p>
        </p:txBody>
      </p:sp>
      <p:sp>
        <p:nvSpPr>
          <p:cNvPr id="10" name="txt-408"/>
          <p:cNvSpPr txBox="1"/>
          <p:nvPr/>
        </p:nvSpPr>
        <p:spPr>
          <a:xfrm>
            <a:off x="932688" y="2441448"/>
            <a:ext cx="2148840" cy="274320"/>
          </a:xfrm>
          <a:prstGeom prst="rect">
            <a:avLst/>
          </a:prstGeom>
          <a:noFill/>
          <a:ln/>
        </p:spPr>
        <p:txBody>
          <a:bodyPr wrap="square" lIns="0" tIns="0" rIns="0" bIns="0" rtlCol="0" anchor="t"/>
          <a:lstStyle/>
          <a:p>
            <a:pPr marL="0" indent="0">
              <a:buNone/>
            </a:pPr>
            <a:r>
              <a:rPr lang="en-US" sz="1400" dirty="0">
                <a:solidFill>
                  <a:schemeClr val="tx1"/>
                </a:solidFill>
              </a:rPr>
              <a:t>Accuracy</a:t>
            </a:r>
            <a:endParaRPr lang="en-US" sz="1400" dirty="0"/>
          </a:p>
        </p:txBody>
      </p:sp>
      <p:sp>
        <p:nvSpPr>
          <p:cNvPr id="11" name="dot-409"/>
          <p:cNvSpPr/>
          <p:nvPr/>
        </p:nvSpPr>
        <p:spPr>
          <a:xfrm>
            <a:off x="731520" y="2898648"/>
            <a:ext cx="91440" cy="91440"/>
          </a:xfrm>
          <a:prstGeom prst="ellipse">
            <a:avLst/>
          </a:prstGeom>
          <a:solidFill>
            <a:schemeClr val="accent6"/>
          </a:solidFill>
          <a:ln/>
        </p:spPr>
        <p:txBody>
          <a:bodyPr/>
          <a:lstStyle/>
          <a:p>
            <a:endParaRPr lang="ko-IN"/>
          </a:p>
        </p:txBody>
      </p:sp>
      <p:sp>
        <p:nvSpPr>
          <p:cNvPr id="12" name="txt-410"/>
          <p:cNvSpPr txBox="1"/>
          <p:nvPr/>
        </p:nvSpPr>
        <p:spPr>
          <a:xfrm>
            <a:off x="932688" y="2807208"/>
            <a:ext cx="2148840" cy="274320"/>
          </a:xfrm>
          <a:prstGeom prst="rect">
            <a:avLst/>
          </a:prstGeom>
          <a:noFill/>
          <a:ln/>
        </p:spPr>
        <p:txBody>
          <a:bodyPr wrap="square" lIns="0" tIns="0" rIns="0" bIns="0" rtlCol="0" anchor="t"/>
          <a:lstStyle/>
          <a:p>
            <a:pPr marL="0" indent="0">
              <a:buNone/>
            </a:pPr>
            <a:r>
              <a:rPr lang="en-US" sz="1400" dirty="0">
                <a:solidFill>
                  <a:schemeClr val="tx1"/>
                </a:solidFill>
              </a:rPr>
              <a:t>Precision</a:t>
            </a:r>
            <a:endParaRPr lang="en-US" sz="1400" dirty="0"/>
          </a:p>
        </p:txBody>
      </p:sp>
      <p:sp>
        <p:nvSpPr>
          <p:cNvPr id="13" name="dot-411"/>
          <p:cNvSpPr/>
          <p:nvPr/>
        </p:nvSpPr>
        <p:spPr>
          <a:xfrm>
            <a:off x="731520" y="3264408"/>
            <a:ext cx="91440" cy="91440"/>
          </a:xfrm>
          <a:prstGeom prst="ellipse">
            <a:avLst/>
          </a:prstGeom>
          <a:solidFill>
            <a:schemeClr val="accent6"/>
          </a:solidFill>
          <a:ln/>
        </p:spPr>
        <p:txBody>
          <a:bodyPr/>
          <a:lstStyle/>
          <a:p>
            <a:endParaRPr lang="ko-IN"/>
          </a:p>
        </p:txBody>
      </p:sp>
      <p:sp>
        <p:nvSpPr>
          <p:cNvPr id="14" name="txt-412"/>
          <p:cNvSpPr txBox="1"/>
          <p:nvPr/>
        </p:nvSpPr>
        <p:spPr>
          <a:xfrm>
            <a:off x="932688" y="3172968"/>
            <a:ext cx="2148840" cy="274320"/>
          </a:xfrm>
          <a:prstGeom prst="rect">
            <a:avLst/>
          </a:prstGeom>
          <a:noFill/>
          <a:ln/>
        </p:spPr>
        <p:txBody>
          <a:bodyPr wrap="square" lIns="0" tIns="0" rIns="0" bIns="0" rtlCol="0" anchor="t"/>
          <a:lstStyle/>
          <a:p>
            <a:pPr marL="0" indent="0">
              <a:buNone/>
            </a:pPr>
            <a:r>
              <a:rPr lang="en-US" sz="1400" dirty="0">
                <a:solidFill>
                  <a:schemeClr val="tx1"/>
                </a:solidFill>
              </a:rPr>
              <a:t>Recall</a:t>
            </a:r>
            <a:endParaRPr lang="en-US" sz="1400" dirty="0"/>
          </a:p>
        </p:txBody>
      </p:sp>
      <p:sp>
        <p:nvSpPr>
          <p:cNvPr id="15" name="dot-413"/>
          <p:cNvSpPr/>
          <p:nvPr/>
        </p:nvSpPr>
        <p:spPr>
          <a:xfrm>
            <a:off x="731520" y="3630168"/>
            <a:ext cx="91440" cy="91440"/>
          </a:xfrm>
          <a:prstGeom prst="ellipse">
            <a:avLst/>
          </a:prstGeom>
          <a:solidFill>
            <a:schemeClr val="accent6"/>
          </a:solidFill>
          <a:ln/>
        </p:spPr>
        <p:txBody>
          <a:bodyPr/>
          <a:lstStyle/>
          <a:p>
            <a:endParaRPr lang="ko-IN"/>
          </a:p>
        </p:txBody>
      </p:sp>
      <p:sp>
        <p:nvSpPr>
          <p:cNvPr id="16" name="txt-414"/>
          <p:cNvSpPr txBox="1"/>
          <p:nvPr/>
        </p:nvSpPr>
        <p:spPr>
          <a:xfrm>
            <a:off x="932688" y="3538728"/>
            <a:ext cx="2148840" cy="274320"/>
          </a:xfrm>
          <a:prstGeom prst="rect">
            <a:avLst/>
          </a:prstGeom>
          <a:noFill/>
          <a:ln/>
        </p:spPr>
        <p:txBody>
          <a:bodyPr wrap="square" lIns="0" tIns="0" rIns="0" bIns="0" rtlCol="0" anchor="t"/>
          <a:lstStyle/>
          <a:p>
            <a:pPr marL="0" indent="0">
              <a:buNone/>
            </a:pPr>
            <a:r>
              <a:rPr lang="en-US" sz="1400" dirty="0">
                <a:solidFill>
                  <a:schemeClr val="tx1"/>
                </a:solidFill>
              </a:rPr>
              <a:t>F1 score</a:t>
            </a:r>
            <a:endParaRPr lang="en-US" sz="1400" dirty="0"/>
          </a:p>
        </p:txBody>
      </p:sp>
      <p:sp>
        <p:nvSpPr>
          <p:cNvPr id="17" name="dot-415"/>
          <p:cNvSpPr/>
          <p:nvPr/>
        </p:nvSpPr>
        <p:spPr>
          <a:xfrm>
            <a:off x="731520" y="3995928"/>
            <a:ext cx="91440" cy="91440"/>
          </a:xfrm>
          <a:prstGeom prst="ellipse">
            <a:avLst/>
          </a:prstGeom>
          <a:solidFill>
            <a:schemeClr val="accent6"/>
          </a:solidFill>
          <a:ln/>
        </p:spPr>
        <p:txBody>
          <a:bodyPr/>
          <a:lstStyle/>
          <a:p>
            <a:endParaRPr lang="ko-IN"/>
          </a:p>
        </p:txBody>
      </p:sp>
      <p:sp>
        <p:nvSpPr>
          <p:cNvPr id="18" name="txt-416"/>
          <p:cNvSpPr txBox="1"/>
          <p:nvPr/>
        </p:nvSpPr>
        <p:spPr>
          <a:xfrm>
            <a:off x="932688" y="3904488"/>
            <a:ext cx="2148840" cy="274320"/>
          </a:xfrm>
          <a:prstGeom prst="rect">
            <a:avLst/>
          </a:prstGeom>
          <a:noFill/>
          <a:ln/>
        </p:spPr>
        <p:txBody>
          <a:bodyPr wrap="square" lIns="0" tIns="0" rIns="0" bIns="0" rtlCol="0" anchor="t"/>
          <a:lstStyle/>
          <a:p>
            <a:pPr marL="0" indent="0">
              <a:buNone/>
            </a:pPr>
            <a:r>
              <a:rPr lang="en-US" sz="1400" dirty="0">
                <a:solidFill>
                  <a:schemeClr val="tx1"/>
                </a:solidFill>
              </a:rPr>
              <a:t>MAE / RMSE</a:t>
            </a:r>
            <a:endParaRPr lang="en-US" sz="1400" dirty="0"/>
          </a:p>
        </p:txBody>
      </p:sp>
      <p:sp>
        <p:nvSpPr>
          <p:cNvPr id="19" name="shape-417"/>
          <p:cNvSpPr/>
          <p:nvPr/>
        </p:nvSpPr>
        <p:spPr>
          <a:xfrm>
            <a:off x="3364992" y="1554480"/>
            <a:ext cx="2606040" cy="2834640"/>
          </a:xfrm>
          <a:prstGeom prst="rect">
            <a:avLst/>
          </a:prstGeom>
          <a:solidFill>
            <a:schemeClr val="bg1"/>
          </a:solidFill>
          <a:ln w="12700">
            <a:solidFill>
              <a:schemeClr val="accent2"/>
            </a:solidFill>
            <a:prstDash val="solid"/>
          </a:ln>
        </p:spPr>
        <p:txBody>
          <a:bodyPr/>
          <a:lstStyle/>
          <a:p>
            <a:endParaRPr lang="ko-IN"/>
          </a:p>
        </p:txBody>
      </p:sp>
      <p:sp>
        <p:nvSpPr>
          <p:cNvPr id="20" name="box-418"/>
          <p:cNvSpPr txBox="1"/>
          <p:nvPr/>
        </p:nvSpPr>
        <p:spPr>
          <a:xfrm>
            <a:off x="3364992" y="1554480"/>
            <a:ext cx="2606040" cy="685800"/>
          </a:xfrm>
          <a:prstGeom prst="rect">
            <a:avLst/>
          </a:prstGeom>
          <a:solidFill>
            <a:schemeClr val="tx2"/>
          </a:solidFill>
          <a:ln/>
        </p:spPr>
        <p:txBody>
          <a:bodyPr wrap="square" lIns="164592" tIns="164592" rIns="164592" bIns="164592" rtlCol="0" anchor="ctr"/>
          <a:lstStyle/>
          <a:p>
            <a:pPr marL="0" indent="0" algn="l">
              <a:buNone/>
            </a:pPr>
            <a:r>
              <a:rPr lang="en-US" sz="1300" b="1" dirty="0">
                <a:solidFill>
                  <a:schemeClr val="bg2"/>
                </a:solidFill>
              </a:rPr>
              <a:t>RECOMMENDATION</a:t>
            </a:r>
            <a:endParaRPr lang="en-US" sz="1300" dirty="0"/>
          </a:p>
          <a:p>
            <a:pPr marL="0" indent="0" algn="l">
              <a:buNone/>
            </a:pPr>
            <a:r>
              <a:rPr lang="en-US" sz="1300" b="1" dirty="0">
                <a:solidFill>
                  <a:schemeClr val="bg2"/>
                </a:solidFill>
              </a:rPr>
              <a:t>QUALITY</a:t>
            </a:r>
            <a:endParaRPr lang="en-US" sz="1300" dirty="0"/>
          </a:p>
        </p:txBody>
      </p:sp>
      <p:sp>
        <p:nvSpPr>
          <p:cNvPr id="21" name="dot-419"/>
          <p:cNvSpPr/>
          <p:nvPr/>
        </p:nvSpPr>
        <p:spPr>
          <a:xfrm>
            <a:off x="3547872" y="2532888"/>
            <a:ext cx="91440" cy="91440"/>
          </a:xfrm>
          <a:prstGeom prst="ellipse">
            <a:avLst/>
          </a:prstGeom>
          <a:solidFill>
            <a:schemeClr val="accent6"/>
          </a:solidFill>
          <a:ln/>
        </p:spPr>
        <p:txBody>
          <a:bodyPr/>
          <a:lstStyle/>
          <a:p>
            <a:endParaRPr lang="ko-IN"/>
          </a:p>
        </p:txBody>
      </p:sp>
      <p:sp>
        <p:nvSpPr>
          <p:cNvPr id="22" name="txt-420"/>
          <p:cNvSpPr txBox="1"/>
          <p:nvPr/>
        </p:nvSpPr>
        <p:spPr>
          <a:xfrm>
            <a:off x="3749040" y="2441448"/>
            <a:ext cx="2148840" cy="274320"/>
          </a:xfrm>
          <a:prstGeom prst="rect">
            <a:avLst/>
          </a:prstGeom>
          <a:noFill/>
          <a:ln/>
        </p:spPr>
        <p:txBody>
          <a:bodyPr wrap="square" lIns="0" tIns="0" rIns="0" bIns="0" rtlCol="0" anchor="t"/>
          <a:lstStyle/>
          <a:p>
            <a:pPr marL="0" indent="0">
              <a:buNone/>
            </a:pPr>
            <a:r>
              <a:rPr lang="en-US" sz="1400" dirty="0">
                <a:solidFill>
                  <a:schemeClr val="tx1"/>
                </a:solidFill>
              </a:rPr>
              <a:t>Expert agreement</a:t>
            </a:r>
            <a:endParaRPr lang="en-US" sz="1400" dirty="0"/>
          </a:p>
        </p:txBody>
      </p:sp>
      <p:sp>
        <p:nvSpPr>
          <p:cNvPr id="23" name="dot-421"/>
          <p:cNvSpPr/>
          <p:nvPr/>
        </p:nvSpPr>
        <p:spPr>
          <a:xfrm>
            <a:off x="3547872" y="2898648"/>
            <a:ext cx="91440" cy="91440"/>
          </a:xfrm>
          <a:prstGeom prst="ellipse">
            <a:avLst/>
          </a:prstGeom>
          <a:solidFill>
            <a:schemeClr val="accent6"/>
          </a:solidFill>
          <a:ln/>
        </p:spPr>
        <p:txBody>
          <a:bodyPr/>
          <a:lstStyle/>
          <a:p>
            <a:endParaRPr lang="ko-IN"/>
          </a:p>
        </p:txBody>
      </p:sp>
      <p:sp>
        <p:nvSpPr>
          <p:cNvPr id="24" name="txt-422"/>
          <p:cNvSpPr txBox="1"/>
          <p:nvPr/>
        </p:nvSpPr>
        <p:spPr>
          <a:xfrm>
            <a:off x="3749040" y="2807208"/>
            <a:ext cx="2148840" cy="274320"/>
          </a:xfrm>
          <a:prstGeom prst="rect">
            <a:avLst/>
          </a:prstGeom>
          <a:noFill/>
          <a:ln/>
        </p:spPr>
        <p:txBody>
          <a:bodyPr wrap="square" lIns="0" tIns="0" rIns="0" bIns="0" rtlCol="0" anchor="t"/>
          <a:lstStyle/>
          <a:p>
            <a:pPr marL="0" indent="0">
              <a:buNone/>
            </a:pPr>
            <a:r>
              <a:rPr lang="en-US" sz="1400" dirty="0">
                <a:solidFill>
                  <a:schemeClr val="tx1"/>
                </a:solidFill>
              </a:rPr>
              <a:t>Recommendation relevance</a:t>
            </a:r>
            <a:endParaRPr lang="en-US" sz="1400" dirty="0"/>
          </a:p>
        </p:txBody>
      </p:sp>
      <p:sp>
        <p:nvSpPr>
          <p:cNvPr id="25" name="dot-423"/>
          <p:cNvSpPr/>
          <p:nvPr/>
        </p:nvSpPr>
        <p:spPr>
          <a:xfrm>
            <a:off x="3547872" y="3264408"/>
            <a:ext cx="91440" cy="91440"/>
          </a:xfrm>
          <a:prstGeom prst="ellipse">
            <a:avLst/>
          </a:prstGeom>
          <a:solidFill>
            <a:schemeClr val="accent6"/>
          </a:solidFill>
          <a:ln/>
        </p:spPr>
        <p:txBody>
          <a:bodyPr/>
          <a:lstStyle/>
          <a:p>
            <a:endParaRPr lang="ko-IN"/>
          </a:p>
        </p:txBody>
      </p:sp>
      <p:sp>
        <p:nvSpPr>
          <p:cNvPr id="26" name="txt-424"/>
          <p:cNvSpPr txBox="1"/>
          <p:nvPr/>
        </p:nvSpPr>
        <p:spPr>
          <a:xfrm>
            <a:off x="3749040" y="3172968"/>
            <a:ext cx="2148840" cy="274320"/>
          </a:xfrm>
          <a:prstGeom prst="rect">
            <a:avLst/>
          </a:prstGeom>
          <a:noFill/>
          <a:ln/>
        </p:spPr>
        <p:txBody>
          <a:bodyPr wrap="square" lIns="0" tIns="0" rIns="0" bIns="0" rtlCol="0" anchor="t"/>
          <a:lstStyle/>
          <a:p>
            <a:pPr marL="0" indent="0">
              <a:buNone/>
            </a:pPr>
            <a:r>
              <a:rPr lang="en-US" sz="1400" dirty="0">
                <a:solidFill>
                  <a:schemeClr val="tx1"/>
                </a:solidFill>
              </a:rPr>
              <a:t>Correctness</a:t>
            </a:r>
            <a:endParaRPr lang="en-US" sz="1400" dirty="0"/>
          </a:p>
        </p:txBody>
      </p:sp>
      <p:sp>
        <p:nvSpPr>
          <p:cNvPr id="27" name="shape-425"/>
          <p:cNvSpPr/>
          <p:nvPr/>
        </p:nvSpPr>
        <p:spPr>
          <a:xfrm>
            <a:off x="6181344" y="1554480"/>
            <a:ext cx="2606040" cy="2834640"/>
          </a:xfrm>
          <a:prstGeom prst="rect">
            <a:avLst/>
          </a:prstGeom>
          <a:solidFill>
            <a:schemeClr val="bg1"/>
          </a:solidFill>
          <a:ln w="12700">
            <a:solidFill>
              <a:schemeClr val="accent2"/>
            </a:solidFill>
            <a:prstDash val="solid"/>
          </a:ln>
        </p:spPr>
        <p:txBody>
          <a:bodyPr/>
          <a:lstStyle/>
          <a:p>
            <a:endParaRPr lang="ko-IN"/>
          </a:p>
        </p:txBody>
      </p:sp>
      <p:sp>
        <p:nvSpPr>
          <p:cNvPr id="28" name="box-426"/>
          <p:cNvSpPr txBox="1"/>
          <p:nvPr/>
        </p:nvSpPr>
        <p:spPr>
          <a:xfrm>
            <a:off x="6181344" y="1554480"/>
            <a:ext cx="2606040" cy="685800"/>
          </a:xfrm>
          <a:prstGeom prst="rect">
            <a:avLst/>
          </a:prstGeom>
          <a:solidFill>
            <a:schemeClr val="tx2"/>
          </a:solidFill>
          <a:ln/>
        </p:spPr>
        <p:txBody>
          <a:bodyPr wrap="square" lIns="164592" tIns="164592" rIns="164592" bIns="164592" rtlCol="0" anchor="ctr"/>
          <a:lstStyle/>
          <a:p>
            <a:pPr marL="0" indent="0" algn="l">
              <a:buNone/>
            </a:pPr>
            <a:r>
              <a:rPr lang="en-US" sz="1300" b="1" dirty="0">
                <a:solidFill>
                  <a:schemeClr val="bg2"/>
                </a:solidFill>
              </a:rPr>
              <a:t>USER</a:t>
            </a:r>
            <a:endParaRPr lang="en-US" sz="1300" dirty="0"/>
          </a:p>
          <a:p>
            <a:pPr marL="0" indent="0" algn="l">
              <a:buNone/>
            </a:pPr>
            <a:r>
              <a:rPr lang="en-US" sz="1300" b="1" dirty="0">
                <a:solidFill>
                  <a:schemeClr val="bg2"/>
                </a:solidFill>
              </a:rPr>
              <a:t>PERFORMANCE</a:t>
            </a:r>
            <a:endParaRPr lang="en-US" sz="1300" dirty="0"/>
          </a:p>
        </p:txBody>
      </p:sp>
      <p:sp>
        <p:nvSpPr>
          <p:cNvPr id="29" name="dot-427"/>
          <p:cNvSpPr/>
          <p:nvPr/>
        </p:nvSpPr>
        <p:spPr>
          <a:xfrm>
            <a:off x="6364224" y="2532888"/>
            <a:ext cx="91440" cy="91440"/>
          </a:xfrm>
          <a:prstGeom prst="ellipse">
            <a:avLst/>
          </a:prstGeom>
          <a:solidFill>
            <a:schemeClr val="accent6"/>
          </a:solidFill>
          <a:ln/>
        </p:spPr>
        <p:txBody>
          <a:bodyPr/>
          <a:lstStyle/>
          <a:p>
            <a:endParaRPr lang="ko-IN"/>
          </a:p>
        </p:txBody>
      </p:sp>
      <p:sp>
        <p:nvSpPr>
          <p:cNvPr id="30" name="txt-428"/>
          <p:cNvSpPr txBox="1"/>
          <p:nvPr/>
        </p:nvSpPr>
        <p:spPr>
          <a:xfrm>
            <a:off x="6565392" y="2441448"/>
            <a:ext cx="2148840" cy="274320"/>
          </a:xfrm>
          <a:prstGeom prst="rect">
            <a:avLst/>
          </a:prstGeom>
          <a:noFill/>
          <a:ln/>
        </p:spPr>
        <p:txBody>
          <a:bodyPr wrap="square" lIns="0" tIns="0" rIns="0" bIns="0" rtlCol="0" anchor="t"/>
          <a:lstStyle/>
          <a:p>
            <a:pPr marL="0" indent="0">
              <a:buNone/>
            </a:pPr>
            <a:r>
              <a:rPr lang="en-US" sz="1400" dirty="0">
                <a:solidFill>
                  <a:schemeClr val="tx1"/>
                </a:solidFill>
              </a:rPr>
              <a:t>Task completion</a:t>
            </a:r>
            <a:endParaRPr lang="en-US" sz="1400" dirty="0"/>
          </a:p>
        </p:txBody>
      </p:sp>
      <p:sp>
        <p:nvSpPr>
          <p:cNvPr id="31" name="dot-429"/>
          <p:cNvSpPr/>
          <p:nvPr/>
        </p:nvSpPr>
        <p:spPr>
          <a:xfrm>
            <a:off x="6364224" y="2898648"/>
            <a:ext cx="91440" cy="91440"/>
          </a:xfrm>
          <a:prstGeom prst="ellipse">
            <a:avLst/>
          </a:prstGeom>
          <a:solidFill>
            <a:schemeClr val="accent6"/>
          </a:solidFill>
          <a:ln/>
        </p:spPr>
        <p:txBody>
          <a:bodyPr/>
          <a:lstStyle/>
          <a:p>
            <a:endParaRPr lang="ko-IN"/>
          </a:p>
        </p:txBody>
      </p:sp>
      <p:sp>
        <p:nvSpPr>
          <p:cNvPr id="32" name="txt-430"/>
          <p:cNvSpPr txBox="1"/>
          <p:nvPr/>
        </p:nvSpPr>
        <p:spPr>
          <a:xfrm>
            <a:off x="6565392" y="2807208"/>
            <a:ext cx="2148840" cy="274320"/>
          </a:xfrm>
          <a:prstGeom prst="rect">
            <a:avLst/>
          </a:prstGeom>
          <a:noFill/>
          <a:ln/>
        </p:spPr>
        <p:txBody>
          <a:bodyPr wrap="square" lIns="0" tIns="0" rIns="0" bIns="0" rtlCol="0" anchor="t"/>
          <a:lstStyle/>
          <a:p>
            <a:pPr marL="0" indent="0">
              <a:buNone/>
            </a:pPr>
            <a:r>
              <a:rPr lang="en-US" sz="1400" dirty="0">
                <a:solidFill>
                  <a:schemeClr val="tx1"/>
                </a:solidFill>
              </a:rPr>
              <a:t>Recommendation acceptance</a:t>
            </a:r>
            <a:endParaRPr lang="en-US" sz="1400" dirty="0"/>
          </a:p>
        </p:txBody>
      </p:sp>
      <p:sp>
        <p:nvSpPr>
          <p:cNvPr id="33" name="dot-431"/>
          <p:cNvSpPr/>
          <p:nvPr/>
        </p:nvSpPr>
        <p:spPr>
          <a:xfrm>
            <a:off x="6364224" y="3264408"/>
            <a:ext cx="91440" cy="91440"/>
          </a:xfrm>
          <a:prstGeom prst="ellipse">
            <a:avLst/>
          </a:prstGeom>
          <a:solidFill>
            <a:schemeClr val="accent6"/>
          </a:solidFill>
          <a:ln/>
        </p:spPr>
        <p:txBody>
          <a:bodyPr/>
          <a:lstStyle/>
          <a:p>
            <a:endParaRPr lang="ko-IN"/>
          </a:p>
        </p:txBody>
      </p:sp>
      <p:sp>
        <p:nvSpPr>
          <p:cNvPr id="34" name="txt-432"/>
          <p:cNvSpPr txBox="1"/>
          <p:nvPr/>
        </p:nvSpPr>
        <p:spPr>
          <a:xfrm>
            <a:off x="6565392" y="3172968"/>
            <a:ext cx="2148840" cy="274320"/>
          </a:xfrm>
          <a:prstGeom prst="rect">
            <a:avLst/>
          </a:prstGeom>
          <a:noFill/>
          <a:ln/>
        </p:spPr>
        <p:txBody>
          <a:bodyPr wrap="square" lIns="0" tIns="0" rIns="0" bIns="0" rtlCol="0" anchor="t"/>
          <a:lstStyle/>
          <a:p>
            <a:pPr marL="0" indent="0">
              <a:buNone/>
            </a:pPr>
            <a:r>
              <a:rPr lang="en-US" sz="1400" dirty="0">
                <a:solidFill>
                  <a:schemeClr val="tx1"/>
                </a:solidFill>
              </a:rPr>
              <a:t>Usability</a:t>
            </a:r>
            <a:endParaRPr lang="en-US" sz="1400" dirty="0"/>
          </a:p>
        </p:txBody>
      </p:sp>
      <p:sp>
        <p:nvSpPr>
          <p:cNvPr id="35" name="dot-433"/>
          <p:cNvSpPr/>
          <p:nvPr/>
        </p:nvSpPr>
        <p:spPr>
          <a:xfrm>
            <a:off x="6364224" y="3630168"/>
            <a:ext cx="91440" cy="91440"/>
          </a:xfrm>
          <a:prstGeom prst="ellipse">
            <a:avLst/>
          </a:prstGeom>
          <a:solidFill>
            <a:schemeClr val="accent6"/>
          </a:solidFill>
          <a:ln/>
        </p:spPr>
        <p:txBody>
          <a:bodyPr/>
          <a:lstStyle/>
          <a:p>
            <a:endParaRPr lang="ko-IN"/>
          </a:p>
        </p:txBody>
      </p:sp>
      <p:sp>
        <p:nvSpPr>
          <p:cNvPr id="36" name="txt-434"/>
          <p:cNvSpPr txBox="1"/>
          <p:nvPr/>
        </p:nvSpPr>
        <p:spPr>
          <a:xfrm>
            <a:off x="6565392" y="3538728"/>
            <a:ext cx="2148840" cy="274320"/>
          </a:xfrm>
          <a:prstGeom prst="rect">
            <a:avLst/>
          </a:prstGeom>
          <a:noFill/>
          <a:ln/>
        </p:spPr>
        <p:txBody>
          <a:bodyPr wrap="square" lIns="0" tIns="0" rIns="0" bIns="0" rtlCol="0" anchor="t"/>
          <a:lstStyle/>
          <a:p>
            <a:pPr marL="0" indent="0">
              <a:buNone/>
            </a:pPr>
            <a:r>
              <a:rPr lang="en-US" sz="1400" dirty="0">
                <a:solidFill>
                  <a:schemeClr val="tx1"/>
                </a:solidFill>
              </a:rPr>
              <a:t>Feedback</a:t>
            </a:r>
            <a:endParaRPr lang="en-US" sz="1400" dirty="0"/>
          </a:p>
        </p:txBody>
      </p:sp>
      <p:sp>
        <p:nvSpPr>
          <p:cNvPr id="37" name="shape-435"/>
          <p:cNvSpPr/>
          <p:nvPr/>
        </p:nvSpPr>
        <p:spPr>
          <a:xfrm>
            <a:off x="8997696" y="1554480"/>
            <a:ext cx="2606040" cy="2834640"/>
          </a:xfrm>
          <a:prstGeom prst="rect">
            <a:avLst/>
          </a:prstGeom>
          <a:solidFill>
            <a:schemeClr val="bg1"/>
          </a:solidFill>
          <a:ln w="12700">
            <a:solidFill>
              <a:schemeClr val="accent2"/>
            </a:solidFill>
            <a:prstDash val="solid"/>
          </a:ln>
        </p:spPr>
        <p:txBody>
          <a:bodyPr/>
          <a:lstStyle/>
          <a:p>
            <a:endParaRPr lang="ko-IN"/>
          </a:p>
        </p:txBody>
      </p:sp>
      <p:sp>
        <p:nvSpPr>
          <p:cNvPr id="38" name="box-436"/>
          <p:cNvSpPr txBox="1"/>
          <p:nvPr/>
        </p:nvSpPr>
        <p:spPr>
          <a:xfrm>
            <a:off x="8997696" y="1554480"/>
            <a:ext cx="2606040" cy="685800"/>
          </a:xfrm>
          <a:prstGeom prst="rect">
            <a:avLst/>
          </a:prstGeom>
          <a:solidFill>
            <a:schemeClr val="tx2"/>
          </a:solidFill>
          <a:ln/>
        </p:spPr>
        <p:txBody>
          <a:bodyPr wrap="square" lIns="164592" tIns="164592" rIns="164592" bIns="164592" rtlCol="0" anchor="ctr"/>
          <a:lstStyle/>
          <a:p>
            <a:pPr marL="0" indent="0" algn="l">
              <a:buNone/>
            </a:pPr>
            <a:r>
              <a:rPr lang="en-US" sz="1300" b="1" dirty="0">
                <a:solidFill>
                  <a:schemeClr val="bg2"/>
                </a:solidFill>
              </a:rPr>
              <a:t>REAL-WORLD</a:t>
            </a:r>
            <a:endParaRPr lang="en-US" sz="1300" dirty="0"/>
          </a:p>
          <a:p>
            <a:pPr marL="0" indent="0" algn="l">
              <a:buNone/>
            </a:pPr>
            <a:r>
              <a:rPr lang="en-US" sz="1300" b="1" dirty="0">
                <a:solidFill>
                  <a:schemeClr val="bg2"/>
                </a:solidFill>
              </a:rPr>
              <a:t>OUTCOMES</a:t>
            </a:r>
            <a:endParaRPr lang="en-US" sz="1300" dirty="0"/>
          </a:p>
        </p:txBody>
      </p:sp>
      <p:sp>
        <p:nvSpPr>
          <p:cNvPr id="39" name="dot-437"/>
          <p:cNvSpPr/>
          <p:nvPr/>
        </p:nvSpPr>
        <p:spPr>
          <a:xfrm>
            <a:off x="9180576" y="2532888"/>
            <a:ext cx="91440" cy="91440"/>
          </a:xfrm>
          <a:prstGeom prst="ellipse">
            <a:avLst/>
          </a:prstGeom>
          <a:solidFill>
            <a:schemeClr val="accent6"/>
          </a:solidFill>
          <a:ln/>
        </p:spPr>
        <p:txBody>
          <a:bodyPr/>
          <a:lstStyle/>
          <a:p>
            <a:endParaRPr lang="ko-IN"/>
          </a:p>
        </p:txBody>
      </p:sp>
      <p:sp>
        <p:nvSpPr>
          <p:cNvPr id="40" name="txt-438"/>
          <p:cNvSpPr txBox="1"/>
          <p:nvPr/>
        </p:nvSpPr>
        <p:spPr>
          <a:xfrm>
            <a:off x="9381744" y="2441448"/>
            <a:ext cx="2148840" cy="274320"/>
          </a:xfrm>
          <a:prstGeom prst="rect">
            <a:avLst/>
          </a:prstGeom>
          <a:noFill/>
          <a:ln/>
        </p:spPr>
        <p:txBody>
          <a:bodyPr wrap="square" lIns="0" tIns="0" rIns="0" bIns="0" rtlCol="0" anchor="t"/>
          <a:lstStyle/>
          <a:p>
            <a:pPr marL="0" indent="0">
              <a:buNone/>
            </a:pPr>
            <a:r>
              <a:rPr lang="en-US" sz="1400" dirty="0">
                <a:solidFill>
                  <a:schemeClr val="tx1"/>
                </a:solidFill>
              </a:rPr>
              <a:t>Input efficiency</a:t>
            </a:r>
            <a:endParaRPr lang="en-US" sz="1400" dirty="0"/>
          </a:p>
        </p:txBody>
      </p:sp>
      <p:sp>
        <p:nvSpPr>
          <p:cNvPr id="41" name="dot-439"/>
          <p:cNvSpPr/>
          <p:nvPr/>
        </p:nvSpPr>
        <p:spPr>
          <a:xfrm>
            <a:off x="9180576" y="2898648"/>
            <a:ext cx="91440" cy="91440"/>
          </a:xfrm>
          <a:prstGeom prst="ellipse">
            <a:avLst/>
          </a:prstGeom>
          <a:solidFill>
            <a:schemeClr val="accent6"/>
          </a:solidFill>
          <a:ln/>
        </p:spPr>
        <p:txBody>
          <a:bodyPr/>
          <a:lstStyle/>
          <a:p>
            <a:endParaRPr lang="ko-IN"/>
          </a:p>
        </p:txBody>
      </p:sp>
      <p:sp>
        <p:nvSpPr>
          <p:cNvPr id="42" name="txt-440"/>
          <p:cNvSpPr txBox="1"/>
          <p:nvPr/>
        </p:nvSpPr>
        <p:spPr>
          <a:xfrm>
            <a:off x="9381744" y="2807208"/>
            <a:ext cx="2148840" cy="274320"/>
          </a:xfrm>
          <a:prstGeom prst="rect">
            <a:avLst/>
          </a:prstGeom>
          <a:noFill/>
          <a:ln/>
        </p:spPr>
        <p:txBody>
          <a:bodyPr wrap="square" lIns="0" tIns="0" rIns="0" bIns="0" rtlCol="0" anchor="t"/>
          <a:lstStyle/>
          <a:p>
            <a:pPr marL="0" indent="0">
              <a:buNone/>
            </a:pPr>
            <a:r>
              <a:rPr lang="en-US" sz="1400" dirty="0">
                <a:solidFill>
                  <a:schemeClr val="tx1"/>
                </a:solidFill>
              </a:rPr>
              <a:t>Water efficiency</a:t>
            </a:r>
            <a:endParaRPr lang="en-US" sz="1400" dirty="0"/>
          </a:p>
        </p:txBody>
      </p:sp>
      <p:sp>
        <p:nvSpPr>
          <p:cNvPr id="43" name="dot-441"/>
          <p:cNvSpPr/>
          <p:nvPr/>
        </p:nvSpPr>
        <p:spPr>
          <a:xfrm>
            <a:off x="9180576" y="3264408"/>
            <a:ext cx="91440" cy="91440"/>
          </a:xfrm>
          <a:prstGeom prst="ellipse">
            <a:avLst/>
          </a:prstGeom>
          <a:solidFill>
            <a:schemeClr val="accent6"/>
          </a:solidFill>
          <a:ln/>
        </p:spPr>
        <p:txBody>
          <a:bodyPr/>
          <a:lstStyle/>
          <a:p>
            <a:endParaRPr lang="ko-IN"/>
          </a:p>
        </p:txBody>
      </p:sp>
      <p:sp>
        <p:nvSpPr>
          <p:cNvPr id="44" name="txt-442"/>
          <p:cNvSpPr txBox="1"/>
          <p:nvPr/>
        </p:nvSpPr>
        <p:spPr>
          <a:xfrm>
            <a:off x="9381744" y="3172968"/>
            <a:ext cx="2148840" cy="274320"/>
          </a:xfrm>
          <a:prstGeom prst="rect">
            <a:avLst/>
          </a:prstGeom>
          <a:noFill/>
          <a:ln/>
        </p:spPr>
        <p:txBody>
          <a:bodyPr wrap="square" lIns="0" tIns="0" rIns="0" bIns="0" rtlCol="0" anchor="t"/>
          <a:lstStyle/>
          <a:p>
            <a:pPr marL="0" indent="0">
              <a:buNone/>
            </a:pPr>
            <a:r>
              <a:rPr lang="en-US" sz="1400" dirty="0">
                <a:solidFill>
                  <a:schemeClr val="tx1"/>
                </a:solidFill>
              </a:rPr>
              <a:t>Yield</a:t>
            </a:r>
            <a:endParaRPr lang="en-US" sz="1400" dirty="0"/>
          </a:p>
        </p:txBody>
      </p:sp>
      <p:sp>
        <p:nvSpPr>
          <p:cNvPr id="45" name="dot-443"/>
          <p:cNvSpPr/>
          <p:nvPr/>
        </p:nvSpPr>
        <p:spPr>
          <a:xfrm>
            <a:off x="9180576" y="3630168"/>
            <a:ext cx="91440" cy="91440"/>
          </a:xfrm>
          <a:prstGeom prst="ellipse">
            <a:avLst/>
          </a:prstGeom>
          <a:solidFill>
            <a:schemeClr val="accent6"/>
          </a:solidFill>
          <a:ln/>
        </p:spPr>
        <p:txBody>
          <a:bodyPr/>
          <a:lstStyle/>
          <a:p>
            <a:endParaRPr lang="ko-IN"/>
          </a:p>
        </p:txBody>
      </p:sp>
      <p:sp>
        <p:nvSpPr>
          <p:cNvPr id="46" name="txt-444"/>
          <p:cNvSpPr txBox="1"/>
          <p:nvPr/>
        </p:nvSpPr>
        <p:spPr>
          <a:xfrm>
            <a:off x="9381744" y="3538728"/>
            <a:ext cx="2148840" cy="274320"/>
          </a:xfrm>
          <a:prstGeom prst="rect">
            <a:avLst/>
          </a:prstGeom>
          <a:noFill/>
          <a:ln/>
        </p:spPr>
        <p:txBody>
          <a:bodyPr wrap="square" lIns="0" tIns="0" rIns="0" bIns="0" rtlCol="0" anchor="t"/>
          <a:lstStyle/>
          <a:p>
            <a:pPr marL="0" indent="0">
              <a:buNone/>
            </a:pPr>
            <a:r>
              <a:rPr lang="en-US" sz="1400" dirty="0">
                <a:solidFill>
                  <a:schemeClr val="tx1"/>
                </a:solidFill>
              </a:rPr>
              <a:t>Profitability</a:t>
            </a:r>
            <a:endParaRPr lang="en-US" sz="1400" dirty="0"/>
          </a:p>
        </p:txBody>
      </p:sp>
      <p:sp>
        <p:nvSpPr>
          <p:cNvPr id="47" name="txt-445"/>
          <p:cNvSpPr txBox="1"/>
          <p:nvPr/>
        </p:nvSpPr>
        <p:spPr>
          <a:xfrm>
            <a:off x="548640" y="4572000"/>
            <a:ext cx="11091672" cy="228600"/>
          </a:xfrm>
          <a:prstGeom prst="rect">
            <a:avLst/>
          </a:prstGeom>
          <a:noFill/>
          <a:ln/>
        </p:spPr>
        <p:txBody>
          <a:bodyPr wrap="square" lIns="0" tIns="0" rIns="0" bIns="0" rtlCol="0" anchor="t"/>
          <a:lstStyle/>
          <a:p>
            <a:pPr marL="0" indent="0">
              <a:buNone/>
            </a:pPr>
            <a:r>
              <a:rPr lang="en-US" sz="1200" b="1" kern="0" spc="100" dirty="0">
                <a:solidFill>
                  <a:schemeClr val="accent4"/>
                </a:solidFill>
              </a:rPr>
              <a:t>EXPECTED IMPACT  ·  hypothesis to be tested, not a result</a:t>
            </a:r>
            <a:endParaRPr lang="en-US" sz="1200" dirty="0"/>
          </a:p>
        </p:txBody>
      </p:sp>
      <p:sp>
        <p:nvSpPr>
          <p:cNvPr id="48" name="box-446"/>
          <p:cNvSpPr txBox="1"/>
          <p:nvPr/>
        </p:nvSpPr>
        <p:spPr>
          <a:xfrm>
            <a:off x="548640" y="4892040"/>
            <a:ext cx="2377440" cy="868680"/>
          </a:xfrm>
          <a:prstGeom prst="rect">
            <a:avLst/>
          </a:prstGeom>
          <a:solidFill>
            <a:schemeClr val="tx2"/>
          </a:solidFill>
          <a:ln/>
        </p:spPr>
        <p:txBody>
          <a:bodyPr wrap="square" lIns="73152" tIns="73152" rIns="73152" bIns="73152" rtlCol="0" anchor="ctr"/>
          <a:lstStyle/>
          <a:p>
            <a:pPr marL="0" indent="0" algn="ctr">
              <a:buNone/>
            </a:pPr>
            <a:r>
              <a:rPr lang="en-US" sz="1300" b="1" dirty="0">
                <a:solidFill>
                  <a:schemeClr val="bg2"/>
                </a:solidFill>
              </a:rPr>
              <a:t>BETTER DECISIONS</a:t>
            </a:r>
            <a:endParaRPr lang="en-US" sz="1300" dirty="0"/>
          </a:p>
        </p:txBody>
      </p:sp>
      <p:sp>
        <p:nvSpPr>
          <p:cNvPr id="49" name="line-447"/>
          <p:cNvSpPr/>
          <p:nvPr/>
        </p:nvSpPr>
        <p:spPr>
          <a:xfrm>
            <a:off x="2926080" y="5326380"/>
            <a:ext cx="530352" cy="0"/>
          </a:xfrm>
          <a:prstGeom prst="line">
            <a:avLst/>
          </a:prstGeom>
          <a:noFill/>
          <a:ln w="25400">
            <a:solidFill>
              <a:schemeClr val="tx2"/>
            </a:solidFill>
            <a:prstDash val="solid"/>
            <a:tailEnd type="triangle"/>
          </a:ln>
        </p:spPr>
        <p:txBody>
          <a:bodyPr/>
          <a:lstStyle/>
          <a:p>
            <a:endParaRPr lang="ko-IN"/>
          </a:p>
        </p:txBody>
      </p:sp>
      <p:sp>
        <p:nvSpPr>
          <p:cNvPr id="50" name="box-448"/>
          <p:cNvSpPr txBox="1"/>
          <p:nvPr/>
        </p:nvSpPr>
        <p:spPr>
          <a:xfrm>
            <a:off x="3456432" y="4892040"/>
            <a:ext cx="2377440" cy="868680"/>
          </a:xfrm>
          <a:prstGeom prst="rect">
            <a:avLst/>
          </a:prstGeom>
          <a:solidFill>
            <a:schemeClr val="tx2"/>
          </a:solidFill>
          <a:ln/>
        </p:spPr>
        <p:txBody>
          <a:bodyPr wrap="square" lIns="73152" tIns="73152" rIns="73152" bIns="73152" rtlCol="0" anchor="ctr"/>
          <a:lstStyle/>
          <a:p>
            <a:pPr marL="0" indent="0" algn="ctr">
              <a:buNone/>
            </a:pPr>
            <a:r>
              <a:rPr lang="en-US" sz="1300" b="1" dirty="0">
                <a:solidFill>
                  <a:schemeClr val="bg2"/>
                </a:solidFill>
              </a:rPr>
              <a:t>LESS WASTE</a:t>
            </a:r>
            <a:endParaRPr lang="en-US" sz="1300" dirty="0"/>
          </a:p>
        </p:txBody>
      </p:sp>
      <p:sp>
        <p:nvSpPr>
          <p:cNvPr id="51" name="line-449"/>
          <p:cNvSpPr/>
          <p:nvPr/>
        </p:nvSpPr>
        <p:spPr>
          <a:xfrm>
            <a:off x="5833872" y="5326380"/>
            <a:ext cx="530352" cy="0"/>
          </a:xfrm>
          <a:prstGeom prst="line">
            <a:avLst/>
          </a:prstGeom>
          <a:noFill/>
          <a:ln w="25400">
            <a:solidFill>
              <a:schemeClr val="tx2"/>
            </a:solidFill>
            <a:prstDash val="solid"/>
            <a:tailEnd type="triangle"/>
          </a:ln>
        </p:spPr>
        <p:txBody>
          <a:bodyPr/>
          <a:lstStyle/>
          <a:p>
            <a:endParaRPr lang="ko-IN"/>
          </a:p>
        </p:txBody>
      </p:sp>
      <p:sp>
        <p:nvSpPr>
          <p:cNvPr id="52" name="box-450"/>
          <p:cNvSpPr txBox="1"/>
          <p:nvPr/>
        </p:nvSpPr>
        <p:spPr>
          <a:xfrm>
            <a:off x="6364224" y="4892040"/>
            <a:ext cx="2377440" cy="868680"/>
          </a:xfrm>
          <a:prstGeom prst="rect">
            <a:avLst/>
          </a:prstGeom>
          <a:solidFill>
            <a:schemeClr val="tx2"/>
          </a:solidFill>
          <a:ln/>
        </p:spPr>
        <p:txBody>
          <a:bodyPr wrap="square" lIns="73152" tIns="73152" rIns="73152" bIns="73152" rtlCol="0" anchor="ctr"/>
          <a:lstStyle/>
          <a:p>
            <a:pPr marL="0" indent="0" algn="ctr">
              <a:buNone/>
            </a:pPr>
            <a:r>
              <a:rPr lang="en-US" sz="1300" b="1" dirty="0">
                <a:solidFill>
                  <a:schemeClr val="bg2"/>
                </a:solidFill>
              </a:rPr>
              <a:t>BETTER RESOURCE USE</a:t>
            </a:r>
            <a:endParaRPr lang="en-US" sz="1300" dirty="0"/>
          </a:p>
        </p:txBody>
      </p:sp>
      <p:sp>
        <p:nvSpPr>
          <p:cNvPr id="53" name="line-451"/>
          <p:cNvSpPr/>
          <p:nvPr/>
        </p:nvSpPr>
        <p:spPr>
          <a:xfrm>
            <a:off x="8741664" y="5326380"/>
            <a:ext cx="530352" cy="0"/>
          </a:xfrm>
          <a:prstGeom prst="line">
            <a:avLst/>
          </a:prstGeom>
          <a:noFill/>
          <a:ln w="25400">
            <a:solidFill>
              <a:schemeClr val="tx2"/>
            </a:solidFill>
            <a:prstDash val="solid"/>
            <a:tailEnd type="triangle"/>
          </a:ln>
        </p:spPr>
        <p:txBody>
          <a:bodyPr/>
          <a:lstStyle/>
          <a:p>
            <a:endParaRPr lang="ko-IN"/>
          </a:p>
        </p:txBody>
      </p:sp>
      <p:sp>
        <p:nvSpPr>
          <p:cNvPr id="54" name="box-452"/>
          <p:cNvSpPr txBox="1"/>
          <p:nvPr/>
        </p:nvSpPr>
        <p:spPr>
          <a:xfrm>
            <a:off x="9272016" y="4892040"/>
            <a:ext cx="2377440" cy="868680"/>
          </a:xfrm>
          <a:prstGeom prst="rect">
            <a:avLst/>
          </a:prstGeom>
          <a:solidFill>
            <a:schemeClr val="bg1"/>
          </a:solidFill>
          <a:ln w="25400">
            <a:solidFill>
              <a:schemeClr val="accent3"/>
            </a:solidFill>
          </a:ln>
        </p:spPr>
        <p:txBody>
          <a:bodyPr wrap="square" lIns="73152" tIns="73152" rIns="73152" bIns="73152" rtlCol="0" anchor="ctr"/>
          <a:lstStyle/>
          <a:p>
            <a:pPr marL="0" indent="0" algn="ctr">
              <a:buNone/>
            </a:pPr>
            <a:r>
              <a:rPr lang="en-US" sz="1300" b="1" dirty="0">
                <a:solidFill>
                  <a:schemeClr val="tx2"/>
                </a:solidFill>
              </a:rPr>
              <a:t>POTENTIALLY HIGHER PRODUCTIVITY / PROFITABILITY</a:t>
            </a:r>
            <a:endParaRPr lang="en-US" sz="1300" dirty="0"/>
          </a:p>
        </p:txBody>
      </p:sp>
      <p:sp>
        <p:nvSpPr>
          <p:cNvPr id="55" name="txt-453"/>
          <p:cNvSpPr txBox="1"/>
          <p:nvPr/>
        </p:nvSpPr>
        <p:spPr>
          <a:xfrm>
            <a:off x="548640" y="5943600"/>
            <a:ext cx="11091672" cy="274320"/>
          </a:xfrm>
          <a:prstGeom prst="rect">
            <a:avLst/>
          </a:prstGeom>
          <a:noFill/>
          <a:ln/>
        </p:spPr>
        <p:txBody>
          <a:bodyPr wrap="square" lIns="0" tIns="0" rIns="0" bIns="0" rtlCol="0" anchor="t"/>
          <a:lstStyle/>
          <a:p>
            <a:pPr marL="0" indent="0">
              <a:buNone/>
            </a:pPr>
            <a:r>
              <a:rPr lang="en-US" sz="1200" i="1" dirty="0">
                <a:solidFill>
                  <a:schemeClr val="accent4"/>
                </a:solidFill>
              </a:rPr>
              <a:t>No performance figures are claimed. All metrics above are planned evaluation criteria.</a:t>
            </a:r>
            <a:endParaRPr lang="en-US" sz="1200" dirty="0"/>
          </a:p>
        </p:txBody>
      </p:sp>
      <p:sp>
        <p:nvSpPr>
          <p:cNvPr id="6" name="Slide Number Placeholder 0"/>
          <p:cNvSpPr>
            <a:spLocks noGrp="1"/>
          </p:cNvSpPr>
          <p:nvPr>
            <p:ph type="sldNum" sz="quarter" idx="4294967295"/>
          </p:nvPr>
        </p:nvSpPr>
        <p:spPr>
          <a:xfrm>
            <a:off x="11064240" y="6446520"/>
            <a:ext cx="576072"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dot-454"/>
          <p:cNvSpPr/>
          <p:nvPr/>
        </p:nvSpPr>
        <p:spPr>
          <a:xfrm>
            <a:off x="548640" y="429768"/>
            <a:ext cx="118872" cy="118872"/>
          </a:xfrm>
          <a:prstGeom prst="ellipse">
            <a:avLst/>
          </a:prstGeom>
          <a:solidFill>
            <a:schemeClr val="accent3"/>
          </a:solidFill>
          <a:ln/>
        </p:spPr>
        <p:txBody>
          <a:bodyPr/>
          <a:lstStyle/>
          <a:p>
            <a:endParaRPr lang="ko-IN"/>
          </a:p>
        </p:txBody>
      </p:sp>
      <p:sp>
        <p:nvSpPr>
          <p:cNvPr id="3" name="txt-455"/>
          <p:cNvSpPr txBox="1"/>
          <p:nvPr/>
        </p:nvSpPr>
        <p:spPr>
          <a:xfrm>
            <a:off x="768096" y="384048"/>
            <a:ext cx="6400800" cy="256032"/>
          </a:xfrm>
          <a:prstGeom prst="rect">
            <a:avLst/>
          </a:prstGeom>
          <a:noFill/>
          <a:ln/>
        </p:spPr>
        <p:txBody>
          <a:bodyPr wrap="square" lIns="0" tIns="0" rIns="0" bIns="0" rtlCol="0" anchor="t"/>
          <a:lstStyle/>
          <a:p>
            <a:pPr marL="0" indent="0">
              <a:buNone/>
            </a:pPr>
            <a:r>
              <a:rPr lang="en-US" sz="1200" b="1" kern="0" spc="200" dirty="0">
                <a:solidFill>
                  <a:schemeClr val="accent4"/>
                </a:solidFill>
              </a:rPr>
              <a:t>11  ·  OUTLOOK</a:t>
            </a:r>
            <a:endParaRPr lang="en-US" sz="1200" dirty="0"/>
          </a:p>
        </p:txBody>
      </p:sp>
      <p:sp>
        <p:nvSpPr>
          <p:cNvPr id="4" name="box-456"/>
          <p:cNvSpPr txBox="1"/>
          <p:nvPr/>
        </p:nvSpPr>
        <p:spPr>
          <a:xfrm>
            <a:off x="9537192" y="365760"/>
            <a:ext cx="2103120" cy="274320"/>
          </a:xfrm>
          <a:prstGeom prst="rect">
            <a:avLst/>
          </a:prstGeom>
          <a:ln w="12700">
            <a:solidFill>
              <a:schemeClr val="accent4"/>
            </a:solidFill>
          </a:ln>
        </p:spPr>
        <p:txBody>
          <a:bodyPr wrap="square" lIns="0" tIns="0" rIns="0" bIns="0" rtlCol="0" anchor="ctr"/>
          <a:lstStyle/>
          <a:p>
            <a:pPr marL="0" indent="0" algn="ctr">
              <a:buNone/>
            </a:pPr>
            <a:r>
              <a:rPr lang="en-US" sz="1000" b="1" dirty="0">
                <a:solidFill>
                  <a:schemeClr val="accent4"/>
                </a:solidFill>
              </a:rPr>
              <a:t>FUTURE SCOPE</a:t>
            </a:r>
            <a:endParaRPr lang="en-US" sz="1000" dirty="0"/>
          </a:p>
        </p:txBody>
      </p:sp>
      <p:sp>
        <p:nvSpPr>
          <p:cNvPr id="5" name="Text 1"/>
          <p:cNvSpPr>
            <a:spLocks noGrp="1"/>
          </p:cNvSpPr>
          <p:nvPr>
            <p:ph type="title" idx="101" hasCustomPrompt="1"/>
          </p:nvPr>
        </p:nvSpPr>
        <p:spPr>
          <a:xfrm>
            <a:off x="548640" y="658368"/>
            <a:ext cx="11091672" cy="731520"/>
          </a:xfrm>
          <a:prstGeom prst="rect">
            <a:avLst/>
          </a:prstGeom>
          <a:noFill/>
          <a:ln/>
        </p:spPr>
        <p:txBody>
          <a:bodyPr wrap="square" lIns="0" tIns="0" rIns="0" bIns="0" rtlCol="0" anchor="t"/>
          <a:lstStyle/>
          <a:p>
            <a:pPr marL="0" indent="0" algn="l">
              <a:buNone/>
            </a:pPr>
            <a:r>
              <a:rPr lang="en-US" sz="3600" b="1" dirty="0">
                <a:solidFill>
                  <a:schemeClr val="tx2"/>
                </a:solidFill>
              </a:rPr>
              <a:t>Limitations &amp; future scope</a:t>
            </a:r>
            <a:endParaRPr lang="en-US" sz="3600" dirty="0"/>
          </a:p>
        </p:txBody>
      </p:sp>
      <p:sp>
        <p:nvSpPr>
          <p:cNvPr id="7" name="txt-457"/>
          <p:cNvSpPr txBox="1"/>
          <p:nvPr/>
        </p:nvSpPr>
        <p:spPr>
          <a:xfrm>
            <a:off x="548640" y="1554480"/>
            <a:ext cx="4572000" cy="256032"/>
          </a:xfrm>
          <a:prstGeom prst="rect">
            <a:avLst/>
          </a:prstGeom>
          <a:noFill/>
          <a:ln/>
        </p:spPr>
        <p:txBody>
          <a:bodyPr wrap="square" lIns="0" tIns="0" rIns="0" bIns="0" rtlCol="0" anchor="t"/>
          <a:lstStyle/>
          <a:p>
            <a:pPr marL="0" indent="0">
              <a:buNone/>
            </a:pPr>
            <a:r>
              <a:rPr lang="en-US" sz="1200" b="1" kern="0" spc="200" dirty="0">
                <a:solidFill>
                  <a:schemeClr val="accent4"/>
                </a:solidFill>
              </a:rPr>
              <a:t>LIMITATIONS</a:t>
            </a:r>
            <a:endParaRPr lang="en-US" sz="1200" dirty="0"/>
          </a:p>
        </p:txBody>
      </p:sp>
      <p:sp>
        <p:nvSpPr>
          <p:cNvPr id="8" name="txt-458"/>
          <p:cNvSpPr txBox="1"/>
          <p:nvPr/>
        </p:nvSpPr>
        <p:spPr>
          <a:xfrm>
            <a:off x="548640" y="1920240"/>
            <a:ext cx="4572000" cy="329184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chemeClr val="tx1"/>
                </a:solidFill>
              </a:rPr>
              <a:t>Data quality and missing data</a:t>
            </a:r>
            <a:endParaRPr lang="en-US" sz="1600" dirty="0"/>
          </a:p>
          <a:p>
            <a:pPr marL="342900" indent="-342900">
              <a:spcAft>
                <a:spcPts val="900"/>
              </a:spcAft>
              <a:buSzPct val="100000"/>
              <a:buChar char="•"/>
            </a:pPr>
            <a:r>
              <a:rPr lang="en-US" sz="1600" dirty="0">
                <a:solidFill>
                  <a:schemeClr val="tx1"/>
                </a:solidFill>
              </a:rPr>
              <a:t>Regional differences in agriculture</a:t>
            </a:r>
            <a:endParaRPr lang="en-US" sz="1600" dirty="0"/>
          </a:p>
          <a:p>
            <a:pPr marL="342900" indent="-342900">
              <a:spcAft>
                <a:spcPts val="900"/>
              </a:spcAft>
              <a:buSzPct val="100000"/>
              <a:buChar char="•"/>
            </a:pPr>
            <a:r>
              <a:rPr lang="en-US" sz="1600" dirty="0">
                <a:solidFill>
                  <a:schemeClr val="tx1"/>
                </a:solidFill>
              </a:rPr>
              <a:t>Limited ground-truth data</a:t>
            </a:r>
            <a:endParaRPr lang="en-US" sz="1600" dirty="0"/>
          </a:p>
          <a:p>
            <a:pPr marL="342900" indent="-342900">
              <a:spcAft>
                <a:spcPts val="900"/>
              </a:spcAft>
              <a:buSzPct val="100000"/>
              <a:buChar char="•"/>
            </a:pPr>
            <a:r>
              <a:rPr lang="en-US" sz="1600" dirty="0">
                <a:solidFill>
                  <a:schemeClr val="tx1"/>
                </a:solidFill>
              </a:rPr>
              <a:t>Model explainability</a:t>
            </a:r>
            <a:endParaRPr lang="en-US" sz="1600" dirty="0"/>
          </a:p>
          <a:p>
            <a:pPr marL="342900" indent="-342900">
              <a:spcAft>
                <a:spcPts val="900"/>
              </a:spcAft>
              <a:buSzPct val="100000"/>
              <a:buChar char="•"/>
            </a:pPr>
            <a:r>
              <a:rPr lang="en-US" sz="1600" dirty="0">
                <a:solidFill>
                  <a:schemeClr val="tx1"/>
                </a:solidFill>
              </a:rPr>
              <a:t>Need for agronomic validation</a:t>
            </a:r>
            <a:endParaRPr lang="en-US" sz="1600" dirty="0"/>
          </a:p>
          <a:p>
            <a:pPr marL="342900" indent="-342900">
              <a:spcAft>
                <a:spcPts val="900"/>
              </a:spcAft>
              <a:buSzPct val="100000"/>
              <a:buChar char="•"/>
            </a:pPr>
            <a:r>
              <a:rPr lang="en-US" sz="1600" dirty="0">
                <a:solidFill>
                  <a:schemeClr val="tx1"/>
                </a:solidFill>
              </a:rPr>
              <a:t>Connectivity and accessibility</a:t>
            </a:r>
            <a:endParaRPr lang="en-US" sz="1600" dirty="0"/>
          </a:p>
          <a:p>
            <a:pPr marL="342900" indent="-342900">
              <a:spcAft>
                <a:spcPts val="900"/>
              </a:spcAft>
              <a:buSzPct val="100000"/>
              <a:buChar char="•"/>
            </a:pPr>
            <a:r>
              <a:rPr lang="en-US" sz="1600" dirty="0">
                <a:solidFill>
                  <a:schemeClr val="tx1"/>
                </a:solidFill>
              </a:rPr>
              <a:t>Risk of incorrect AI recommendations</a:t>
            </a:r>
            <a:endParaRPr lang="en-US" sz="1600" dirty="0"/>
          </a:p>
        </p:txBody>
      </p:sp>
      <p:sp>
        <p:nvSpPr>
          <p:cNvPr id="9" name="txt-459"/>
          <p:cNvSpPr txBox="1"/>
          <p:nvPr/>
        </p:nvSpPr>
        <p:spPr>
          <a:xfrm>
            <a:off x="5760720" y="1554480"/>
            <a:ext cx="4572000" cy="256032"/>
          </a:xfrm>
          <a:prstGeom prst="rect">
            <a:avLst/>
          </a:prstGeom>
          <a:noFill/>
          <a:ln/>
        </p:spPr>
        <p:txBody>
          <a:bodyPr wrap="square" lIns="0" tIns="0" rIns="0" bIns="0" rtlCol="0" anchor="t"/>
          <a:lstStyle/>
          <a:p>
            <a:pPr marL="0" indent="0">
              <a:buNone/>
            </a:pPr>
            <a:r>
              <a:rPr lang="en-US" sz="1200" b="1" kern="0" spc="200" dirty="0">
                <a:solidFill>
                  <a:schemeClr val="accent4"/>
                </a:solidFill>
              </a:rPr>
              <a:t>FUTURE SCOPE</a:t>
            </a:r>
            <a:endParaRPr lang="en-US" sz="1200" dirty="0"/>
          </a:p>
        </p:txBody>
      </p:sp>
      <p:sp>
        <p:nvSpPr>
          <p:cNvPr id="10" name="line-460"/>
          <p:cNvSpPr/>
          <p:nvPr/>
        </p:nvSpPr>
        <p:spPr>
          <a:xfrm>
            <a:off x="5989320" y="2240280"/>
            <a:ext cx="0" cy="2377440"/>
          </a:xfrm>
          <a:prstGeom prst="line">
            <a:avLst/>
          </a:prstGeom>
          <a:noFill/>
          <a:ln w="19050">
            <a:solidFill>
              <a:schemeClr val="accent2"/>
            </a:solidFill>
            <a:prstDash val="solid"/>
          </a:ln>
        </p:spPr>
        <p:txBody>
          <a:bodyPr/>
          <a:lstStyle/>
          <a:p>
            <a:endParaRPr lang="ko-IN"/>
          </a:p>
        </p:txBody>
      </p:sp>
      <p:sp>
        <p:nvSpPr>
          <p:cNvPr id="11" name="phase-node-461"/>
          <p:cNvSpPr/>
          <p:nvPr/>
        </p:nvSpPr>
        <p:spPr>
          <a:xfrm>
            <a:off x="5760720" y="1965960"/>
            <a:ext cx="457200" cy="457200"/>
          </a:xfrm>
          <a:prstGeom prst="ellipse">
            <a:avLst/>
          </a:prstGeom>
          <a:solidFill>
            <a:schemeClr val="tx2"/>
          </a:solidFill>
          <a:ln/>
        </p:spPr>
        <p:txBody>
          <a:bodyPr/>
          <a:lstStyle/>
          <a:p>
            <a:endParaRPr lang="ko-IN"/>
          </a:p>
        </p:txBody>
      </p:sp>
      <p:sp>
        <p:nvSpPr>
          <p:cNvPr id="12" name="txt-462"/>
          <p:cNvSpPr txBox="1"/>
          <p:nvPr/>
        </p:nvSpPr>
        <p:spPr>
          <a:xfrm>
            <a:off x="5760720" y="1965960"/>
            <a:ext cx="457200" cy="457200"/>
          </a:xfrm>
          <a:prstGeom prst="rect">
            <a:avLst/>
          </a:prstGeom>
          <a:noFill/>
          <a:ln/>
        </p:spPr>
        <p:txBody>
          <a:bodyPr wrap="square" lIns="0" tIns="0" rIns="0" bIns="0" rtlCol="0" anchor="ctr"/>
          <a:lstStyle/>
          <a:p>
            <a:pPr marL="0" indent="0" algn="ctr">
              <a:buNone/>
            </a:pPr>
            <a:r>
              <a:rPr lang="en-US" sz="1400" b="1" dirty="0">
                <a:solidFill>
                  <a:schemeClr val="bg2"/>
                </a:solidFill>
              </a:rPr>
              <a:t>1</a:t>
            </a:r>
            <a:endParaRPr lang="en-US" sz="1400" dirty="0"/>
          </a:p>
        </p:txBody>
      </p:sp>
      <p:sp>
        <p:nvSpPr>
          <p:cNvPr id="13" name="txt-463"/>
          <p:cNvSpPr txBox="1"/>
          <p:nvPr/>
        </p:nvSpPr>
        <p:spPr>
          <a:xfrm>
            <a:off x="6446520" y="1947672"/>
            <a:ext cx="5120640" cy="201168"/>
          </a:xfrm>
          <a:prstGeom prst="rect">
            <a:avLst/>
          </a:prstGeom>
          <a:noFill/>
          <a:ln/>
        </p:spPr>
        <p:txBody>
          <a:bodyPr wrap="square" lIns="0" tIns="0" rIns="0" bIns="0" rtlCol="0" anchor="t"/>
          <a:lstStyle/>
          <a:p>
            <a:pPr marL="0" indent="0">
              <a:buNone/>
            </a:pPr>
            <a:r>
              <a:rPr lang="en-US" sz="1100" b="1" kern="0" spc="200" dirty="0">
                <a:solidFill>
                  <a:schemeClr val="accent4"/>
                </a:solidFill>
              </a:rPr>
              <a:t>PHASE 1</a:t>
            </a:r>
            <a:endParaRPr lang="en-US" sz="1100" dirty="0"/>
          </a:p>
        </p:txBody>
      </p:sp>
      <p:sp>
        <p:nvSpPr>
          <p:cNvPr id="14" name="txt-464"/>
          <p:cNvSpPr txBox="1"/>
          <p:nvPr/>
        </p:nvSpPr>
        <p:spPr>
          <a:xfrm>
            <a:off x="6446520" y="2167128"/>
            <a:ext cx="5166360" cy="502920"/>
          </a:xfrm>
          <a:prstGeom prst="rect">
            <a:avLst/>
          </a:prstGeom>
          <a:noFill/>
          <a:ln/>
        </p:spPr>
        <p:txBody>
          <a:bodyPr wrap="square" lIns="0" tIns="0" rIns="0" bIns="0" rtlCol="0" anchor="t"/>
          <a:lstStyle/>
          <a:p>
            <a:pPr marL="0" indent="0">
              <a:buNone/>
            </a:pPr>
            <a:r>
              <a:rPr lang="en-US" sz="1400" dirty="0">
                <a:solidFill>
                  <a:schemeClr val="tx1"/>
                </a:solidFill>
              </a:rPr>
              <a:t>Basic weather + soil + crop recommendation</a:t>
            </a:r>
            <a:endParaRPr lang="en-US" sz="1400" dirty="0"/>
          </a:p>
        </p:txBody>
      </p:sp>
      <p:sp>
        <p:nvSpPr>
          <p:cNvPr id="15" name="phase-node-465"/>
          <p:cNvSpPr/>
          <p:nvPr/>
        </p:nvSpPr>
        <p:spPr>
          <a:xfrm>
            <a:off x="5760720" y="2807208"/>
            <a:ext cx="457200" cy="457200"/>
          </a:xfrm>
          <a:prstGeom prst="ellipse">
            <a:avLst/>
          </a:prstGeom>
          <a:solidFill>
            <a:schemeClr val="tx2"/>
          </a:solidFill>
          <a:ln/>
        </p:spPr>
        <p:txBody>
          <a:bodyPr/>
          <a:lstStyle/>
          <a:p>
            <a:endParaRPr lang="ko-IN"/>
          </a:p>
        </p:txBody>
      </p:sp>
      <p:sp>
        <p:nvSpPr>
          <p:cNvPr id="16" name="txt-466"/>
          <p:cNvSpPr txBox="1"/>
          <p:nvPr/>
        </p:nvSpPr>
        <p:spPr>
          <a:xfrm>
            <a:off x="5760720" y="2807208"/>
            <a:ext cx="457200" cy="457200"/>
          </a:xfrm>
          <a:prstGeom prst="rect">
            <a:avLst/>
          </a:prstGeom>
          <a:noFill/>
          <a:ln/>
        </p:spPr>
        <p:txBody>
          <a:bodyPr wrap="square" lIns="0" tIns="0" rIns="0" bIns="0" rtlCol="0" anchor="ctr"/>
          <a:lstStyle/>
          <a:p>
            <a:pPr marL="0" indent="0" algn="ctr">
              <a:buNone/>
            </a:pPr>
            <a:r>
              <a:rPr lang="en-US" sz="1400" b="1" dirty="0">
                <a:solidFill>
                  <a:schemeClr val="bg2"/>
                </a:solidFill>
              </a:rPr>
              <a:t>2</a:t>
            </a:r>
            <a:endParaRPr lang="en-US" sz="1400" dirty="0"/>
          </a:p>
        </p:txBody>
      </p:sp>
      <p:sp>
        <p:nvSpPr>
          <p:cNvPr id="17" name="txt-467"/>
          <p:cNvSpPr txBox="1"/>
          <p:nvPr/>
        </p:nvSpPr>
        <p:spPr>
          <a:xfrm>
            <a:off x="6446520" y="2788920"/>
            <a:ext cx="5120640" cy="201168"/>
          </a:xfrm>
          <a:prstGeom prst="rect">
            <a:avLst/>
          </a:prstGeom>
          <a:noFill/>
          <a:ln/>
        </p:spPr>
        <p:txBody>
          <a:bodyPr wrap="square" lIns="0" tIns="0" rIns="0" bIns="0" rtlCol="0" anchor="t"/>
          <a:lstStyle/>
          <a:p>
            <a:pPr marL="0" indent="0">
              <a:buNone/>
            </a:pPr>
            <a:r>
              <a:rPr lang="en-US" sz="1100" b="1" kern="0" spc="200" dirty="0">
                <a:solidFill>
                  <a:schemeClr val="accent4"/>
                </a:solidFill>
              </a:rPr>
              <a:t>PHASE 2</a:t>
            </a:r>
            <a:endParaRPr lang="en-US" sz="1100" dirty="0"/>
          </a:p>
        </p:txBody>
      </p:sp>
      <p:sp>
        <p:nvSpPr>
          <p:cNvPr id="18" name="txt-468"/>
          <p:cNvSpPr txBox="1"/>
          <p:nvPr/>
        </p:nvSpPr>
        <p:spPr>
          <a:xfrm>
            <a:off x="6446520" y="3008376"/>
            <a:ext cx="5166360" cy="502920"/>
          </a:xfrm>
          <a:prstGeom prst="rect">
            <a:avLst/>
          </a:prstGeom>
          <a:noFill/>
          <a:ln/>
        </p:spPr>
        <p:txBody>
          <a:bodyPr wrap="square" lIns="0" tIns="0" rIns="0" bIns="0" rtlCol="0" anchor="t"/>
          <a:lstStyle/>
          <a:p>
            <a:pPr marL="0" indent="0">
              <a:buNone/>
            </a:pPr>
            <a:r>
              <a:rPr lang="en-US" sz="1400" dirty="0">
                <a:solidFill>
                  <a:schemeClr val="tx1"/>
                </a:solidFill>
              </a:rPr>
              <a:t>Satellite imagery + pest / disease prediction + market intelligence</a:t>
            </a:r>
            <a:endParaRPr lang="en-US" sz="1400" dirty="0"/>
          </a:p>
        </p:txBody>
      </p:sp>
      <p:sp>
        <p:nvSpPr>
          <p:cNvPr id="19" name="phase-node-469"/>
          <p:cNvSpPr/>
          <p:nvPr/>
        </p:nvSpPr>
        <p:spPr>
          <a:xfrm>
            <a:off x="5760720" y="3648456"/>
            <a:ext cx="457200" cy="457200"/>
          </a:xfrm>
          <a:prstGeom prst="ellipse">
            <a:avLst/>
          </a:prstGeom>
          <a:solidFill>
            <a:schemeClr val="tx2"/>
          </a:solidFill>
          <a:ln/>
        </p:spPr>
        <p:txBody>
          <a:bodyPr/>
          <a:lstStyle/>
          <a:p>
            <a:endParaRPr lang="ko-IN"/>
          </a:p>
        </p:txBody>
      </p:sp>
      <p:sp>
        <p:nvSpPr>
          <p:cNvPr id="20" name="txt-470"/>
          <p:cNvSpPr txBox="1"/>
          <p:nvPr/>
        </p:nvSpPr>
        <p:spPr>
          <a:xfrm>
            <a:off x="5760720" y="3648456"/>
            <a:ext cx="457200" cy="457200"/>
          </a:xfrm>
          <a:prstGeom prst="rect">
            <a:avLst/>
          </a:prstGeom>
          <a:noFill/>
          <a:ln/>
        </p:spPr>
        <p:txBody>
          <a:bodyPr wrap="square" lIns="0" tIns="0" rIns="0" bIns="0" rtlCol="0" anchor="ctr"/>
          <a:lstStyle/>
          <a:p>
            <a:pPr marL="0" indent="0" algn="ctr">
              <a:buNone/>
            </a:pPr>
            <a:r>
              <a:rPr lang="en-US" sz="1400" b="1" dirty="0">
                <a:solidFill>
                  <a:schemeClr val="bg2"/>
                </a:solidFill>
              </a:rPr>
              <a:t>3</a:t>
            </a:r>
            <a:endParaRPr lang="en-US" sz="1400" dirty="0"/>
          </a:p>
        </p:txBody>
      </p:sp>
      <p:sp>
        <p:nvSpPr>
          <p:cNvPr id="21" name="txt-471"/>
          <p:cNvSpPr txBox="1"/>
          <p:nvPr/>
        </p:nvSpPr>
        <p:spPr>
          <a:xfrm>
            <a:off x="6446520" y="3630168"/>
            <a:ext cx="5120640" cy="201168"/>
          </a:xfrm>
          <a:prstGeom prst="rect">
            <a:avLst/>
          </a:prstGeom>
          <a:noFill/>
          <a:ln/>
        </p:spPr>
        <p:txBody>
          <a:bodyPr wrap="square" lIns="0" tIns="0" rIns="0" bIns="0" rtlCol="0" anchor="t"/>
          <a:lstStyle/>
          <a:p>
            <a:pPr marL="0" indent="0">
              <a:buNone/>
            </a:pPr>
            <a:r>
              <a:rPr lang="en-US" sz="1100" b="1" kern="0" spc="200" dirty="0">
                <a:solidFill>
                  <a:schemeClr val="accent4"/>
                </a:solidFill>
              </a:rPr>
              <a:t>PHASE 3</a:t>
            </a:r>
            <a:endParaRPr lang="en-US" sz="1100" dirty="0"/>
          </a:p>
        </p:txBody>
      </p:sp>
      <p:sp>
        <p:nvSpPr>
          <p:cNvPr id="22" name="txt-472"/>
          <p:cNvSpPr txBox="1"/>
          <p:nvPr/>
        </p:nvSpPr>
        <p:spPr>
          <a:xfrm>
            <a:off x="6446520" y="3849624"/>
            <a:ext cx="5166360" cy="502920"/>
          </a:xfrm>
          <a:prstGeom prst="rect">
            <a:avLst/>
          </a:prstGeom>
          <a:noFill/>
          <a:ln/>
        </p:spPr>
        <p:txBody>
          <a:bodyPr wrap="square" lIns="0" tIns="0" rIns="0" bIns="0" rtlCol="0" anchor="t"/>
          <a:lstStyle/>
          <a:p>
            <a:pPr marL="0" indent="0">
              <a:buNone/>
            </a:pPr>
            <a:r>
              <a:rPr lang="en-US" sz="1400" dirty="0">
                <a:solidFill>
                  <a:schemeClr val="tx1"/>
                </a:solidFill>
              </a:rPr>
              <a:t>Personalised farm models + regional languages + voice interface</a:t>
            </a:r>
            <a:endParaRPr lang="en-US" sz="1400" dirty="0"/>
          </a:p>
        </p:txBody>
      </p:sp>
      <p:sp>
        <p:nvSpPr>
          <p:cNvPr id="23" name="phase-node-473"/>
          <p:cNvSpPr/>
          <p:nvPr/>
        </p:nvSpPr>
        <p:spPr>
          <a:xfrm>
            <a:off x="5760720" y="4489704"/>
            <a:ext cx="457200" cy="457200"/>
          </a:xfrm>
          <a:prstGeom prst="ellipse">
            <a:avLst/>
          </a:prstGeom>
          <a:solidFill>
            <a:schemeClr val="tx2"/>
          </a:solidFill>
          <a:ln/>
        </p:spPr>
        <p:txBody>
          <a:bodyPr/>
          <a:lstStyle/>
          <a:p>
            <a:endParaRPr lang="ko-IN"/>
          </a:p>
        </p:txBody>
      </p:sp>
      <p:sp>
        <p:nvSpPr>
          <p:cNvPr id="24" name="txt-474"/>
          <p:cNvSpPr txBox="1"/>
          <p:nvPr/>
        </p:nvSpPr>
        <p:spPr>
          <a:xfrm>
            <a:off x="5760720" y="4489704"/>
            <a:ext cx="457200" cy="457200"/>
          </a:xfrm>
          <a:prstGeom prst="rect">
            <a:avLst/>
          </a:prstGeom>
          <a:noFill/>
          <a:ln/>
        </p:spPr>
        <p:txBody>
          <a:bodyPr wrap="square" lIns="0" tIns="0" rIns="0" bIns="0" rtlCol="0" anchor="ctr"/>
          <a:lstStyle/>
          <a:p>
            <a:pPr marL="0" indent="0" algn="ctr">
              <a:buNone/>
            </a:pPr>
            <a:r>
              <a:rPr lang="en-US" sz="1400" b="1" dirty="0">
                <a:solidFill>
                  <a:schemeClr val="bg2"/>
                </a:solidFill>
              </a:rPr>
              <a:t>4</a:t>
            </a:r>
            <a:endParaRPr lang="en-US" sz="1400" dirty="0"/>
          </a:p>
        </p:txBody>
      </p:sp>
      <p:sp>
        <p:nvSpPr>
          <p:cNvPr id="25" name="txt-475"/>
          <p:cNvSpPr txBox="1"/>
          <p:nvPr/>
        </p:nvSpPr>
        <p:spPr>
          <a:xfrm>
            <a:off x="6446520" y="4471416"/>
            <a:ext cx="5120640" cy="201168"/>
          </a:xfrm>
          <a:prstGeom prst="rect">
            <a:avLst/>
          </a:prstGeom>
          <a:noFill/>
          <a:ln/>
        </p:spPr>
        <p:txBody>
          <a:bodyPr wrap="square" lIns="0" tIns="0" rIns="0" bIns="0" rtlCol="0" anchor="t"/>
          <a:lstStyle/>
          <a:p>
            <a:pPr marL="0" indent="0">
              <a:buNone/>
            </a:pPr>
            <a:r>
              <a:rPr lang="en-US" sz="1100" b="1" kern="0" spc="200" dirty="0">
                <a:solidFill>
                  <a:schemeClr val="accent4"/>
                </a:solidFill>
              </a:rPr>
              <a:t>PHASE 4</a:t>
            </a:r>
            <a:endParaRPr lang="en-US" sz="1100" dirty="0"/>
          </a:p>
        </p:txBody>
      </p:sp>
      <p:sp>
        <p:nvSpPr>
          <p:cNvPr id="26" name="txt-476"/>
          <p:cNvSpPr txBox="1"/>
          <p:nvPr/>
        </p:nvSpPr>
        <p:spPr>
          <a:xfrm>
            <a:off x="6446520" y="4690872"/>
            <a:ext cx="5166360" cy="502920"/>
          </a:xfrm>
          <a:prstGeom prst="rect">
            <a:avLst/>
          </a:prstGeom>
          <a:noFill/>
          <a:ln/>
        </p:spPr>
        <p:txBody>
          <a:bodyPr wrap="square" lIns="0" tIns="0" rIns="0" bIns="0" rtlCol="0" anchor="t"/>
          <a:lstStyle/>
          <a:p>
            <a:pPr marL="0" indent="0">
              <a:buNone/>
            </a:pPr>
            <a:r>
              <a:rPr lang="en-US" sz="1400" dirty="0">
                <a:solidFill>
                  <a:schemeClr val="tx1"/>
                </a:solidFill>
              </a:rPr>
              <a:t>Real-world pilot testing + expert validation + continuous feedback</a:t>
            </a:r>
            <a:endParaRPr lang="en-US" sz="1400" dirty="0"/>
          </a:p>
        </p:txBody>
      </p:sp>
      <p:sp>
        <p:nvSpPr>
          <p:cNvPr id="27" name="box-477"/>
          <p:cNvSpPr txBox="1"/>
          <p:nvPr/>
        </p:nvSpPr>
        <p:spPr>
          <a:xfrm>
            <a:off x="548640" y="5440680"/>
            <a:ext cx="11091672" cy="777240"/>
          </a:xfrm>
          <a:prstGeom prst="rect">
            <a:avLst/>
          </a:prstGeom>
          <a:solidFill>
            <a:schemeClr val="tx2"/>
          </a:solidFill>
          <a:ln/>
        </p:spPr>
        <p:txBody>
          <a:bodyPr wrap="square" lIns="274320" tIns="274320" rIns="274320" bIns="274320" rtlCol="0" anchor="ctr"/>
          <a:lstStyle/>
          <a:p>
            <a:pPr marL="0" indent="0" algn="l">
              <a:buNone/>
            </a:pPr>
            <a:r>
              <a:rPr lang="en-US" sz="2000" b="1" dirty="0">
                <a:solidFill>
                  <a:schemeClr val="bg2"/>
                </a:solidFill>
              </a:rPr>
              <a:t>Agrisathi aims to bridge the gap between agricultural data and agricultural decisions.</a:t>
            </a:r>
            <a:endParaRPr lang="en-US" sz="2000" dirty="0"/>
          </a:p>
        </p:txBody>
      </p:sp>
      <p:sp>
        <p:nvSpPr>
          <p:cNvPr id="6" name="Slide Number Placeholder 0"/>
          <p:cNvSpPr>
            <a:spLocks noGrp="1"/>
          </p:cNvSpPr>
          <p:nvPr>
            <p:ph type="sldNum" sz="quarter" idx="4294967295"/>
          </p:nvPr>
        </p:nvSpPr>
        <p:spPr>
          <a:xfrm>
            <a:off x="11064240" y="6446520"/>
            <a:ext cx="576072"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12</a:t>
            </a:fld>
            <a:endParaRPr lang="en-US"/>
          </a:p>
        </p:txBody>
      </p:sp>
    </p:spTree>
  </p:cSld>
  <p:clrMapOvr>
    <a:masterClrMapping/>
  </p:clrMapOvr>
</p:sld>
</file>

<file path=ppt/theme/theme1.xml><?xml version="1.0" encoding="utf-8"?>
<a:theme xmlns:a="http://schemas.openxmlformats.org/drawingml/2006/main" name="Agrisathi">
  <a:themeElements>
    <a:clrScheme name="Agrisathi">
      <a:dk1>
        <a:srgbClr val="26302B"/>
      </a:dk1>
      <a:lt1>
        <a:srgbClr val="FFFFFF"/>
      </a:lt1>
      <a:dk2>
        <a:srgbClr val="1F3D2B"/>
      </a:dk2>
      <a:lt2>
        <a:srgbClr val="F4F1E8"/>
      </a:lt2>
      <a:accent1>
        <a:srgbClr val="2F5D3F"/>
      </a:accent1>
      <a:accent2>
        <a:srgbClr val="A9BBA0"/>
      </a:accent2>
      <a:accent3>
        <a:srgbClr val="C9A227"/>
      </a:accent3>
      <a:accent4>
        <a:srgbClr val="5C6B62"/>
      </a:accent4>
      <a:accent5>
        <a:srgbClr val="DDE5D5"/>
      </a:accent5>
      <a:accent6>
        <a:srgbClr val="6F8A63"/>
      </a:accent6>
      <a:hlink>
        <a:srgbClr val="2F5D3F"/>
      </a:hlink>
      <a:folHlink>
        <a:srgbClr val="5C6B62"/>
      </a:folHlink>
    </a:clrScheme>
    <a:fontScheme name="Agrisathi">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2311</Words>
  <Application>Microsoft Macintosh PowerPoint</Application>
  <PresentationFormat>와이드스크린</PresentationFormat>
  <Paragraphs>363</Paragraphs>
  <Slides>12</Slides>
  <Notes>12</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12</vt:i4>
      </vt:variant>
    </vt:vector>
  </HeadingPairs>
  <TitlesOfParts>
    <vt:vector size="15" baseType="lpstr">
      <vt:lpstr>Arial</vt:lpstr>
      <vt:lpstr>Calibri</vt:lpstr>
      <vt:lpstr>Agrisathi</vt:lpstr>
      <vt:lpstr>AGRISATHI</vt:lpstr>
      <vt:lpstr>Why did we build Agrisathi?</vt:lpstr>
      <vt:lpstr>Farming is becoming data-dependent</vt:lpstr>
      <vt:lpstr>Information exists — but it is fragmented</vt:lpstr>
      <vt:lpstr>What does the farmer actually need?</vt:lpstr>
      <vt:lpstr>Agrisathi: from data to decisions</vt:lpstr>
      <vt:lpstr>System architecture</vt:lpstr>
      <vt:lpstr>Technology stack</vt:lpstr>
      <vt:lpstr>What makes Agrisathi different?</vt:lpstr>
      <vt:lpstr>Example: how a decision is made</vt:lpstr>
      <vt:lpstr>How will we know it works?</vt:lpstr>
      <vt:lpstr>Limitations &amp; future scope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Agrisathi: AI-Powered Decision Intelligence System for Indian Agriculture</dc:title>
  <dc:subject>PptxGenJS Presentation</dc:subject>
  <dc:creator>Agrisathi project team</dc:creator>
  <cp:lastModifiedBy>SHREYA BASKER - 245890188 - MITBLR</cp:lastModifiedBy>
  <cp:revision>3</cp:revision>
  <dcterms:created xsi:type="dcterms:W3CDTF">2026-10-08T08:54:18Z</dcterms:created>
  <dcterms:modified xsi:type="dcterms:W3CDTF">2026-10-09T05:54:16Z</dcterms:modified>
</cp:coreProperties>
</file>